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5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 GUTENBERG UNIVERSITÄT MAINZ  ·  INSTITUTE OF GEOSCIENCES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Stokes Flow Prediction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Multi-Crystal Sedimentation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Comparison of Spatial and Spectral Neural Surrogate Architectures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907792"/>
            <a:ext cx="29260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Baselt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Computational Sciences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Prof. Dr. Boris J. P. Kaus  ·  Prof. Dr. Michael Wand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Mainz,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9786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4767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Background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Architectures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197096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 &amp; Research Question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6591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Need Surrogate Models for Crystal Sedimentation?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Geoscientific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  <a:p>
            <a:pPr marL="0" indent="0">
              <a:buNone/>
            </a:pPr>
            <a:r>
              <a:rPr lang="en-US" sz="6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 sediment in viscous magma fluids. This process controls the chemical differentiation of magma reservoirs.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Challenge</a:t>
            </a:r>
            <a:endParaRPr lang="en-US" sz="1350" dirty="0"/>
          </a:p>
          <a:p>
            <a:pPr marL="0" indent="0">
              <a:buNone/>
            </a:pPr>
            <a:r>
              <a:rPr lang="en-US" sz="6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resolution of:
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boundary layers around individual crystals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hydrodynamic interactions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0" y="1097280"/>
            <a:ext cx="3383280" cy="10972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~O(N²)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0" y="16642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costs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383280" cy="10972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3035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256×256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0" y="2944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grid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(LaMEM)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3657600"/>
            <a:ext cx="3383280" cy="10972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03520" y="42245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Regime: Re ≪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389120" cy="77724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Figure: Crystal sedimentation in magma – image to follow 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data-driven surrogate models replace high-accuracy Stokes solvers for flow field prediction in multi-crystal sedimentation — and which architecture generalizes better?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Hypotheses: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Sufficient sampling of the configuration space enables OOD generalization.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49300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Predicting the stream function ψ (instead of velocity components) reduces task complexity and enforces incompressibility by construction.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151376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The FNO outperforms the U-Net, as its global receptive field is better suited for elliptic Stokes equations.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Physical Background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Stokes Flow &amp; Stream Function Formulation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Incompressible Stokes Flow &amp; Stream Function 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Stokes Equations  (Re ≪ 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−∇p + η∇²u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 · u =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Function 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 = ∂ψ/∂z,   uz = −∂ψ/∂x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Poisson:  ∇²ψ = −ω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840480" cy="374904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of the ψ-Formulation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Incompressibility guaranteed by construction (∇·u ≡ 0 for arbitrary ψ)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35915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penalty term required in the loss function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311810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problem instead of vector regression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87705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Divergence-RMS ≈ 10⁻²⁶ (confirmed by experiments)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Methodology &amp; Architectures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6591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vs. Fourier Neural Operator on identical data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Methodological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Stokes Solver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 FD Grid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05740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05740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Solve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ψ-Reconstruction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∇²ψ = −ω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BCs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74904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Mask, SDF,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x/z-coordinates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44068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44068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(U-Net / FNO)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ψ̂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13232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13232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L², MAE,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Encoding (4 Channels):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13232" y="3474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mask  —  binary occupancy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5204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010912" y="3474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Distance Field  —  distance to nearest crystal surface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 x-coordinate  —  spatial position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9776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010912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 z-coordinate  —  spatial position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Comparison: U-Net vs. FNO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+ Skip-Connections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convolutions → hierarchical features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69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(→ unstable training dynamics)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99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 artifacts avoided (Resize-Conv)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30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Loss: MSE + Gradient Penalty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layers + local 1×1 bypass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receptive field per layer (kmax = 16)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569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Normalization → stable dynamics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099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 activation, weights: σ = 0.02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630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(no gradient term needed)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73152" cy="3794760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data  ·  Identical evaluation metrics  ·  Same input encoding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Experiments &amp;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70335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Experiments — from Single Crystal to Size Generalization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 (4 Experiments)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Single-Crystal Baseline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142646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  Hyperparameter Sweep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∈ {10⁻³, 5×10⁻³, 10⁻⁴, 5×10⁻⁴} × bs ∈ {8, 16}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18288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5760" y="202082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048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Multi-Crystal Generalization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3957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n ∈ {1…10}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OOD-Test: n ∈ {15, 20, 30}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18288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65760" y="2990088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65760" y="299008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Generalization Stress Test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33649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n ∈ {1…25}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OOD-Test: n = 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58184"/>
            <a:ext cx="8412480" cy="18288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395935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86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Crystal Size Generalization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63040" y="4334256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r = 0.05 (fixed)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Test: r = 0.005 (small) and r = 0.5 (large)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Exp. 1: Single-Crystal Baseline —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200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on 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 – 2.3 %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on vel.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– 5 %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convergence across all configurations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4023360" cy="3200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B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on 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 – 6.5 %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on vel.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7249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 – 13 %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0060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oscillations at high lrs + bs 16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321040" cy="50292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Loss (MSE + Gradient Penalty) reduces U-Net velocity error from ~3× to ~1.5–2× relative to ψ error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Exp. 2 &amp; 3: Multi-Crystal Generalization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rel. L² Error on ψ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927051"/>
              </p:ext>
            </p:extLst>
          </p:nvPr>
        </p:nvGraphicFramePr>
        <p:xfrm>
          <a:off x="457200" y="1463040"/>
          <a:ext cx="8454788" cy="1371600"/>
        </p:xfrm>
        <a:graphic>
          <a:graphicData uri="http://schemas.openxmlformats.org/drawingml/2006/table">
            <a:tbl>
              <a:tblPr/>
              <a:tblGrid>
                <a:gridCol w="1878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8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(in-dist)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F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(in-dist)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(OOD)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F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(OOD)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2 (n ≤ 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– 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 – 29 %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~10 % @ n=20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~29 % @ n=20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3 (n ≤ 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12.4 % @ n=50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21.5 % @ n=50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consistently outperforms U-Net in-distribution by a factor of 3–4×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858768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generalization: error &gt; 10 % at n ≈ 1.2–1.5× the training maximum (FNO)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288536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of training distribution is the decisive factor for OOD reach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718304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flatter error profile across crystal counts, but worse absolute accuracy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Exp. 4: Crystal Size Generalization — Rank Reversal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29718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Crystals  r = 0.005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 ψ-Error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 ± 6.4 %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 ψ-Error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15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~12 %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411480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comparable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29718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Crystals  r = 0.5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 ψ-Error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71.3 ± 4.8 %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487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 ψ-Error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715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44.9 ± 8.2 %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754880" y="3310128"/>
            <a:ext cx="4114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754880" y="3310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fails — U-Net wins!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Variable-radius FNO (r ∈ {0.02, 0.05, 0.08}): Error reduced to 10.4 ± 10.8 % — spectral limitation overcome without architecture changes!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Discussion &amp;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7345" y="1409946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Comparison · Limitations · Outlook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Causes &amp; Implications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 Stability vs. U-Net Oscillations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in U-Net increases the effective learning rate spread (Mehmeti-Göpel &amp; Wand, ICML 2024) → higher sensitivity to lr and bs. FNO without BN converges monotonically.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20482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 Truncation kmax = 16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FNO failure on large crystals: boundary layer structures require higher Fourier frequencies. Solution: training variation breadth or adaptive Fourier modes.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94360" y="29809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Function as a Physically Motivated Inductive Bias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2644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ψ-prediction guarantees exact incompressibility (Div-RMS ≈ 10⁻²⁶). No soft penalty needed — in contrast to direct velocity prediction.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95344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94360" y="39136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 Error &gt; ψ-Error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1970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differentiation ψ → u amplifies high-frequency residuals. Ratio: FNO ~2×, U-Net without Composite Loss ~3×, with Composite Loss ~1.5–2×.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Answers to the Research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Confirmed (for FNO)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sampling + broad training distribution enable OOD generalization. U-Net only weakly confirmed.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Confirmed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ψ-formulation reduces task complexity and guarantees exact incompressibility for all predictions.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411480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Conditionally Confirmed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dominates in crystal count generalization. Rank reversal in size-OOD (Exp. 4): U-Net better for large crystals.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06240" cy="260604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Guidelines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FNO when generalization across crystal counts matters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0574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when robustness to geometric scaling is required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training data &gt; architecture change for size generalization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stream function over direct velocity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13385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Fourier Modes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2646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Geo-FNO or multi-resolution architectures for robust size generalization without discrete training radii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856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Architectures (U-FNO)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037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of local U-Net processing + global spectral layers (Wen et al. 2022)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to 3D &amp; Time-Dependent 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8094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geophysical applications require 3D and transient Stokes flows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346557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410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Coupled Time-Step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75818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as building block for long-term sedimentation simulations (O(ms) instead of O(8s) per step)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4281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65760" y="424281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187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Quantification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3542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extensions or ensemble approaches for prediction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8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 forward to your questions.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(Exp 1–3)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10⁻²⁶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Divergence-RMS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vs U-Net Advantage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Baselt  ·  M.Sc. Computational Sciences  ·  JGU Mainz  ·  April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gitlab.rlp.net/pbaselt/Masterarbeit_Anhang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Microsoft Office PowerPoint</Application>
  <PresentationFormat>On-screen Show (16:9)</PresentationFormat>
  <Paragraphs>241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Stokes Flow Prediction – Master's Defense</dc:title>
  <dc:subject>PptxGenJS Presentation</dc:subject>
  <dc:creator>Paul Baselt</dc:creator>
  <cp:lastModifiedBy>Baselt, Paul</cp:lastModifiedBy>
  <cp:revision>3</cp:revision>
  <dcterms:created xsi:type="dcterms:W3CDTF">2026-06-03T12:14:26Z</dcterms:created>
  <dcterms:modified xsi:type="dcterms:W3CDTF">2026-06-06T11:35:30Z</dcterms:modified>
</cp:coreProperties>
</file>