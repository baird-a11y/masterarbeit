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55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JOHANNES GUTENBERG UNIVERSITÄT MAINZ  ·  INSTITUTE OF GEOSCIENCES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 Stokes Flow Prediction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Multi-Crystal Sedimentation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8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Comparison of Spatial and Spectral Neural Surrogate Architectures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907792"/>
            <a:ext cx="292608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Baselt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Computational Sciences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Prof. Dr. Boris J. P. Kaus  ·  Prof. Dr. Michael Wand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Mainz,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19786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Forschungsfrage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502920" cy="5029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94767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Physikalischer Hintergrund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502920" cy="5029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720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69748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Methodik &amp; Architekturen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392424"/>
            <a:ext cx="502920" cy="5029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720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44728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 &amp; Ergebnisse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4142232"/>
            <a:ext cx="502920" cy="5029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197096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 &amp; Fazit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Motivation &amp; Forschungsfrage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6591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brauchen wir Surrogatmodelle für Kristallsedimentation?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Geowissenschaftlicher Kontext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2976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350" dirty="0"/>
          </a:p>
          <a:p>
            <a:pPr marL="0" indent="0">
              <a:buNone/>
            </a:pPr>
            <a:r>
              <a:rPr lang="en-US" sz="6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Kristalle sedimentieren in viskosen Magmafluiden. Dieser Prozess steuert die chemische Differentiation von Magmareservoirs.
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numerische Herausforderung</a:t>
            </a:r>
            <a:endParaRPr lang="en-US" sz="1350" dirty="0"/>
          </a:p>
          <a:p>
            <a:pPr marL="0" indent="0">
              <a:buNone/>
            </a:pPr>
            <a:r>
              <a:rPr lang="en-US" sz="6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Gleichzeitige Auflösung von:
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Mikroskopische Grenzschichten um einzelne Kristalle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Weitreichende hydrodynamische Wechselwirkungen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03520" y="1097280"/>
            <a:ext cx="3383280" cy="109728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303520" y="1143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~O(N²)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303520" y="166420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 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Interaktionskosten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2377440"/>
            <a:ext cx="3383280" cy="109728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30352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256×256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0" y="2944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Simulationsgitter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(LaMEM)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3657600"/>
            <a:ext cx="3383280" cy="109728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30352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Stokes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03520" y="42245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Regime: Re ≪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4389120" cy="777240"/>
          </a:xfrm>
          <a:prstGeom prst="rect">
            <a:avLst/>
          </a:prstGeom>
          <a:solidFill>
            <a:srgbClr val="D6E8F7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Abbildung: Kristallsedimentation in Magma – Bild folgt 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Forschungsfrage &amp; Hypothesen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Können datengetriebene Surrogatmodelle hochgenaue Stokes-Solver für die Strömungsfeldvorhersage bei Mehrkristall-Sedimentation ersetzen — und welche Architektur generalisiert besser?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Hypothesen: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Ausreichendes Sampling des Konfigurationsraums ermöglicht OOD-Generalisierung.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49300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Vorhersage der Stromfunktion ψ (statt Geschwindigkeitskomponenten) reduziert die Aufgabenkomplexität und erzwingt Inkompressibilität konstruktiv.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151376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Der FNO übertrifft das U-Net, da sein globales Rezeptivfeld für elliptische Stokes-Gleichungen besser geeignet ist.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Physikalischer Hintergrund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Stokes-Strömung &amp; Stromfunktionsformulierung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Inkompressible Stokes-Strömung &amp; Stromfunktion 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Stokes-Gleichungen  (Re ≪ 1)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C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−∇p + η∇²u = 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C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 · u = 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Stromfunktion 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C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 = ∂ψ/∂z,   uz = −∂ψ/∂x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C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Poisson:  ∇²ψ = −ω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840480" cy="374904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Vorteile der ψ-Formulierung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Inkompressibilität per Konstruktion garantiert (∇·u ≡ 0 für beliebiges ψ)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235915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Penalty-Term in der Verlustfunktion nötig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311810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Skalarproblem statt Vektorregression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387705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Divergenz-RMS ≈ 10⁻²⁶ (bestätigt durch Experimente)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Methodik &amp; Architekturen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6591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 vs. Fourier Neural Operator auf identischer Datenbasis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Methodischer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463040" cy="13716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Stokes-Solver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 FD-Gitter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0" y="2075688"/>
            <a:ext cx="2286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057400" y="1463040"/>
            <a:ext cx="1463040" cy="13716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05740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Poisson-Solve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ψ-Rekonstruktion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031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∇²ψ = −ω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 BCs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20440" y="2075688"/>
            <a:ext cx="2286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749040" y="1463040"/>
            <a:ext cx="1463040" cy="13716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74904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4-Kanal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1031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Maske, SDF,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x/z-Koordinaten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0" y="2075688"/>
            <a:ext cx="2286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5440680" y="1463040"/>
            <a:ext cx="1463040" cy="13716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44068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(U-Net / FNO)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21031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 ψ̂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2075688"/>
            <a:ext cx="2286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7132320" y="1463040"/>
            <a:ext cx="1463040" cy="13716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13232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21031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rel. L², MAE,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Divergenz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Eingabe-Encoding (4 Kanäle):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164592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13232" y="3474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Kristallmaske  —  binäre Belegung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520440"/>
            <a:ext cx="164592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5010912" y="3474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Distance Field  —  Abstand zur nächsten Kristalloberfläche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164592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713232" y="39319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Norm. x-Koordinate  —  räumliche Lage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977640"/>
            <a:ext cx="164592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5010912" y="39319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Norm. z-Koordinate  —  räumliche Lage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Architekturvergleich: U-Net vs. FNO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 + Skip-Connections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Faltungen → hierarchische Merkmale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5694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(→ instabile Trainingsdynamik)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0998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Checkerboard-Artefakte vermieden (Resize-Conv)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6301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Loss: MSE + Gradienten-Penalty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FNO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Fourier-Schichten + lokaler 1×1-Bypass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2039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Globales Rezeptivfeld pro Schicht (kmax = 16)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5694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Batch Normalization → stabile Dynamik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30998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GELU-Aktivierung, Gewichte: σ = 0.02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6301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MSE-Verlust (kein Gradienten-Term nötig)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26280" y="1005840"/>
            <a:ext cx="73152" cy="3794760"/>
          </a:xfrm>
          <a:prstGeom prst="rect">
            <a:avLst/>
          </a:prstGeom>
          <a:solidFill>
            <a:srgbClr val="A8CBEE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D6E8F7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Identische Datenbasis  ·  Identische Evaluationsmetriken  ·  Gleiche Eingabekodierung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Experimente &amp; Ergebnisse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70335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Experimente — von Einzelkristall bis Größengeneralisierung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Experimentelles Design (4 Experimente)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960120" cy="749808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0789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Einzelkristall-Baseline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63040" y="1426464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  Hyperparameter-Sweep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∈ {10⁻³, 5×10⁻³, 10⁻⁴, 5×10⁻⁴} × bs ∈ {8, 16}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8412480" cy="18288"/>
          </a:xfrm>
          <a:prstGeom prst="rect">
            <a:avLst/>
          </a:prstGeom>
          <a:solidFill>
            <a:srgbClr val="A8CBEE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65760" y="2020824"/>
            <a:ext cx="960120" cy="749808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65760" y="202082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0482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Mehrkristall-Generalisierung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23957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n ∈ {1…10}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OOD-Test: n ∈ {15, 20, 30}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18288"/>
          </a:xfrm>
          <a:prstGeom prst="rect">
            <a:avLst/>
          </a:prstGeom>
          <a:solidFill>
            <a:srgbClr val="A8CBEE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65760" y="2990088"/>
            <a:ext cx="960120" cy="749808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65760" y="299008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3017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Stress-Test der Generalisierung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63040" y="336499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n ∈ {1…25}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OOD-Test: n = 50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58184"/>
            <a:ext cx="8412480" cy="18288"/>
          </a:xfrm>
          <a:prstGeom prst="rect">
            <a:avLst/>
          </a:prstGeom>
          <a:solidFill>
            <a:srgbClr val="A8CBEE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960120" cy="749808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65760" y="395935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9867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Kristallgröße-Generalisierung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63040" y="4334256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r = 0.05 (fest)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OOD-Test: r = 0.005 (klein) und r = 0.5 (groß)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Exp. 1: Einzelkristall-Baseline — Ergebnisse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200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FNO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Rel. L² Error auf 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 – 2.3 %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Rel. L² Error auf vel.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8CB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 – 5 %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Konvergenz über alle Konfigurationen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051560"/>
            <a:ext cx="4023360" cy="3200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80060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FB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00600" y="1645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Rel. L² Error auf 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8745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 – 6.5 %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00600" y="2542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Rel. L² Error auf vel.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7249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8CB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~11 – 13 %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00600" y="32918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Validation-Loss-Oszillationen bei hohen lrs + bs 16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8321040" cy="502920"/>
          </a:xfrm>
          <a:prstGeom prst="rect">
            <a:avLst/>
          </a:prstGeom>
          <a:solidFill>
            <a:srgbClr val="D6E8F7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Loss (MSE + Gradienten-Penalty) reduziert U-Net Geschwindigkeitsfehler von ~3× auf ~1.5–2× gegenüber ψ-Fehler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Exp. 2 &amp; 3: Mehrkristall-Generalisierung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Mittlerer rel. L²-Fehler auf ψ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321040" cy="13716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FNO (in-dist)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FB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(in-dist)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FNO (OOD)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FB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(OOD)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2 (n ≤ 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– 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 – 29 %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~10 % @ n=20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~29 % @ n=20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3 (n ≤ 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12.4 % @ n=50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21.5 % @ n=50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Schlüsselbefunde: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046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übertrifft U-Net in-distribution konsequent um Faktor 3–4×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858768"/>
            <a:ext cx="8046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OOD-Generalisierung: Fehler &gt; 10 % bei n ≈ 1.2–1.5× dem Trainingsmaximum (FNO)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288536"/>
            <a:ext cx="8046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Breite der Trainingsverteilung ist der entscheidende Faktor für OOD-Reichweite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718304"/>
            <a:ext cx="8046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U-Net: flacheres Fehlerprofil über Kristallzahlen, aber schlechtere Absolute Genauigkeit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Exp. 4: Kristallgröße-Generalisierung — Rangumkehr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29718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Kristalle  r = 0.005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 ψ-Fehler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12.1 ± 6.4 %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 ψ-Fehler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71576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8CB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~12 %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65760" y="3310128"/>
            <a:ext cx="411480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65760" y="33101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vergleichbar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114800" cy="29718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 Kristalle  r = 0.5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645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 ψ-Fehler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874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71.3 ± 4.8 %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24871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 ψ-Fehler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71576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8CB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44.9 ± 8.2 %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754880" y="3310128"/>
            <a:ext cx="41148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754880" y="33101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versagt — U-Net besser!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solidFill>
            <a:srgbClr val="D6E8F7"/>
          </a:solidFill>
          <a:ln w="12700">
            <a:solidFill>
              <a:srgbClr val="A8CB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Variable-Radius FNO (r ∈ {0.02, 0.05, 0.08}): Fehler reduziert auf 10.4 ± 10.8 % — spektrale Limitation ohne Architekturänderung überwunden!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Diskussion &amp; Fazit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7345" y="1409946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Architekturvergleich · Grenzen · Ausblick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Diskussion: Ursachen &amp; Implikationen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6400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FNO-Stabilität vs. U-Net-Oszillationen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9903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im U-Net erhöht den effektiven Lernratenspread (Mehmeti-Göpel &amp; Wand, ICML 2024) → höhere Sensitivität gegenüber lr und bs. FNO ohne BN konvergiert monoton.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6400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94360" y="20482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Spektrale Abschneidung kmax = 16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Verantwortlich für FNO-Versagen bei großen Kristallen: Grenzschichtstrukturen erfordern höhere Fourier-Frequenzen. Lösung: Variationsbreite im Training oder adaptive Fourier-Moden.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6400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94360" y="29809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Stream-Funktion als physikalisch motivierter Induktionsbias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26440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ψ-Vorhersage garantiert exakte Inkompressibilität (Div-RMS ≈ 10⁻²⁶). Kein Soft-Penalty nötig — im Gegensatz zu direkter Geschwindigkeitsvorhersage.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95344"/>
            <a:ext cx="6400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94360" y="39136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Geschwindigkeitsfehler &gt; ψ-Fehler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1970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Numerische Differentiation ψ → u verstärkt hochfrequente Residuen. Verhältnis: FNO ~2×, U-Net ohne Composite Loss ~3×, mit Composite Loss ~1.5–2×.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Fazit &amp; Beantwortung der Forschungsfragen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8404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— Bestätigt (für FNO)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Ausreichendes Sampling + breite Trainingsverteilung ermöglichen OOD-Generalisierung. U-Net nur schwach bestätigt.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14800" cy="38404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— Bestätigt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ψ-Formulierung reduziert Aufgabenkomplexität und gewährleistet exakte Inkompressibilität für alle Vorhersagen.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520440"/>
            <a:ext cx="411480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65760" y="35204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— Bedingt bestätigt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977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dominiert bei Kristallanzahl-Generalisierung. Rangumkehr bei Größen-OOD (Exp. 4): U-Net besser für große Kristalle.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4206240" cy="260604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72000" y="1097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Praktische Richtlinien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15544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bevorzugen wenn Generalisierung über Kristallzahlen wichtig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0574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wenn Robustheit gegenüber geometrischer Skalierung gefordert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5603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Trainingsdaten &gt; Architekturwechsel für Größengeneralisierung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0632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Stream-Funktion immer der direkten Geschwindigkeitsvorhersage vorziehen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Ausblick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33856"/>
            <a:ext cx="32004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13385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078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Fourier-Moden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2646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Geo-FNO oder multi-resolution Architekturen für robuste Größengeneralisierung ohne diskrete Trainingsradien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11096"/>
            <a:ext cx="32004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65760" y="191109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856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Hybride Architekturen (U-FNO)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20370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Kombination lokaler U-Net-Verarbeitung + globaler Spektralschichten (Wen et al. 2022)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88336"/>
            <a:ext cx="32004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Erweiterung auf 3D &amp; zeitabhängige Strömungen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98094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 geophysikalische Anwendungen erfordern 3D und transiente Stokes-Strömungen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65576"/>
            <a:ext cx="32004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65760" y="346557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410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Gekoppeltes Zeitschritt-Framework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75818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 als Baustein für Langzeit-Sedimentationssimulationen (O(ms) statt O(8s) pro Schritt)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42816"/>
            <a:ext cx="32004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65760" y="424281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1879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Unsicherheitsquantifizierung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53542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Bayesianische Erweiterungen oder Ensemble-Ansätze für Vorhersagekonfidenz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Vielen Dank!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8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freue mich auf Ihre Fragen.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377440"/>
            <a:ext cx="4572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FNO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(Exp 1–3)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10⁻²⁶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Divergenz-RMS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4944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vs U-Net Vorteil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Baselt  ·  M.Sc. Computational Sciences  ·  JGU Mainz  ·  April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gitlab.rlp.net/pbaselt/Masterarbeit_Anhang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1261</Words>
  <Application>Microsoft Office PowerPoint</Application>
  <PresentationFormat>Bildschirmpräsentation (16:9)</PresentationFormat>
  <Paragraphs>241</Paragraphs>
  <Slides>20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Stokes Flow Prediction – Master's Defense</dc:title>
  <dc:subject>PptxGenJS Presentation</dc:subject>
  <dc:creator>Paul Baselt</dc:creator>
  <cp:lastModifiedBy>Baselt, Paul</cp:lastModifiedBy>
  <cp:revision>2</cp:revision>
  <dcterms:created xsi:type="dcterms:W3CDTF">2026-06-03T12:14:26Z</dcterms:created>
  <dcterms:modified xsi:type="dcterms:W3CDTF">2026-06-03T12:20:36Z</dcterms:modified>
</cp:coreProperties>
</file>