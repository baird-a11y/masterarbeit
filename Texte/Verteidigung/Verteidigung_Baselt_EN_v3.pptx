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FNO</c:v>
                </c:pt>
              </c:strCache>
            </c:strRef>
          </c:tx>
          <c:spPr>
            <a:solidFill>
              <a:srgbClr val="B5654A"/>
            </a:solidFill>
            <a:effectLst/>
          </c:spPr>
          <c:invertIfNegative val="0"/>
          <c:dLbls>
            <c:numFmt formatCode="0.0&quot;%&quot;" sourceLinked="0"/>
            <c:spPr>
              <a:noFill/>
              <a:ln>
                <a:noFill/>
              </a:ln>
              <a:effectLst/>
            </c:spPr>
            <c:txPr>
              <a:bodyPr/>
              <a:lstStyle/>
              <a:p>
                <a:pPr>
                  <a:defRPr sz="1000" b="1" i="0" u="none" strike="noStrike">
                    <a:solidFill>
                      <a:srgbClr val="1F2329"/>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Stream function ψ</c:v>
                </c:pt>
                <c:pt idx="1">
                  <c:v>Velocity field</c:v>
                </c:pt>
              </c:strCache>
            </c:strRef>
          </c:cat>
          <c:val>
            <c:numRef>
              <c:f>Sheet1!$B$2:$B$3</c:f>
              <c:numCache>
                <c:formatCode>General</c:formatCode>
                <c:ptCount val="2"/>
                <c:pt idx="0">
                  <c:v>2.0499999999999998</c:v>
                </c:pt>
                <c:pt idx="1">
                  <c:v>3.6</c:v>
                </c:pt>
              </c:numCache>
            </c:numRef>
          </c:val>
          <c:extLst>
            <c:ext xmlns:c16="http://schemas.microsoft.com/office/drawing/2014/chart" uri="{C3380CC4-5D6E-409C-BE32-E72D297353CC}">
              <c16:uniqueId val="{00000000-65CC-4355-9A51-0CC83005E0FF}"/>
            </c:ext>
          </c:extLst>
        </c:ser>
        <c:ser>
          <c:idx val="1"/>
          <c:order val="1"/>
          <c:tx>
            <c:strRef>
              <c:f>Sheet1!$C$1</c:f>
              <c:strCache>
                <c:ptCount val="1"/>
                <c:pt idx="0">
                  <c:v>U-Net</c:v>
                </c:pt>
              </c:strCache>
            </c:strRef>
          </c:tx>
          <c:spPr>
            <a:solidFill>
              <a:srgbClr val="4E6E81"/>
            </a:solidFill>
            <a:effectLst/>
          </c:spPr>
          <c:invertIfNegative val="0"/>
          <c:dLbls>
            <c:numFmt formatCode="0.0&quot;%&quot;" sourceLinked="0"/>
            <c:spPr>
              <a:noFill/>
              <a:ln>
                <a:noFill/>
              </a:ln>
              <a:effectLst/>
            </c:spPr>
            <c:txPr>
              <a:bodyPr/>
              <a:lstStyle/>
              <a:p>
                <a:pPr>
                  <a:defRPr sz="1000" b="1" i="0" u="none" strike="noStrike">
                    <a:solidFill>
                      <a:srgbClr val="1F2329"/>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Stream function ψ</c:v>
                </c:pt>
                <c:pt idx="1">
                  <c:v>Velocity field</c:v>
                </c:pt>
              </c:strCache>
            </c:strRef>
          </c:cat>
          <c:val>
            <c:numRef>
              <c:f>Sheet1!$C$2:$C$3</c:f>
              <c:numCache>
                <c:formatCode>General</c:formatCode>
                <c:ptCount val="2"/>
                <c:pt idx="0">
                  <c:v>6</c:v>
                </c:pt>
                <c:pt idx="1">
                  <c:v>10.6</c:v>
                </c:pt>
              </c:numCache>
            </c:numRef>
          </c:val>
          <c:extLst>
            <c:ext xmlns:c16="http://schemas.microsoft.com/office/drawing/2014/chart" uri="{C3380CC4-5D6E-409C-BE32-E72D297353CC}">
              <c16:uniqueId val="{00000001-65CC-4355-9A51-0CC83005E0F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27A85"/>
                </a:solidFill>
                <a:latin typeface="Calibri"/>
              </a:defRPr>
            </a:pPr>
            <a:endParaRPr lang="en-US"/>
          </a:p>
        </c:txPr>
        <c:crossAx val="2094734552"/>
        <c:crosses val="autoZero"/>
        <c:auto val="1"/>
        <c:lblAlgn val="ctr"/>
        <c:lblOffset val="100"/>
        <c:noMultiLvlLbl val="1"/>
      </c:catAx>
      <c:valAx>
        <c:axId val="2094734552"/>
        <c:scaling>
          <c:orientation val="minMax"/>
          <c:max val="13"/>
          <c:min val="0"/>
        </c:scaling>
        <c:delete val="0"/>
        <c:axPos val="l"/>
        <c:majorGridlines>
          <c:spPr>
            <a:ln w="6350" cap="flat">
              <a:solidFill>
                <a:srgbClr val="E2E5EA"/>
              </a:solidFill>
              <a:prstDash val="solid"/>
              <a:round/>
            </a:ln>
          </c:spPr>
        </c:majorGridlines>
        <c:title>
          <c:tx>
            <c:rich>
              <a:bodyPr/>
              <a:lstStyle/>
              <a:p>
                <a:pPr>
                  <a:defRPr sz="900" b="0" i="0" u="none" strike="noStrike">
                    <a:solidFill>
                      <a:srgbClr val="727A85"/>
                    </a:solidFill>
                    <a:latin typeface="Arial"/>
                  </a:defRPr>
                </a:pPr>
                <a:r>
                  <a:rPr sz="900" b="0" i="0" u="none" strike="noStrike">
                    <a:solidFill>
                      <a:srgbClr val="727A85"/>
                    </a:solidFill>
                    <a:latin typeface="Arial"/>
                  </a:rPr>
                  <a:t>mean rel. L² error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27A8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F454D"/>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FNO</c:v>
                </c:pt>
              </c:strCache>
            </c:strRef>
          </c:tx>
          <c:spPr>
            <a:ln w="38100" cap="flat">
              <a:solidFill>
                <a:srgbClr val="B5654A"/>
              </a:solidFill>
              <a:prstDash val="solid"/>
              <a:round/>
            </a:ln>
            <a:effectLst/>
          </c:spPr>
          <c:marker>
            <c:symbol val="circle"/>
            <c:size val="5"/>
            <c:spPr>
              <a:solidFill>
                <a:srgbClr val="B5654A"/>
              </a:solidFill>
              <a:ln w="9525" cap="flat">
                <a:solidFill>
                  <a:srgbClr val="B5654A"/>
                </a:solidFill>
                <a:prstDash val="solid"/>
                <a:round/>
              </a:ln>
              <a:effectLst/>
            </c:spPr>
          </c:marker>
          <c:cat>
            <c:strRef>
              <c:f>Sheet1!$A$2:$A$7</c:f>
              <c:strCache>
                <c:ptCount val="6"/>
                <c:pt idx="0">
                  <c:v>1</c:v>
                </c:pt>
                <c:pt idx="1">
                  <c:v>5</c:v>
                </c:pt>
                <c:pt idx="2">
                  <c:v>10</c:v>
                </c:pt>
                <c:pt idx="3">
                  <c:v>15</c:v>
                </c:pt>
                <c:pt idx="4">
                  <c:v>20</c:v>
                </c:pt>
                <c:pt idx="5">
                  <c:v>25</c:v>
                </c:pt>
              </c:strCache>
            </c:strRef>
          </c:cat>
          <c:val>
            <c:numRef>
              <c:f>Sheet1!$B$2:$B$7</c:f>
              <c:numCache>
                <c:formatCode>General</c:formatCode>
                <c:ptCount val="6"/>
                <c:pt idx="0">
                  <c:v>3.5</c:v>
                </c:pt>
                <c:pt idx="1">
                  <c:v>5.5</c:v>
                </c:pt>
                <c:pt idx="2">
                  <c:v>8</c:v>
                </c:pt>
                <c:pt idx="3">
                  <c:v>9.1999999999999993</c:v>
                </c:pt>
                <c:pt idx="4">
                  <c:v>10.1</c:v>
                </c:pt>
                <c:pt idx="5">
                  <c:v>12</c:v>
                </c:pt>
              </c:numCache>
            </c:numRef>
          </c:val>
          <c:smooth val="0"/>
          <c:extLst>
            <c:ext xmlns:c16="http://schemas.microsoft.com/office/drawing/2014/chart" uri="{C3380CC4-5D6E-409C-BE32-E72D297353CC}">
              <c16:uniqueId val="{00000000-FC92-47FD-A6EF-0D34D05BAE6A}"/>
            </c:ext>
          </c:extLst>
        </c:ser>
        <c:ser>
          <c:idx val="1"/>
          <c:order val="1"/>
          <c:tx>
            <c:strRef>
              <c:f>Sheet1!$C$1</c:f>
              <c:strCache>
                <c:ptCount val="1"/>
                <c:pt idx="0">
                  <c:v>U-Net</c:v>
                </c:pt>
              </c:strCache>
            </c:strRef>
          </c:tx>
          <c:spPr>
            <a:ln w="38100" cap="flat">
              <a:solidFill>
                <a:srgbClr val="4E6E81"/>
              </a:solidFill>
              <a:prstDash val="solid"/>
              <a:round/>
            </a:ln>
            <a:effectLst/>
          </c:spPr>
          <c:marker>
            <c:symbol val="circle"/>
            <c:size val="5"/>
            <c:spPr>
              <a:solidFill>
                <a:srgbClr val="4E6E81"/>
              </a:solidFill>
              <a:ln w="9525" cap="flat">
                <a:solidFill>
                  <a:srgbClr val="4E6E81"/>
                </a:solidFill>
                <a:prstDash val="solid"/>
                <a:round/>
              </a:ln>
              <a:effectLst/>
            </c:spPr>
          </c:marker>
          <c:cat>
            <c:strRef>
              <c:f>Sheet1!$A$2:$A$7</c:f>
              <c:strCache>
                <c:ptCount val="6"/>
                <c:pt idx="0">
                  <c:v>1</c:v>
                </c:pt>
                <c:pt idx="1">
                  <c:v>5</c:v>
                </c:pt>
                <c:pt idx="2">
                  <c:v>10</c:v>
                </c:pt>
                <c:pt idx="3">
                  <c:v>15</c:v>
                </c:pt>
                <c:pt idx="4">
                  <c:v>20</c:v>
                </c:pt>
                <c:pt idx="5">
                  <c:v>25</c:v>
                </c:pt>
              </c:strCache>
            </c:strRef>
          </c:cat>
          <c:val>
            <c:numRef>
              <c:f>Sheet1!$C$2:$C$7</c:f>
              <c:numCache>
                <c:formatCode>General</c:formatCode>
                <c:ptCount val="6"/>
                <c:pt idx="0">
                  <c:v>16</c:v>
                </c:pt>
                <c:pt idx="1">
                  <c:v>18</c:v>
                </c:pt>
                <c:pt idx="2">
                  <c:v>21</c:v>
                </c:pt>
                <c:pt idx="3">
                  <c:v>22</c:v>
                </c:pt>
                <c:pt idx="4">
                  <c:v>22.5</c:v>
                </c:pt>
                <c:pt idx="5">
                  <c:v>24</c:v>
                </c:pt>
              </c:numCache>
            </c:numRef>
          </c:val>
          <c:smooth val="0"/>
          <c:extLst>
            <c:ext xmlns:c16="http://schemas.microsoft.com/office/drawing/2014/chart" uri="{C3380CC4-5D6E-409C-BE32-E72D297353CC}">
              <c16:uniqueId val="{00000001-FC92-47FD-A6EF-0D34D05BAE6A}"/>
            </c:ext>
          </c:extLst>
        </c:ser>
        <c:ser>
          <c:idx val="2"/>
          <c:order val="2"/>
          <c:tx>
            <c:strRef>
              <c:f>Sheet1!$D$1</c:f>
              <c:strCache>
                <c:ptCount val="1"/>
                <c:pt idx="0">
                  <c:v>10 % threshold</c:v>
                </c:pt>
              </c:strCache>
            </c:strRef>
          </c:tx>
          <c:spPr>
            <a:ln w="38100" cap="flat">
              <a:solidFill>
                <a:srgbClr val="B6BBC4"/>
              </a:solidFill>
              <a:prstDash val="solid"/>
              <a:round/>
            </a:ln>
            <a:effectLst/>
          </c:spPr>
          <c:marker>
            <c:symbol val="circle"/>
            <c:size val="5"/>
            <c:spPr>
              <a:solidFill>
                <a:srgbClr val="B6BBC4"/>
              </a:solidFill>
              <a:ln w="9525" cap="flat">
                <a:solidFill>
                  <a:srgbClr val="B6BBC4"/>
                </a:solidFill>
                <a:prstDash val="solid"/>
                <a:round/>
              </a:ln>
              <a:effectLst/>
            </c:spPr>
          </c:marker>
          <c:cat>
            <c:strRef>
              <c:f>Sheet1!$A$2:$A$7</c:f>
              <c:strCache>
                <c:ptCount val="6"/>
                <c:pt idx="0">
                  <c:v>1</c:v>
                </c:pt>
                <c:pt idx="1">
                  <c:v>5</c:v>
                </c:pt>
                <c:pt idx="2">
                  <c:v>10</c:v>
                </c:pt>
                <c:pt idx="3">
                  <c:v>15</c:v>
                </c:pt>
                <c:pt idx="4">
                  <c:v>20</c:v>
                </c:pt>
                <c:pt idx="5">
                  <c:v>25</c:v>
                </c:pt>
              </c:strCache>
            </c:strRef>
          </c:cat>
          <c:val>
            <c:numRef>
              <c:f>Sheet1!$D$2:$D$7</c:f>
              <c:numCache>
                <c:formatCode>General</c:formatCode>
                <c:ptCount val="6"/>
                <c:pt idx="0">
                  <c:v>10</c:v>
                </c:pt>
                <c:pt idx="1">
                  <c:v>10</c:v>
                </c:pt>
                <c:pt idx="2">
                  <c:v>10</c:v>
                </c:pt>
                <c:pt idx="3">
                  <c:v>10</c:v>
                </c:pt>
                <c:pt idx="4">
                  <c:v>10</c:v>
                </c:pt>
                <c:pt idx="5">
                  <c:v>10</c:v>
                </c:pt>
              </c:numCache>
            </c:numRef>
          </c:val>
          <c:smooth val="0"/>
          <c:extLst>
            <c:ext xmlns:c16="http://schemas.microsoft.com/office/drawing/2014/chart" uri="{C3380CC4-5D6E-409C-BE32-E72D297353CC}">
              <c16:uniqueId val="{00000002-FC92-47FD-A6EF-0D34D05BAE6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900" b="0" i="0" u="none" strike="noStrike">
                    <a:solidFill>
                      <a:srgbClr val="727A85"/>
                    </a:solidFill>
                    <a:latin typeface="Arial"/>
                  </a:defRPr>
                </a:pPr>
                <a:r>
                  <a:rPr sz="900" b="0" i="0" u="none" strike="noStrike">
                    <a:solidFill>
                      <a:srgbClr val="727A85"/>
                    </a:solidFill>
                    <a:latin typeface="Arial"/>
                  </a:rPr>
                  <a:t>crystal count (Exp 2: trained ≤ 10)</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27A85"/>
                </a:solidFill>
                <a:latin typeface="Arial"/>
              </a:defRPr>
            </a:pPr>
            <a:endParaRPr lang="en-US"/>
          </a:p>
        </c:txPr>
        <c:crossAx val="2094734552"/>
        <c:crosses val="autoZero"/>
        <c:auto val="1"/>
        <c:lblAlgn val="ctr"/>
        <c:lblOffset val="100"/>
        <c:noMultiLvlLbl val="1"/>
      </c:catAx>
      <c:valAx>
        <c:axId val="2094734552"/>
        <c:scaling>
          <c:orientation val="minMax"/>
          <c:max val="28"/>
          <c:min val="0"/>
        </c:scaling>
        <c:delete val="0"/>
        <c:axPos val="l"/>
        <c:majorGridlines>
          <c:spPr>
            <a:ln w="6350" cap="flat">
              <a:solidFill>
                <a:srgbClr val="E2E5EA"/>
              </a:solidFill>
              <a:prstDash val="solid"/>
              <a:round/>
            </a:ln>
          </c:spPr>
        </c:majorGridlines>
        <c:title>
          <c:tx>
            <c:rich>
              <a:bodyPr/>
              <a:lstStyle/>
              <a:p>
                <a:pPr>
                  <a:defRPr sz="900" b="0" i="0" u="none" strike="noStrike">
                    <a:solidFill>
                      <a:srgbClr val="727A85"/>
                    </a:solidFill>
                    <a:latin typeface="Arial"/>
                  </a:defRPr>
                </a:pPr>
                <a:r>
                  <a:rPr sz="900" b="0" i="0" u="none" strike="noStrike">
                    <a:solidFill>
                      <a:srgbClr val="727A85"/>
                    </a:solidFill>
                    <a:latin typeface="Arial"/>
                  </a:rPr>
                  <a:t>rel. L² error on ψ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27A8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3F454D"/>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FNO</c:v>
                </c:pt>
              </c:strCache>
            </c:strRef>
          </c:tx>
          <c:spPr>
            <a:solidFill>
              <a:srgbClr val="B5654A"/>
            </a:solidFill>
            <a:effectLst/>
          </c:spPr>
          <c:invertIfNegative val="0"/>
          <c:dLbls>
            <c:numFmt formatCode="0.0&quot;%&quot;" sourceLinked="0"/>
            <c:spPr>
              <a:noFill/>
              <a:ln>
                <a:noFill/>
              </a:ln>
              <a:effectLst/>
            </c:spPr>
            <c:txPr>
              <a:bodyPr/>
              <a:lstStyle/>
              <a:p>
                <a:pPr>
                  <a:defRPr sz="1000" b="1" i="0" u="none" strike="noStrike">
                    <a:solidFill>
                      <a:srgbClr val="1F2329"/>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Small  r = 0.005</c:v>
                </c:pt>
                <c:pt idx="1">
                  <c:v>Large  r = 0.5</c:v>
                </c:pt>
              </c:strCache>
            </c:strRef>
          </c:cat>
          <c:val>
            <c:numRef>
              <c:f>Sheet1!$B$2:$B$3</c:f>
              <c:numCache>
                <c:formatCode>General</c:formatCode>
                <c:ptCount val="2"/>
                <c:pt idx="0">
                  <c:v>12.1</c:v>
                </c:pt>
                <c:pt idx="1">
                  <c:v>71.3</c:v>
                </c:pt>
              </c:numCache>
            </c:numRef>
          </c:val>
          <c:extLst>
            <c:ext xmlns:c16="http://schemas.microsoft.com/office/drawing/2014/chart" uri="{C3380CC4-5D6E-409C-BE32-E72D297353CC}">
              <c16:uniqueId val="{00000000-4095-4D4B-B098-97096094B3ED}"/>
            </c:ext>
          </c:extLst>
        </c:ser>
        <c:ser>
          <c:idx val="1"/>
          <c:order val="1"/>
          <c:tx>
            <c:strRef>
              <c:f>Sheet1!$C$1</c:f>
              <c:strCache>
                <c:ptCount val="1"/>
                <c:pt idx="0">
                  <c:v>U-Net</c:v>
                </c:pt>
              </c:strCache>
            </c:strRef>
          </c:tx>
          <c:spPr>
            <a:solidFill>
              <a:srgbClr val="4E6E81"/>
            </a:solidFill>
            <a:effectLst/>
          </c:spPr>
          <c:invertIfNegative val="0"/>
          <c:dLbls>
            <c:numFmt formatCode="0.0&quot;%&quot;" sourceLinked="0"/>
            <c:spPr>
              <a:noFill/>
              <a:ln>
                <a:noFill/>
              </a:ln>
              <a:effectLst/>
            </c:spPr>
            <c:txPr>
              <a:bodyPr/>
              <a:lstStyle/>
              <a:p>
                <a:pPr>
                  <a:defRPr sz="1000" b="1" i="0" u="none" strike="noStrike">
                    <a:solidFill>
                      <a:srgbClr val="1F2329"/>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Small  r = 0.005</c:v>
                </c:pt>
                <c:pt idx="1">
                  <c:v>Large  r = 0.5</c:v>
                </c:pt>
              </c:strCache>
            </c:strRef>
          </c:cat>
          <c:val>
            <c:numRef>
              <c:f>Sheet1!$C$2:$C$3</c:f>
              <c:numCache>
                <c:formatCode>General</c:formatCode>
                <c:ptCount val="2"/>
                <c:pt idx="0">
                  <c:v>10.8</c:v>
                </c:pt>
                <c:pt idx="1">
                  <c:v>44.9</c:v>
                </c:pt>
              </c:numCache>
            </c:numRef>
          </c:val>
          <c:extLst>
            <c:ext xmlns:c16="http://schemas.microsoft.com/office/drawing/2014/chart" uri="{C3380CC4-5D6E-409C-BE32-E72D297353CC}">
              <c16:uniqueId val="{00000001-4095-4D4B-B098-97096094B3ED}"/>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27A85"/>
                </a:solidFill>
                <a:latin typeface="Calibri"/>
              </a:defRPr>
            </a:pPr>
            <a:endParaRPr lang="en-US"/>
          </a:p>
        </c:txPr>
        <c:crossAx val="2094734552"/>
        <c:crosses val="autoZero"/>
        <c:auto val="1"/>
        <c:lblAlgn val="ctr"/>
        <c:lblOffset val="100"/>
        <c:noMultiLvlLbl val="1"/>
      </c:catAx>
      <c:valAx>
        <c:axId val="2094734552"/>
        <c:scaling>
          <c:orientation val="minMax"/>
          <c:max val="85"/>
          <c:min val="0"/>
        </c:scaling>
        <c:delete val="0"/>
        <c:axPos val="l"/>
        <c:majorGridlines>
          <c:spPr>
            <a:ln w="6350" cap="flat">
              <a:solidFill>
                <a:srgbClr val="E2E5EA"/>
              </a:solidFill>
              <a:prstDash val="solid"/>
              <a:round/>
            </a:ln>
          </c:spPr>
        </c:majorGridlines>
        <c:title>
          <c:tx>
            <c:rich>
              <a:bodyPr/>
              <a:lstStyle/>
              <a:p>
                <a:pPr>
                  <a:defRPr sz="900" b="0" i="0" u="none" strike="noStrike">
                    <a:solidFill>
                      <a:srgbClr val="727A85"/>
                    </a:solidFill>
                    <a:latin typeface="Arial"/>
                  </a:defRPr>
                </a:pPr>
                <a:r>
                  <a:rPr lang="es-ES" sz="900" b="0" i="0" u="none" strike="noStrike">
                    <a:solidFill>
                      <a:srgbClr val="727A85"/>
                    </a:solidFill>
                    <a:latin typeface="Arial"/>
                  </a:rPr>
                  <a:t>rel. L² error on ψ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27A8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F454D"/>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7241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Guten Tag und vielen Dank, dass Sie heute hier sind. Mein Name ist Paul Baselt. Ich freue mich, Ihnen meine Masterarbeit im Studiengang Computational Sciences vorzustellen: "Datengetriebene Vorhersage von Stokes-Strömungen in der Mehrkristall-Sedimentation – ein systematischer Vergleich räumlicher und spektraler neuronaler Surrogat-Architekturen." Betreut wurde die Arbeit von Prof. Kaus am Institut für Geowissenschaften und Prof. Wand am Institut für Informatik. Ich führe Sie in etwa 30 Minuten durch die zentralen Ideen und freue mich danach auf Ihre Fragen.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die Struktur des Vortrags. Ich beginne mit der Motivation und dem zugrunde liegenden geophysikalischen Problem und leite daraus die Forschungsfrage ab. Dann ein kurzer Blick auf die Physik und die mathematische Formulierung. Anschließend die Methodik – die beiden Architekturen, die ich vergleiche, und das experimentelle Design. Danach präsentiere ich die Ergebnisse von vier Experimenten und schließe mit Diskussion, den Antworten auf meine Hypothesen und einem Ausblick.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Beginnen wir mit der Motivation: Warum brauchen wir überhaupt Surrogat-Modelle für die Kristall-Sedimentation?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Zweig der Geophysik beschäftigt sich damit, geologische Prozesse zu simulieren, um zu verstehen, wie Strukturen oder Ablagerungen entstehen. Mein Fokus ist das Absinken von Kristallen in einer Magmakammer. Beim Abkühlen der Schmelze bilden sich Kristalle, wachsen und sinken aufgrund des Dichtekontrasts ab. Diese Sedimentation steuert die chemische Differenzierung des Gesteins und erzeugt die geschichteten Strukturen in Plutoniten. Die numerische Herausforderung ist zweifach: Wir müssen die mikroskopischen Grenzschichten um jeden Kristall UND die weitreichenden hydrodynamischen Wechselwirkungen im gesamten Gebiet gleichzeitig auflösen. Die Wechselwirkungskosten skalieren etwa mit dem Quadrat der Teilchenzahl – ab etwa zehn Kristallen werden die Systeme sehr groß, mit Laufzeiten von Stunden bis Tagen pro Simulation. Systematische Parameterstudien sind damit praktisch unmöglich. Alles spielt sich im Stokes-Regime ab – Reynolds-Zahl weit unter eins. Daher die Motivation: Können wir ein schnelles Surrogat trainieren, das diese Strömungsfelder in Millisekunden statt Stunden vorhersagt?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zentrale Forschungsfrage lautet: Inwieweit können ein U-Net und ein Fourier Neural Operator, trainiert auf Konfigurationen mit bis zu einer festen Maximalzahl von Kristallen, auf ungesehene Szenarien mit variierender Teilchenzahl und Anordnung generalisieren – und welche Faktoren begrenzen diese Generalisierung grundlegend? Das ist direkt geowissenschaftlich relevant: Natürliche Sedimentation hat selten eine feste Kristallzahl oder regelmäßige Geometrie, also muss ein nützliches Surrogat über eine breite Bandbreite an Konfigurationen funktionieren. Daraus leite ich drei Hypothesen ab: H1 zur Generalisierung, H2 zur Stromfunktions-Formulierung und H3 zum architektonischen Unterschied. Bevor ich zu den Experimenten komme, erkläre ich kurz die Physik und warum wir das Problem so formulieren.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Zunächst die Physik – Stokes-Strömung und die Stromfunktions-Formulierung.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Schritt 1: Die vollständige inkompressible Navier-Stokes-Gleichung enthält links die Trägheitsterme. Das Kristallabsinken in Magma läuft bei Reynolds-Zahlen zwischen etwa 10 hoch minus 8 und 10 hoch minus 4 ab. Bei Re viel kleiner eins ist das Verhältnis von Trägheits- zu Viskositätskräften vernachlässigbar – die linke Seite verschwindet – und wir haben einen stationären Zustand. Es bleiben die inkompressiblen Stokes-Gleichungen: Impulsbilanz und Massenerhaltung. Die Folie zeigt die homogene Form; die Auftriebskraft rho-g aus dem Dichtekontrast ist der eigentliche Antrieb und in allen LaMEM-Trainingsdaten implizit enthalten. Schritt 2: Würde ein Netz u direkt vorhersagen, müsste es die Inkompressibilität rein aus Daten lernen – das führt zu kleinen, aber systematischen Divergenzfehlern. Wir gehen anders vor. Schritt 3: In 2D lässt sich jedes divergenzfreie Feld als Rotation eines skalaren Potentials schreiben. Wir definieren die Stromfunktion psi. Rechnet man die Divergenz nach, heben sich die gemischten zweiten Ableitungen nach dem Satz von Schwarz exakt auf – das ist eine algebraische Identität, keine weiche Nebenbedingung. Jede Vorhersage liefert also ein exakt divergenzfreies Geschwindigkeitsfeld. Schritt 4: Um psi aus dem LaMEM-Output zu rekonstruieren, nutzen wir die Vortizität als Zwischengröße und erhalten die Poisson-Gleichung Nabla-Quadrat psi gleich minus omega, mit homogenen Dirichlet-Randbedingungen. Schritt 5: Aus dem vorhergesagten psi gewinnen wir die Geschwindigkeit durch numerische Differentiation. Das ist ein Hochpassfilter – deshalb sind Geschwindigkeitsfehler systematisch größer als psi-Fehler, etwa Faktor 2 beim FNO, Faktor 3 beim U-Net ohne die zusammengesetzte Loss-Funktion.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Nun die Methodik – die beiden Architekturen, trainiert und evaluiert auf identischen Daten.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Pipeline ist wie folgt: LaMEM erzeugt eine stationäre Stokes-Lösung auf dem 256-mal-256 Finite-Differenzen-Gitter. Aus der Geschwindigkeit rekonstruieren wir die Stromfunktion über die Poisson-Lösung mit Dirichlet-Randbedingungen. Die Geometrie wird in einen Vier-Kanal-Eingabetensor kodiert, das Modell sagt psi-Dach vorher, und wir evaluieren mit relativem L2-Fehler, mittlerem absolutem Fehler und der Divergenz. Die vier Eingabekanäle sind: erstens eine binäre Kristallmaske; zweitens ein vorzeichenbehaftetes Distanzfeld zur nächsten Kristalloberfläche; und drittens und viertens die normalisierten x- und z-Koordinaten, die dem Netz die absolute Position geben. Entscheidend: Beide Architekturen erhalten exakt dieselbe Eingabekodierung und dasselbe Ziel und werden an denselben Metriken gemessen. Das macht es zu einem kontrollierten, fairen Vergleich – jeder Leistungsunterschied geht auf die Architektur zurück, nicht auf die Daten.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vergleiche zwei grundlegend verschiedene Architekturen. Beide erhalten dasselbe 256-mal-256-Eingabebild der Kristallgeometrie und geben ein vorhergesagtes psi-Dach aus – aber sie sind völlig unterschiedlich aufgebaut. Das U-Net stammt ursprünglich aus der biomedizinischen Bildsegmentierung; der Name kommt von der U-Form. Die linke Seite, der Encoder, komprimiert die Eingabe schrittweise und extrahiert abstraktere Merkmale – wie Herauszoomen. Die rechte Seite, der Decoder, rekonstruiert die volle Auflösung. Der Clou sind die Skip-Connections, die feine räumliche Details direkt weiterreichen. Die zentrale Einschränkung: Globaler Kontext entsteht nur indirekt über viele Pooling-Schritte. Technisch nutzt das U-Net Batch-Normalisierung, Resize-Convolutions und eine zusammengesetzte Loss-Funktion. Der Fourier Neural Operator geht fundamental anders vor: Er arbeitet direkt im Frequenzraum. Jedes räumliche Feld lässt sich in Sinuswellen zerlegen; eine FFT macht das. Der FNO lernt, welche der 16 niedrigsten Moden zu verstärken oder zu dämpfen sind, eine inverse Transformation kehrt zurück in den Ortsraum. Der entscheidende Vorteil: Schon eine einzige Fourier-Schicht hat ein globales rezeptives Feld – jeder Ausgabepunkt hängt sofort von jedem Eingabepunkt ab. Das passt strukturell perfekt zu den elliptischen Stokes-Gleichungen. Kurz: Das U-Net baut globales Verständnis schrittweise aus lokalen Operationen auf; der FNO sieht das gesamte Gebiet auf einmal. Dieser strukturelle Unterschied ist die zentrale Hypothese der Arbeit.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 diesen beiden Architekturen habe ich vier Experimente durchgeführt – vom Einzelkristall bis zur Größen-Generalisierung.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vier Experimente sind systematisch aufgebaut. Experiment 1 ist die Einzelkristall-Basislinie mit genau einem Kristall; hier habe ich einen Hyperparameter-Sweep über vier Lernraten und zwei Batch-Größen durchgeführt. Experiment 2 ist Mehrkristall-Generalisierung: beide Modelle werden auf 1 bis 10 Kristallen trainiert und pro Kristallzahl evaluiert, inklusive ungesehener höherer Zahlen bis 25. Experiment 3 ist ein Stresstest: Training auf bis zu 25 Kristallen, Evaluation auf weit dichteren Szenen bis 84 Kristalle – skaliert der Generalisierungsbereich mit der Breite der Trainingsverteilung? Experiment 4 wechselt die Variable von Anzahl auf Größe: ein nur auf Radius 0,05 trainiertes Modell wird auf sehr kleine und sehr große Kristalle angewandt. Zusätzlich trainiere ich einen FNO auf drei Radien gleichzeitig. Alle Daten stammen aus LaMEM und liegen als vorberechnete JLD2-Dateien vor. Schauen wir uns die Ergebnisse 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der Einzelkristall-Basislinie hat der FNO einen klaren Vorteil. Die besten FNO-Konfigurationen erreichen mittlere relative L2-Fehler von 1,6 bis 2,5 Prozent auf der Stromfunktion, gegenüber 5,5 bis 6,5 Prozent beim besten U-Net – etwa Faktor drei. Auf dem abgeleiteten Geschwindigkeitsfeld liegt der FNO bei etwa 3,0 bis 4,2 Prozent, das U-Net bei rund 8,5 bis 12,7 Prozent. Wichtig ist die Trainingsdynamik: Der FNO konvergiert glatt und monoton. Das U-Net zeigt ausgeprägte Oszillationen im Validierungs-Loss, besonders bei höheren Lernraten und der größeren Batch-Größe 16. Wir führen das auf die Batch-Normalisierung zurück, die die effektive Lernrate über die Schichten ungleichmäßig macht – das knüpft an Arbeiten von Mehmeti-Göpel und Wand, ICML 2024, an. Zum Loss: Die zusammengesetzte Loss-Funktion – MSE plus Gradienten- und Randterm – senkt das Geschwindigkeits-zu-psi-Verhältnis des U-Nets von etwa 3-fach auf 1,5- bis 2-fach bei Batch-Größe 8. Bei Batch-Größe 16 kann sie auch nach hinten losgehen.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den Mehrkristall-Experimenten führt der FNO erneut klar. Innerhalb der Trainingsverteilung liegt der FNO in Experiment 2 bei 4 bis 9 Prozent auf psi, das U-Net bei rund 17 bis 26 Prozent – wieder Faktor 3 bis 4. In Experiment 3 liegen die In-Distribution-Mittel bei etwa 6,8 Prozent für den FNO und etwa 23 Prozent für das U-Net. Physikalisch ist das sinnvoll: Stokes-Strömung ist linear, das Gesamtfeld ist näherungsweise eine Überlagerung der Einzelkristall-Störungen. Solche Überlagerungen genau darzustellen erfordert globale Korrelationen über das ganze Gitter – genau das, was der FNO leistet. Außerhalb der Verteilung: In Experiment 2, trainiert auf bis zu 10 Kristallen, überschreitet der FNO-Fehler erstmals bei n gleich 20 die 10 Prozent, das U-Net liegt um 22 Prozent. In Experiment 3, trainiert auf bis zu 25, erreicht der FNO 12,4 Prozent bei n gleich 50, das U-Net 21,5 Prozent. Die zentrale Erkenntnis: Die Out-of-Distribution-Reichweite skaliert mit der Breite der Trainingsverteilung. Das breitere Experiment-3-Modell bleibt bis etwa n gleich 35 unter 10 Prozent – deutlich weiter als die rund n gleich 20 aus Experiment 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4 liefert das überraschendste Ergebnis der Arbeit: Die architektonische Rangfolge kehrt sich um. Für kleine Out-of-Distribution-Kristalle, Radius 0,005 gegenüber dem Trainingsradius 0,05, sind beide Modelle vergleichbar: der FNO bei 12,1 plus minus 6,4 Prozent, das U-Net bei 10,8 plus minus 6,8 Prozent. Kleine Kristalle erzeugen schwache, diffuse Störungen. Für große Kristalle, Radius 0,5, kippt das Bild: Der FNO erreicht 71,3 plus minus 4,8 Prozent – praktisch unbrauchbar – während das U-Net bei 44,9 plus minus 8,2 Prozent liegt: immer noch hoch, aber deutlich besser. Der Grund ist die feste spektrale Trunkierung bei 16 Fourier-Moden. Bei großen Kristallen ist die Grenzschicht hochfrequent relativ zum Gebiet, und diese Frequenzen liegen über dem Mode-Cutoff – der FNO kann sie nicht darstellen. Die lokalen Faltungsfilter des U-Nets bleiben an der Kristalloberfläche geometrisch ähnlich, unabhängig von der Größe. Die Abhilfe ist verblüffend: Ein FNO, der auf drei Radien trainiert wird, senkt den mittleren Out-of-Distribution-Fehler von 71 Prozent auf etwa 10,4 Prozent. Die spektrale Begrenzung ist also keine grundsätzliche Barriere – sie lässt sich durch Vielfalt in den Trainingsdaten überwinden, ganz ohne architektonische Änderung.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Nun die Diskussion: Ursachen, Implikationen und Grenzen.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Punkte. Erstens, FNO-Stabilität gegenüber U-Net-Oszillationen: Die Batch-Normalisierung im U-Net verbreitert die Streuung der effektiven Lernraten über die Schichten. Der FNO ohne Batch-Normalisierung konvergiert monoton. Zweitens, die spektrale Trunkierung bei k-max gleich 16 ist genau das, was das Versagen bei großen Kristallen verursacht: Grenzschicht-Strukturen brauchen höhere Fourier-Frequenzen. Die Abhilfe ist breitere Trainingsvariation oder adaptive Fourier-Moden. Drittens, die Stromfunktion als induktiver Bias: Die Vorhersage von psi garantiert exakte Inkompressibilität – die gemessene Divergenz-RMS liegt bei etwa 10 hoch minus 26, also numerisch null – ohne weichen Strafterm. Viertens, Geschwindigkeitsfehler größer als psi-Fehler, weil die numerische Differentiation hochfrequente Residuen verstärkt; das Verhältnis ist etwa 2-fach beim FNO, 3-fach beim U-Net ohne und 1,5- bis 2-fach mit der zusammengesetzten Loss-Funktion. Und der Effizienzgewinn: Der FNO braucht etwa 687 Millisekunden Ende-zu-Ende pro Sample – rund 12-fach schneller als LaMEMs 8 bis 9 Sekunden – während der reine U-Net-Vorwärtspass nur 5,5 Millisekunden dauert, über 1500-fach schneller. Das macht systematische Studien und Langzeitsimulationen erst handhabbar.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 den Hypothesen: H1 ist für den FNO bestätigt – ausreichende Stichprobendichte und eine breite Trainingsverteilung ermöglichen Out-of-Distribution-Generalisierung; für das U-Net gilt das nur schwach. H2 ist bestätigt – die psi-Formulierung reduziert die Aufgabenkomplexität und garantiert exakte Inkompressibilität für jede Vorhersage. H3 ist bedingt bestätigt – der FNO dominiert bei der Generalisierung über Kristallzahlen, aber es gibt eine Rangumkehr bei der Größen-Generalisierung, wo das U-Net bei großen Kristallen besser ist. Daraus leite ich praktische Leitlinien ab: FNO bevorzugen, wenn Generalisierung über Kristallzahlen zählt; U-Net, wenn Robustheit gegenüber geometrischer Skalierung gefragt ist; für Größen-Generalisierung schlägt das Verbreitern der Trainingsdaten den Architekturwechsel; und stets die Stromfunktion der direkten Geschwindigkeitsvorhersage vorziehen. Zu den Grenzen: Alle Simulationen sind 2D und stationär; die Datensätze sind relativ klein; und der FNO wurde in den Experimenten 2 und 3 für weniger Epochen trainiert als das U-Net, 100 gegenüber 180 – ein vollständig fairer Vergleich würde seine Zahlen wahrscheinlich weiter verbessern.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Mehrere Richtungen ergeben sich. Adaptive Fourier-Moden oder ein Geo-FNO würden robuste Größen-Generalisierung ohne diskrete Trainingsradien ermöglichen. Hybride Architekturen wie das U-FNO von Wen und Kollegen, 2022, kombinieren lokale U-Net-Verarbeitung mit globalen spektralen Schichten. Die natürliche Erweiterung sind drei Dimensionen und zeitabhängige Strömungen für realistische geophysikalische Anwendungen. Da die Stokes-Strömung quasi-statisch ist, lässt sich das Surrogat als Baustein in ein Zeitschritt-Verfahren einbetten – Millisekunden pro Schritt statt Sekunden – und ermöglicht so Langzeit-Sedimentationssimulationen. Schließlich würde Unsicherheitsquantifizierung über Bayes'sche Methoden oder Ensembles Konfidenzschätzungen für die Vorhersagen liefern.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komme ich zum Ende. Ich danke Professor Kaus und Professor Wand herzlich für die ausgezeichnete Betreuung und der Prüfungskommission für Ihre Zeit und Aufmerksamkeit. Gerne beantworte ich nun Ihre Fragen.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21792"/>
            <a:ext cx="7863840" cy="274320"/>
          </a:xfrm>
          <a:prstGeom prst="rect">
            <a:avLst/>
          </a:prstGeom>
          <a:noFill/>
          <a:ln/>
        </p:spPr>
        <p:txBody>
          <a:bodyPr wrap="square" lIns="0" tIns="0" rIns="0" bIns="0" rtlCol="0" anchor="ctr"/>
          <a:lstStyle/>
          <a:p>
            <a:pPr marL="0" indent="0">
              <a:buNone/>
            </a:pPr>
            <a:r>
              <a:rPr lang="en-US" sz="1250" b="1" kern="0" spc="300" dirty="0">
                <a:solidFill>
                  <a:srgbClr val="CF8A72"/>
                </a:solidFill>
                <a:latin typeface="Calibri" pitchFamily="34" charset="0"/>
                <a:ea typeface="Calibri" pitchFamily="34" charset="-122"/>
                <a:cs typeface="Calibri" pitchFamily="34" charset="-120"/>
              </a:rPr>
              <a:t>MASTER'S THESIS DEFENSE  ·  COMPUTATIONAL SCIENCES</a:t>
            </a:r>
            <a:endParaRPr lang="en-US" sz="1250" dirty="0"/>
          </a:p>
        </p:txBody>
      </p:sp>
      <p:sp>
        <p:nvSpPr>
          <p:cNvPr id="3" name="Text 1"/>
          <p:cNvSpPr/>
          <p:nvPr/>
        </p:nvSpPr>
        <p:spPr>
          <a:xfrm>
            <a:off x="621792" y="1417320"/>
            <a:ext cx="7772400" cy="1371600"/>
          </a:xfrm>
          <a:prstGeom prst="rect">
            <a:avLst/>
          </a:prstGeom>
          <a:noFill/>
          <a:ln/>
        </p:spPr>
        <p:txBody>
          <a:bodyPr wrap="square" lIns="0" tIns="0" rIns="0" bIns="0" rtlCol="0" anchor="ctr"/>
          <a:lstStyle/>
          <a:p>
            <a:pPr marL="0" indent="0">
              <a:lnSpc>
                <a:spcPct val="98000"/>
              </a:lnSpc>
              <a:buNone/>
            </a:pPr>
            <a:r>
              <a:rPr lang="en-US" sz="4000" b="1" dirty="0">
                <a:solidFill>
                  <a:srgbClr val="EAECEF"/>
                </a:solidFill>
                <a:latin typeface="Cambria" pitchFamily="34" charset="0"/>
                <a:ea typeface="Cambria" pitchFamily="34" charset="-122"/>
                <a:cs typeface="Cambria" pitchFamily="34" charset="-120"/>
              </a:rPr>
              <a:t>Data-Driven Stokes Flow Prediction</a:t>
            </a:r>
            <a:endParaRPr lang="en-US" sz="4000" dirty="0"/>
          </a:p>
          <a:p>
            <a:pPr marL="0" indent="0">
              <a:lnSpc>
                <a:spcPct val="98000"/>
              </a:lnSpc>
              <a:buNone/>
            </a:pPr>
            <a:r>
              <a:rPr lang="en-US" sz="4000" b="1" dirty="0">
                <a:solidFill>
                  <a:srgbClr val="EAECEF"/>
                </a:solidFill>
                <a:latin typeface="Cambria" pitchFamily="34" charset="0"/>
                <a:ea typeface="Cambria" pitchFamily="34" charset="-122"/>
                <a:cs typeface="Cambria" pitchFamily="34" charset="-120"/>
              </a:rPr>
              <a:t>in Multi-Crystal Sedimentation</a:t>
            </a:r>
            <a:endParaRPr lang="en-US" sz="4000" dirty="0"/>
          </a:p>
        </p:txBody>
      </p:sp>
      <p:sp>
        <p:nvSpPr>
          <p:cNvPr id="4" name="Text 2"/>
          <p:cNvSpPr/>
          <p:nvPr/>
        </p:nvSpPr>
        <p:spPr>
          <a:xfrm>
            <a:off x="640080" y="3054096"/>
            <a:ext cx="7680960" cy="457200"/>
          </a:xfrm>
          <a:prstGeom prst="rect">
            <a:avLst/>
          </a:prstGeom>
          <a:noFill/>
          <a:ln/>
        </p:spPr>
        <p:txBody>
          <a:bodyPr wrap="square" lIns="0" tIns="0" rIns="0" bIns="0" rtlCol="0" anchor="ctr"/>
          <a:lstStyle/>
          <a:p>
            <a:pPr marL="0" indent="0">
              <a:buNone/>
            </a:pPr>
            <a:r>
              <a:rPr lang="en-US" sz="1600" i="1" dirty="0">
                <a:solidFill>
                  <a:srgbClr val="9AA1AB"/>
                </a:solidFill>
                <a:latin typeface="Calibri" pitchFamily="34" charset="0"/>
                <a:ea typeface="Calibri" pitchFamily="34" charset="-122"/>
                <a:cs typeface="Calibri" pitchFamily="34" charset="-120"/>
              </a:rPr>
              <a:t>A Systematic Comparison of Spatial and Spectral Neural Surrogate Architectures</a:t>
            </a:r>
            <a:endParaRPr lang="en-US" sz="1600" dirty="0"/>
          </a:p>
        </p:txBody>
      </p:sp>
      <p:sp>
        <p:nvSpPr>
          <p:cNvPr id="5" name="Text 3"/>
          <p:cNvSpPr/>
          <p:nvPr/>
        </p:nvSpPr>
        <p:spPr>
          <a:xfrm>
            <a:off x="640080" y="4023360"/>
            <a:ext cx="7863840" cy="914400"/>
          </a:xfrm>
          <a:prstGeom prst="rect">
            <a:avLst/>
          </a:prstGeom>
          <a:noFill/>
          <a:ln/>
        </p:spPr>
        <p:txBody>
          <a:bodyPr wrap="square" lIns="0" tIns="0" rIns="0" bIns="0" rtlCol="0" anchor="ctr"/>
          <a:lstStyle/>
          <a:p>
            <a:pPr marL="0" indent="0">
              <a:lnSpc>
                <a:spcPct val="125000"/>
              </a:lnSpc>
              <a:buNone/>
            </a:pPr>
            <a:r>
              <a:rPr lang="en-US" sz="1600" b="1" dirty="0">
                <a:solidFill>
                  <a:srgbClr val="EAECEF"/>
                </a:solidFill>
                <a:latin typeface="Calibri" pitchFamily="34" charset="0"/>
                <a:ea typeface="Calibri" pitchFamily="34" charset="-122"/>
                <a:cs typeface="Calibri" pitchFamily="34" charset="-120"/>
              </a:rPr>
              <a:t>Paul Baselt</a:t>
            </a:r>
            <a:endParaRPr lang="en-US" sz="1600" dirty="0"/>
          </a:p>
          <a:p>
            <a:pPr marL="0" indent="0">
              <a:lnSpc>
                <a:spcPct val="125000"/>
              </a:lnSpc>
              <a:buNone/>
            </a:pPr>
            <a:r>
              <a:rPr lang="en-US" sz="1250" dirty="0">
                <a:solidFill>
                  <a:srgbClr val="9AA1AB"/>
                </a:solidFill>
                <a:latin typeface="Calibri" pitchFamily="34" charset="0"/>
                <a:ea typeface="Calibri" pitchFamily="34" charset="-122"/>
                <a:cs typeface="Calibri" pitchFamily="34" charset="-120"/>
              </a:rPr>
              <a:t>Supervisors:  Prof. Dr. Boris J. P. Kaus  ·  Prof. Dr. Michael Wand</a:t>
            </a:r>
            <a:endParaRPr lang="en-US" sz="1600" dirty="0"/>
          </a:p>
          <a:p>
            <a:pPr marL="0" indent="0">
              <a:lnSpc>
                <a:spcPct val="125000"/>
              </a:lnSpc>
              <a:buNone/>
            </a:pPr>
            <a:r>
              <a:rPr lang="en-US" sz="1250" dirty="0">
                <a:solidFill>
                  <a:srgbClr val="9AA1AB"/>
                </a:solidFill>
                <a:latin typeface="Calibri" pitchFamily="34" charset="0"/>
                <a:ea typeface="Calibri" pitchFamily="34" charset="-122"/>
                <a:cs typeface="Calibri" pitchFamily="34" charset="-120"/>
              </a:rPr>
              <a:t>Johannes Gutenberg University Mainz  ·  June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Agenda</a:t>
            </a:r>
            <a:endParaRPr lang="en-US" sz="2900" dirty="0"/>
          </a:p>
        </p:txBody>
      </p:sp>
      <p:sp>
        <p:nvSpPr>
          <p:cNvPr id="4" name="Shape 2"/>
          <p:cNvSpPr/>
          <p:nvPr/>
        </p:nvSpPr>
        <p:spPr>
          <a:xfrm>
            <a:off x="548640" y="1444752"/>
            <a:ext cx="8046720" cy="585216"/>
          </a:xfrm>
          <a:prstGeom prst="roundRect">
            <a:avLst>
              <a:gd name="adj" fmla="val 7813"/>
            </a:avLst>
          </a:prstGeom>
          <a:solidFill>
            <a:srgbClr val="F4F5F7"/>
          </a:solidFill>
          <a:ln/>
        </p:spPr>
        <p:txBody>
          <a:bodyPr/>
          <a:lstStyle/>
          <a:p>
            <a:endParaRPr lang="de-DE"/>
          </a:p>
        </p:txBody>
      </p:sp>
      <p:sp>
        <p:nvSpPr>
          <p:cNvPr id="5" name="Text 3"/>
          <p:cNvSpPr/>
          <p:nvPr/>
        </p:nvSpPr>
        <p:spPr>
          <a:xfrm>
            <a:off x="868680" y="1444752"/>
            <a:ext cx="685800" cy="585216"/>
          </a:xfrm>
          <a:prstGeom prst="rect">
            <a:avLst/>
          </a:prstGeom>
          <a:noFill/>
          <a:ln/>
        </p:spPr>
        <p:txBody>
          <a:bodyPr wrap="square" lIns="0" tIns="0" rIns="0" bIns="0" rtlCol="0" anchor="ctr"/>
          <a:lstStyle/>
          <a:p>
            <a:pPr marL="0" indent="0" algn="l">
              <a:buNone/>
            </a:pPr>
            <a:r>
              <a:rPr lang="en-US" sz="2400" b="1" dirty="0">
                <a:solidFill>
                  <a:srgbClr val="B5654A"/>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1600200" y="1444752"/>
            <a:ext cx="2423160" cy="585216"/>
          </a:xfrm>
          <a:prstGeom prst="rect">
            <a:avLst/>
          </a:prstGeom>
          <a:noFill/>
          <a:ln/>
        </p:spPr>
        <p:txBody>
          <a:bodyPr wrap="square" lIns="0" tIns="0" rIns="0" bIns="0" rtlCol="0" anchor="ctr"/>
          <a:lstStyle/>
          <a:p>
            <a:pPr marL="0" indent="0" algn="l">
              <a:buNone/>
            </a:pPr>
            <a:r>
              <a:rPr lang="en-US" sz="1700" b="1" dirty="0">
                <a:solidFill>
                  <a:srgbClr val="1F2329"/>
                </a:solidFill>
                <a:latin typeface="Cambria" pitchFamily="34" charset="0"/>
                <a:ea typeface="Cambria" pitchFamily="34" charset="-122"/>
                <a:cs typeface="Cambria" pitchFamily="34" charset="-120"/>
              </a:rPr>
              <a:t>Motivation</a:t>
            </a:r>
            <a:endParaRPr lang="en-US" sz="1700" dirty="0"/>
          </a:p>
        </p:txBody>
      </p:sp>
      <p:sp>
        <p:nvSpPr>
          <p:cNvPr id="7" name="Text 5"/>
          <p:cNvSpPr/>
          <p:nvPr/>
        </p:nvSpPr>
        <p:spPr>
          <a:xfrm>
            <a:off x="4069080" y="1444752"/>
            <a:ext cx="4343400" cy="585216"/>
          </a:xfrm>
          <a:prstGeom prst="rect">
            <a:avLst/>
          </a:prstGeom>
          <a:noFill/>
          <a:ln/>
        </p:spPr>
        <p:txBody>
          <a:bodyPr wrap="square" lIns="0" tIns="0" rIns="0" bIns="0" rtlCol="0" anchor="ctr"/>
          <a:lstStyle/>
          <a:p>
            <a:pPr marL="0" indent="0" algn="l">
              <a:buNone/>
            </a:pPr>
            <a:r>
              <a:rPr lang="en-US" sz="1250" dirty="0">
                <a:solidFill>
                  <a:srgbClr val="727A85"/>
                </a:solidFill>
                <a:latin typeface="Calibri" pitchFamily="34" charset="0"/>
                <a:ea typeface="Calibri" pitchFamily="34" charset="-122"/>
                <a:cs typeface="Calibri" pitchFamily="34" charset="-120"/>
              </a:rPr>
              <a:t>The geophysical problem &amp; research question</a:t>
            </a:r>
            <a:endParaRPr lang="en-US" sz="1250" dirty="0"/>
          </a:p>
        </p:txBody>
      </p:sp>
      <p:sp>
        <p:nvSpPr>
          <p:cNvPr id="8" name="Shape 6"/>
          <p:cNvSpPr/>
          <p:nvPr/>
        </p:nvSpPr>
        <p:spPr>
          <a:xfrm>
            <a:off x="548640" y="2107692"/>
            <a:ext cx="8046720" cy="585216"/>
          </a:xfrm>
          <a:prstGeom prst="roundRect">
            <a:avLst>
              <a:gd name="adj" fmla="val 7813"/>
            </a:avLst>
          </a:prstGeom>
          <a:solidFill>
            <a:srgbClr val="F4F5F7"/>
          </a:solidFill>
          <a:ln/>
        </p:spPr>
        <p:txBody>
          <a:bodyPr/>
          <a:lstStyle/>
          <a:p>
            <a:endParaRPr lang="de-DE"/>
          </a:p>
        </p:txBody>
      </p:sp>
      <p:sp>
        <p:nvSpPr>
          <p:cNvPr id="9" name="Text 7"/>
          <p:cNvSpPr/>
          <p:nvPr/>
        </p:nvSpPr>
        <p:spPr>
          <a:xfrm>
            <a:off x="868680" y="2107692"/>
            <a:ext cx="685800" cy="585216"/>
          </a:xfrm>
          <a:prstGeom prst="rect">
            <a:avLst/>
          </a:prstGeom>
          <a:noFill/>
          <a:ln/>
        </p:spPr>
        <p:txBody>
          <a:bodyPr wrap="square" lIns="0" tIns="0" rIns="0" bIns="0" rtlCol="0" anchor="ctr"/>
          <a:lstStyle/>
          <a:p>
            <a:pPr marL="0" indent="0" algn="l">
              <a:buNone/>
            </a:pPr>
            <a:r>
              <a:rPr lang="en-US" sz="2400" b="1" dirty="0">
                <a:solidFill>
                  <a:srgbClr val="B5654A"/>
                </a:solidFill>
                <a:latin typeface="Cambria" pitchFamily="34" charset="0"/>
                <a:ea typeface="Cambria" pitchFamily="34" charset="-122"/>
                <a:cs typeface="Cambria" pitchFamily="34" charset="-120"/>
              </a:rPr>
              <a:t>02</a:t>
            </a:r>
            <a:endParaRPr lang="en-US" sz="2400" dirty="0"/>
          </a:p>
        </p:txBody>
      </p:sp>
      <p:sp>
        <p:nvSpPr>
          <p:cNvPr id="10" name="Text 8"/>
          <p:cNvSpPr/>
          <p:nvPr/>
        </p:nvSpPr>
        <p:spPr>
          <a:xfrm>
            <a:off x="1600200" y="2107692"/>
            <a:ext cx="2423160" cy="585216"/>
          </a:xfrm>
          <a:prstGeom prst="rect">
            <a:avLst/>
          </a:prstGeom>
          <a:noFill/>
          <a:ln/>
        </p:spPr>
        <p:txBody>
          <a:bodyPr wrap="square" lIns="0" tIns="0" rIns="0" bIns="0" rtlCol="0" anchor="ctr"/>
          <a:lstStyle/>
          <a:p>
            <a:pPr marL="0" indent="0" algn="l">
              <a:buNone/>
            </a:pPr>
            <a:r>
              <a:rPr lang="en-US" sz="1700" b="1" dirty="0">
                <a:solidFill>
                  <a:srgbClr val="1F2329"/>
                </a:solidFill>
                <a:latin typeface="Cambria" pitchFamily="34" charset="0"/>
                <a:ea typeface="Cambria" pitchFamily="34" charset="-122"/>
                <a:cs typeface="Cambria" pitchFamily="34" charset="-120"/>
              </a:rPr>
              <a:t>Physics</a:t>
            </a:r>
            <a:endParaRPr lang="en-US" sz="1700" dirty="0"/>
          </a:p>
        </p:txBody>
      </p:sp>
      <p:sp>
        <p:nvSpPr>
          <p:cNvPr id="11" name="Text 9"/>
          <p:cNvSpPr/>
          <p:nvPr/>
        </p:nvSpPr>
        <p:spPr>
          <a:xfrm>
            <a:off x="4069080" y="2107692"/>
            <a:ext cx="4343400" cy="585216"/>
          </a:xfrm>
          <a:prstGeom prst="rect">
            <a:avLst/>
          </a:prstGeom>
          <a:noFill/>
          <a:ln/>
        </p:spPr>
        <p:txBody>
          <a:bodyPr wrap="square" lIns="0" tIns="0" rIns="0" bIns="0" rtlCol="0" anchor="ctr"/>
          <a:lstStyle/>
          <a:p>
            <a:pPr marL="0" indent="0" algn="l">
              <a:buNone/>
            </a:pPr>
            <a:r>
              <a:rPr lang="en-US" sz="1250" dirty="0">
                <a:solidFill>
                  <a:srgbClr val="727A85"/>
                </a:solidFill>
                <a:latin typeface="Calibri" pitchFamily="34" charset="0"/>
                <a:ea typeface="Calibri" pitchFamily="34" charset="-122"/>
                <a:cs typeface="Calibri" pitchFamily="34" charset="-120"/>
              </a:rPr>
              <a:t>Stokes flow &amp; the stream-function formulation</a:t>
            </a:r>
            <a:endParaRPr lang="en-US" sz="1250" dirty="0"/>
          </a:p>
        </p:txBody>
      </p:sp>
      <p:sp>
        <p:nvSpPr>
          <p:cNvPr id="12" name="Shape 10"/>
          <p:cNvSpPr/>
          <p:nvPr/>
        </p:nvSpPr>
        <p:spPr>
          <a:xfrm>
            <a:off x="548640" y="2770632"/>
            <a:ext cx="8046720" cy="585216"/>
          </a:xfrm>
          <a:prstGeom prst="roundRect">
            <a:avLst>
              <a:gd name="adj" fmla="val 7813"/>
            </a:avLst>
          </a:prstGeom>
          <a:solidFill>
            <a:srgbClr val="F4F5F7"/>
          </a:solidFill>
          <a:ln/>
        </p:spPr>
        <p:txBody>
          <a:bodyPr/>
          <a:lstStyle/>
          <a:p>
            <a:endParaRPr lang="de-DE"/>
          </a:p>
        </p:txBody>
      </p:sp>
      <p:sp>
        <p:nvSpPr>
          <p:cNvPr id="13" name="Text 11"/>
          <p:cNvSpPr/>
          <p:nvPr/>
        </p:nvSpPr>
        <p:spPr>
          <a:xfrm>
            <a:off x="868680" y="2770632"/>
            <a:ext cx="685800" cy="585216"/>
          </a:xfrm>
          <a:prstGeom prst="rect">
            <a:avLst/>
          </a:prstGeom>
          <a:noFill/>
          <a:ln/>
        </p:spPr>
        <p:txBody>
          <a:bodyPr wrap="square" lIns="0" tIns="0" rIns="0" bIns="0" rtlCol="0" anchor="ctr"/>
          <a:lstStyle/>
          <a:p>
            <a:pPr marL="0" indent="0" algn="l">
              <a:buNone/>
            </a:pPr>
            <a:r>
              <a:rPr lang="en-US" sz="2400" b="1" dirty="0">
                <a:solidFill>
                  <a:srgbClr val="B5654A"/>
                </a:solidFill>
                <a:latin typeface="Cambria" pitchFamily="34" charset="0"/>
                <a:ea typeface="Cambria" pitchFamily="34" charset="-122"/>
                <a:cs typeface="Cambria" pitchFamily="34" charset="-120"/>
              </a:rPr>
              <a:t>03</a:t>
            </a:r>
            <a:endParaRPr lang="en-US" sz="2400" dirty="0"/>
          </a:p>
        </p:txBody>
      </p:sp>
      <p:sp>
        <p:nvSpPr>
          <p:cNvPr id="14" name="Text 12"/>
          <p:cNvSpPr/>
          <p:nvPr/>
        </p:nvSpPr>
        <p:spPr>
          <a:xfrm>
            <a:off x="1600200" y="2770632"/>
            <a:ext cx="2423160" cy="585216"/>
          </a:xfrm>
          <a:prstGeom prst="rect">
            <a:avLst/>
          </a:prstGeom>
          <a:noFill/>
          <a:ln/>
        </p:spPr>
        <p:txBody>
          <a:bodyPr wrap="square" lIns="0" tIns="0" rIns="0" bIns="0" rtlCol="0" anchor="ctr"/>
          <a:lstStyle/>
          <a:p>
            <a:pPr marL="0" indent="0" algn="l">
              <a:buNone/>
            </a:pPr>
            <a:r>
              <a:rPr lang="en-US" sz="1700" b="1" dirty="0">
                <a:solidFill>
                  <a:srgbClr val="1F2329"/>
                </a:solidFill>
                <a:latin typeface="Cambria" pitchFamily="34" charset="0"/>
                <a:ea typeface="Cambria" pitchFamily="34" charset="-122"/>
                <a:cs typeface="Cambria" pitchFamily="34" charset="-120"/>
              </a:rPr>
              <a:t>Methodology</a:t>
            </a:r>
            <a:endParaRPr lang="en-US" sz="1700" dirty="0"/>
          </a:p>
        </p:txBody>
      </p:sp>
      <p:sp>
        <p:nvSpPr>
          <p:cNvPr id="15" name="Text 13"/>
          <p:cNvSpPr/>
          <p:nvPr/>
        </p:nvSpPr>
        <p:spPr>
          <a:xfrm>
            <a:off x="4069080" y="2770632"/>
            <a:ext cx="4343400" cy="585216"/>
          </a:xfrm>
          <a:prstGeom prst="rect">
            <a:avLst/>
          </a:prstGeom>
          <a:noFill/>
          <a:ln/>
        </p:spPr>
        <p:txBody>
          <a:bodyPr wrap="square" lIns="0" tIns="0" rIns="0" bIns="0" rtlCol="0" anchor="ctr"/>
          <a:lstStyle/>
          <a:p>
            <a:pPr marL="0" indent="0" algn="l">
              <a:buNone/>
            </a:pPr>
            <a:r>
              <a:rPr lang="en-US" sz="1250" dirty="0">
                <a:solidFill>
                  <a:srgbClr val="727A85"/>
                </a:solidFill>
                <a:latin typeface="Calibri" pitchFamily="34" charset="0"/>
                <a:ea typeface="Calibri" pitchFamily="34" charset="-122"/>
                <a:cs typeface="Calibri" pitchFamily="34" charset="-120"/>
              </a:rPr>
              <a:t>Two architectures, one controlled comparison</a:t>
            </a:r>
            <a:endParaRPr lang="en-US" sz="1250" dirty="0"/>
          </a:p>
        </p:txBody>
      </p:sp>
      <p:sp>
        <p:nvSpPr>
          <p:cNvPr id="16" name="Shape 14"/>
          <p:cNvSpPr/>
          <p:nvPr/>
        </p:nvSpPr>
        <p:spPr>
          <a:xfrm>
            <a:off x="548640" y="3433572"/>
            <a:ext cx="8046720" cy="585216"/>
          </a:xfrm>
          <a:prstGeom prst="roundRect">
            <a:avLst>
              <a:gd name="adj" fmla="val 7813"/>
            </a:avLst>
          </a:prstGeom>
          <a:solidFill>
            <a:srgbClr val="F4F5F7"/>
          </a:solidFill>
          <a:ln/>
        </p:spPr>
        <p:txBody>
          <a:bodyPr/>
          <a:lstStyle/>
          <a:p>
            <a:endParaRPr lang="de-DE"/>
          </a:p>
        </p:txBody>
      </p:sp>
      <p:sp>
        <p:nvSpPr>
          <p:cNvPr id="17" name="Text 15"/>
          <p:cNvSpPr/>
          <p:nvPr/>
        </p:nvSpPr>
        <p:spPr>
          <a:xfrm>
            <a:off x="868680" y="3433572"/>
            <a:ext cx="685800" cy="585216"/>
          </a:xfrm>
          <a:prstGeom prst="rect">
            <a:avLst/>
          </a:prstGeom>
          <a:noFill/>
          <a:ln/>
        </p:spPr>
        <p:txBody>
          <a:bodyPr wrap="square" lIns="0" tIns="0" rIns="0" bIns="0" rtlCol="0" anchor="ctr"/>
          <a:lstStyle/>
          <a:p>
            <a:pPr marL="0" indent="0" algn="l">
              <a:buNone/>
            </a:pPr>
            <a:r>
              <a:rPr lang="en-US" sz="2400" b="1" dirty="0">
                <a:solidFill>
                  <a:srgbClr val="B5654A"/>
                </a:solidFill>
                <a:latin typeface="Cambria" pitchFamily="34" charset="0"/>
                <a:ea typeface="Cambria" pitchFamily="34" charset="-122"/>
                <a:cs typeface="Cambria" pitchFamily="34" charset="-120"/>
              </a:rPr>
              <a:t>04</a:t>
            </a:r>
            <a:endParaRPr lang="en-US" sz="2400" dirty="0"/>
          </a:p>
        </p:txBody>
      </p:sp>
      <p:sp>
        <p:nvSpPr>
          <p:cNvPr id="18" name="Text 16"/>
          <p:cNvSpPr/>
          <p:nvPr/>
        </p:nvSpPr>
        <p:spPr>
          <a:xfrm>
            <a:off x="1600200" y="3433572"/>
            <a:ext cx="2423160" cy="585216"/>
          </a:xfrm>
          <a:prstGeom prst="rect">
            <a:avLst/>
          </a:prstGeom>
          <a:noFill/>
          <a:ln/>
        </p:spPr>
        <p:txBody>
          <a:bodyPr wrap="square" lIns="0" tIns="0" rIns="0" bIns="0" rtlCol="0" anchor="ctr"/>
          <a:lstStyle/>
          <a:p>
            <a:pPr marL="0" indent="0" algn="l">
              <a:buNone/>
            </a:pPr>
            <a:r>
              <a:rPr lang="en-US" sz="1700" b="1" dirty="0">
                <a:solidFill>
                  <a:srgbClr val="1F2329"/>
                </a:solidFill>
                <a:latin typeface="Cambria" pitchFamily="34" charset="0"/>
                <a:ea typeface="Cambria" pitchFamily="34" charset="-122"/>
                <a:cs typeface="Cambria" pitchFamily="34" charset="-120"/>
              </a:rPr>
              <a:t>Experiments</a:t>
            </a:r>
            <a:endParaRPr lang="en-US" sz="1700" dirty="0"/>
          </a:p>
        </p:txBody>
      </p:sp>
      <p:sp>
        <p:nvSpPr>
          <p:cNvPr id="19" name="Text 17"/>
          <p:cNvSpPr/>
          <p:nvPr/>
        </p:nvSpPr>
        <p:spPr>
          <a:xfrm>
            <a:off x="4069080" y="3433572"/>
            <a:ext cx="4343400" cy="585216"/>
          </a:xfrm>
          <a:prstGeom prst="rect">
            <a:avLst/>
          </a:prstGeom>
          <a:noFill/>
          <a:ln/>
        </p:spPr>
        <p:txBody>
          <a:bodyPr wrap="square" lIns="0" tIns="0" rIns="0" bIns="0" rtlCol="0" anchor="ctr"/>
          <a:lstStyle/>
          <a:p>
            <a:pPr marL="0" indent="0" algn="l">
              <a:buNone/>
            </a:pPr>
            <a:r>
              <a:rPr lang="en-US" sz="1250" dirty="0">
                <a:solidFill>
                  <a:srgbClr val="727A85"/>
                </a:solidFill>
                <a:latin typeface="Calibri" pitchFamily="34" charset="0"/>
                <a:ea typeface="Calibri" pitchFamily="34" charset="-122"/>
                <a:cs typeface="Calibri" pitchFamily="34" charset="-120"/>
              </a:rPr>
              <a:t>Four experiments: from one crystal to size scaling</a:t>
            </a:r>
            <a:endParaRPr lang="en-US" sz="1250" dirty="0"/>
          </a:p>
        </p:txBody>
      </p:sp>
      <p:sp>
        <p:nvSpPr>
          <p:cNvPr id="20" name="Shape 18"/>
          <p:cNvSpPr/>
          <p:nvPr/>
        </p:nvSpPr>
        <p:spPr>
          <a:xfrm>
            <a:off x="548640" y="4096512"/>
            <a:ext cx="8046720" cy="585216"/>
          </a:xfrm>
          <a:prstGeom prst="roundRect">
            <a:avLst>
              <a:gd name="adj" fmla="val 7813"/>
            </a:avLst>
          </a:prstGeom>
          <a:solidFill>
            <a:srgbClr val="F4F5F7"/>
          </a:solidFill>
          <a:ln/>
        </p:spPr>
        <p:txBody>
          <a:bodyPr/>
          <a:lstStyle/>
          <a:p>
            <a:endParaRPr lang="de-DE"/>
          </a:p>
        </p:txBody>
      </p:sp>
      <p:sp>
        <p:nvSpPr>
          <p:cNvPr id="21" name="Text 19"/>
          <p:cNvSpPr/>
          <p:nvPr/>
        </p:nvSpPr>
        <p:spPr>
          <a:xfrm>
            <a:off x="868680" y="4096512"/>
            <a:ext cx="685800" cy="585216"/>
          </a:xfrm>
          <a:prstGeom prst="rect">
            <a:avLst/>
          </a:prstGeom>
          <a:noFill/>
          <a:ln/>
        </p:spPr>
        <p:txBody>
          <a:bodyPr wrap="square" lIns="0" tIns="0" rIns="0" bIns="0" rtlCol="0" anchor="ctr"/>
          <a:lstStyle/>
          <a:p>
            <a:pPr marL="0" indent="0" algn="l">
              <a:buNone/>
            </a:pPr>
            <a:r>
              <a:rPr lang="en-US" sz="2400" b="1" dirty="0">
                <a:solidFill>
                  <a:srgbClr val="B5654A"/>
                </a:solidFill>
                <a:latin typeface="Cambria" pitchFamily="34" charset="0"/>
                <a:ea typeface="Cambria" pitchFamily="34" charset="-122"/>
                <a:cs typeface="Cambria" pitchFamily="34" charset="-120"/>
              </a:rPr>
              <a:t>05</a:t>
            </a:r>
            <a:endParaRPr lang="en-US" sz="2400" dirty="0"/>
          </a:p>
        </p:txBody>
      </p:sp>
      <p:sp>
        <p:nvSpPr>
          <p:cNvPr id="22" name="Text 20"/>
          <p:cNvSpPr/>
          <p:nvPr/>
        </p:nvSpPr>
        <p:spPr>
          <a:xfrm>
            <a:off x="1600200" y="4096512"/>
            <a:ext cx="2423160" cy="585216"/>
          </a:xfrm>
          <a:prstGeom prst="rect">
            <a:avLst/>
          </a:prstGeom>
          <a:noFill/>
          <a:ln/>
        </p:spPr>
        <p:txBody>
          <a:bodyPr wrap="square" lIns="0" tIns="0" rIns="0" bIns="0" rtlCol="0" anchor="ctr"/>
          <a:lstStyle/>
          <a:p>
            <a:pPr marL="0" indent="0" algn="l">
              <a:buNone/>
            </a:pPr>
            <a:r>
              <a:rPr lang="en-US" sz="1700" b="1" dirty="0">
                <a:solidFill>
                  <a:srgbClr val="1F2329"/>
                </a:solidFill>
                <a:latin typeface="Cambria" pitchFamily="34" charset="0"/>
                <a:ea typeface="Cambria" pitchFamily="34" charset="-122"/>
                <a:cs typeface="Cambria" pitchFamily="34" charset="-120"/>
              </a:rPr>
              <a:t>Discussion</a:t>
            </a:r>
            <a:endParaRPr lang="en-US" sz="1700" dirty="0"/>
          </a:p>
        </p:txBody>
      </p:sp>
      <p:sp>
        <p:nvSpPr>
          <p:cNvPr id="23" name="Text 21"/>
          <p:cNvSpPr/>
          <p:nvPr/>
        </p:nvSpPr>
        <p:spPr>
          <a:xfrm>
            <a:off x="4069080" y="4096512"/>
            <a:ext cx="4343400" cy="585216"/>
          </a:xfrm>
          <a:prstGeom prst="rect">
            <a:avLst/>
          </a:prstGeom>
          <a:noFill/>
          <a:ln/>
        </p:spPr>
        <p:txBody>
          <a:bodyPr wrap="square" lIns="0" tIns="0" rIns="0" bIns="0" rtlCol="0" anchor="ctr"/>
          <a:lstStyle/>
          <a:p>
            <a:pPr marL="0" indent="0" algn="l">
              <a:buNone/>
            </a:pPr>
            <a:r>
              <a:rPr lang="en-US" sz="1250" dirty="0">
                <a:solidFill>
                  <a:srgbClr val="727A85"/>
                </a:solidFill>
                <a:latin typeface="Calibri" pitchFamily="34" charset="0"/>
                <a:ea typeface="Calibri" pitchFamily="34" charset="-122"/>
                <a:cs typeface="Calibri" pitchFamily="34" charset="-120"/>
              </a:rPr>
              <a:t>Causes, conclusions &amp; outlook</a:t>
            </a:r>
            <a:endParaRPr lang="en-US" sz="1250" dirty="0"/>
          </a:p>
        </p:txBody>
      </p:sp>
      <p:sp>
        <p:nvSpPr>
          <p:cNvPr id="24" name="Text 22"/>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21792" y="1371600"/>
            <a:ext cx="2743200" cy="1371600"/>
          </a:xfrm>
          <a:prstGeom prst="rect">
            <a:avLst/>
          </a:prstGeom>
          <a:noFill/>
          <a:ln/>
        </p:spPr>
        <p:txBody>
          <a:bodyPr wrap="square" lIns="0" tIns="0" rIns="0" bIns="0" rtlCol="0" anchor="ctr"/>
          <a:lstStyle/>
          <a:p>
            <a:pPr marL="0" indent="0">
              <a:buNone/>
            </a:pPr>
            <a:r>
              <a:rPr lang="en-US" sz="11000" b="1" dirty="0">
                <a:solidFill>
                  <a:srgbClr val="B5654A"/>
                </a:solidFill>
                <a:latin typeface="Cambria" pitchFamily="34" charset="0"/>
                <a:ea typeface="Cambria" pitchFamily="34" charset="-122"/>
                <a:cs typeface="Cambria" pitchFamily="34" charset="-120"/>
              </a:rPr>
              <a:t>01</a:t>
            </a:r>
            <a:endParaRPr lang="en-US" sz="11000" dirty="0"/>
          </a:p>
        </p:txBody>
      </p:sp>
      <p:sp>
        <p:nvSpPr>
          <p:cNvPr id="3" name="Text 1"/>
          <p:cNvSpPr/>
          <p:nvPr/>
        </p:nvSpPr>
        <p:spPr>
          <a:xfrm>
            <a:off x="676656" y="2788920"/>
            <a:ext cx="7315200" cy="292608"/>
          </a:xfrm>
          <a:prstGeom prst="rect">
            <a:avLst/>
          </a:prstGeom>
          <a:noFill/>
          <a:ln/>
        </p:spPr>
        <p:txBody>
          <a:bodyPr wrap="square" lIns="0" tIns="0" rIns="0" bIns="0" rtlCol="0" anchor="ctr"/>
          <a:lstStyle/>
          <a:p>
            <a:pPr marL="0" indent="0">
              <a:buNone/>
            </a:pPr>
            <a:r>
              <a:rPr lang="en-US" sz="1300" b="1" kern="0" spc="400" dirty="0">
                <a:solidFill>
                  <a:srgbClr val="9AA1AB"/>
                </a:solidFill>
                <a:latin typeface="Calibri" pitchFamily="34" charset="0"/>
                <a:ea typeface="Calibri" pitchFamily="34" charset="-122"/>
                <a:cs typeface="Calibri" pitchFamily="34" charset="-120"/>
              </a:rPr>
              <a:t>SECTION ONE</a:t>
            </a:r>
            <a:endParaRPr lang="en-US" sz="1300" dirty="0"/>
          </a:p>
        </p:txBody>
      </p:sp>
      <p:sp>
        <p:nvSpPr>
          <p:cNvPr id="4" name="Text 2"/>
          <p:cNvSpPr/>
          <p:nvPr/>
        </p:nvSpPr>
        <p:spPr>
          <a:xfrm>
            <a:off x="640080" y="3063240"/>
            <a:ext cx="7680960" cy="822960"/>
          </a:xfrm>
          <a:prstGeom prst="rect">
            <a:avLst/>
          </a:prstGeom>
          <a:noFill/>
          <a:ln/>
        </p:spPr>
        <p:txBody>
          <a:bodyPr wrap="square" lIns="0" tIns="0" rIns="0" bIns="0" rtlCol="0" anchor="ctr"/>
          <a:lstStyle/>
          <a:p>
            <a:pPr marL="0" indent="0">
              <a:buNone/>
            </a:pPr>
            <a:r>
              <a:rPr lang="en-US" sz="3800" b="1" dirty="0">
                <a:solidFill>
                  <a:srgbClr val="EAECEF"/>
                </a:solidFill>
                <a:latin typeface="Cambria" pitchFamily="34" charset="0"/>
                <a:ea typeface="Cambria" pitchFamily="34" charset="-122"/>
                <a:cs typeface="Cambria" pitchFamily="34" charset="-120"/>
              </a:rPr>
              <a:t>Motivation</a:t>
            </a:r>
            <a:endParaRPr lang="en-US" sz="3800" dirty="0"/>
          </a:p>
        </p:txBody>
      </p:sp>
      <p:sp>
        <p:nvSpPr>
          <p:cNvPr id="5" name="Text 3"/>
          <p:cNvSpPr/>
          <p:nvPr/>
        </p:nvSpPr>
        <p:spPr>
          <a:xfrm>
            <a:off x="658368" y="3931920"/>
            <a:ext cx="7315200" cy="640080"/>
          </a:xfrm>
          <a:prstGeom prst="rect">
            <a:avLst/>
          </a:prstGeom>
          <a:noFill/>
          <a:ln/>
        </p:spPr>
        <p:txBody>
          <a:bodyPr wrap="square" lIns="0" tIns="0" rIns="0" bIns="0" rtlCol="0" anchor="ctr"/>
          <a:lstStyle/>
          <a:p>
            <a:pPr marL="0" indent="0">
              <a:buNone/>
            </a:pPr>
            <a:r>
              <a:rPr lang="en-US" sz="1500" i="1" dirty="0">
                <a:solidFill>
                  <a:srgbClr val="9AA1AB"/>
                </a:solidFill>
                <a:latin typeface="Calibri" pitchFamily="34" charset="0"/>
                <a:ea typeface="Calibri" pitchFamily="34" charset="-122"/>
                <a:cs typeface="Calibri" pitchFamily="34" charset="-120"/>
              </a:rPr>
              <a:t>Why do we need surrogate models for crystal sedimentation at all?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01 · MOTIVATION</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The Geoscientific Context</a:t>
            </a:r>
            <a:endParaRPr lang="en-US" sz="2900" dirty="0"/>
          </a:p>
        </p:txBody>
      </p:sp>
      <p:sp>
        <p:nvSpPr>
          <p:cNvPr id="4" name="Text 2"/>
          <p:cNvSpPr/>
          <p:nvPr/>
        </p:nvSpPr>
        <p:spPr>
          <a:xfrm>
            <a:off x="566928" y="1417320"/>
            <a:ext cx="4160520" cy="3108960"/>
          </a:xfrm>
          <a:prstGeom prst="rect">
            <a:avLst/>
          </a:prstGeom>
          <a:noFill/>
          <a:ln/>
        </p:spPr>
        <p:txBody>
          <a:bodyPr wrap="square" lIns="0" tIns="0" rIns="0" bIns="0" rtlCol="0" anchor="t"/>
          <a:lstStyle/>
          <a:p>
            <a:pPr marL="0" indent="0">
              <a:lnSpc>
                <a:spcPct val="104000"/>
              </a:lnSpc>
              <a:spcAft>
                <a:spcPts val="600"/>
              </a:spcAft>
              <a:buNone/>
            </a:pPr>
            <a:r>
              <a:rPr lang="en-US" sz="1500" b="1" dirty="0">
                <a:solidFill>
                  <a:srgbClr val="1F2329"/>
                </a:solidFill>
                <a:latin typeface="Calibri" pitchFamily="34" charset="0"/>
                <a:ea typeface="Calibri" pitchFamily="34" charset="-122"/>
                <a:cs typeface="Calibri" pitchFamily="34" charset="-120"/>
              </a:rPr>
              <a:t>Crystals settling in a magma chamber</a:t>
            </a:r>
            <a:endParaRPr lang="en-US" sz="1500" dirty="0"/>
          </a:p>
          <a:p>
            <a:pPr marL="0" indent="0">
              <a:lnSpc>
                <a:spcPct val="104000"/>
              </a:lnSpc>
              <a:spcAft>
                <a:spcPts val="1000"/>
              </a:spcAft>
              <a:buNone/>
            </a:pPr>
            <a:r>
              <a:rPr lang="en-US" sz="1300" dirty="0">
                <a:solidFill>
                  <a:srgbClr val="3F454D"/>
                </a:solidFill>
                <a:latin typeface="Calibri" pitchFamily="34" charset="0"/>
                <a:ea typeface="Calibri" pitchFamily="34" charset="-122"/>
                <a:cs typeface="Calibri" pitchFamily="34" charset="-120"/>
              </a:rPr>
              <a:t>As the melt cools, crystals nucleate, grow and sink due to the density contrast with the melt. This sedimentation drives the chemical differentiation of the rock and forms the layered structures preserved in plutonic bodies.</a:t>
            </a:r>
            <a:endParaRPr lang="en-US" sz="1500" dirty="0"/>
          </a:p>
          <a:p>
            <a:pPr marL="0" indent="0">
              <a:lnSpc>
                <a:spcPct val="104000"/>
              </a:lnSpc>
              <a:spcAft>
                <a:spcPts val="600"/>
              </a:spcAft>
              <a:buNone/>
            </a:pPr>
            <a:r>
              <a:rPr lang="en-US" sz="1500" b="1" dirty="0">
                <a:solidFill>
                  <a:srgbClr val="1F2329"/>
                </a:solidFill>
                <a:latin typeface="Calibri" pitchFamily="34" charset="0"/>
                <a:ea typeface="Calibri" pitchFamily="34" charset="-122"/>
                <a:cs typeface="Calibri" pitchFamily="34" charset="-120"/>
              </a:rPr>
              <a:t>The numerical challenge</a:t>
            </a:r>
            <a:endParaRPr lang="en-US" sz="1500" dirty="0"/>
          </a:p>
          <a:p>
            <a:pPr marL="0" indent="0">
              <a:lnSpc>
                <a:spcPct val="104000"/>
              </a:lnSpc>
              <a:buNone/>
            </a:pPr>
            <a:r>
              <a:rPr lang="en-US" sz="1300" dirty="0">
                <a:solidFill>
                  <a:srgbClr val="3F454D"/>
                </a:solidFill>
                <a:latin typeface="Calibri" pitchFamily="34" charset="0"/>
                <a:ea typeface="Calibri" pitchFamily="34" charset="-122"/>
                <a:cs typeface="Calibri" pitchFamily="34" charset="-120"/>
              </a:rPr>
              <a:t>We must resolve the microscopic boundary layers around every crystal and the long-range hydrodynamic interactions across the whole domain — simultaneously.</a:t>
            </a:r>
            <a:endParaRPr lang="en-US" sz="1500" dirty="0"/>
          </a:p>
        </p:txBody>
      </p:sp>
      <p:sp>
        <p:nvSpPr>
          <p:cNvPr id="5" name="Shape 3"/>
          <p:cNvSpPr/>
          <p:nvPr/>
        </p:nvSpPr>
        <p:spPr>
          <a:xfrm>
            <a:off x="4937760" y="1417320"/>
            <a:ext cx="3657600" cy="914400"/>
          </a:xfrm>
          <a:prstGeom prst="roundRect">
            <a:avLst>
              <a:gd name="adj" fmla="val 5000"/>
            </a:avLst>
          </a:prstGeom>
          <a:solidFill>
            <a:srgbClr val="F4F5F7"/>
          </a:solidFill>
          <a:ln/>
        </p:spPr>
        <p:txBody>
          <a:bodyPr/>
          <a:lstStyle/>
          <a:p>
            <a:endParaRPr lang="de-DE"/>
          </a:p>
        </p:txBody>
      </p:sp>
      <p:sp>
        <p:nvSpPr>
          <p:cNvPr id="6" name="Text 4"/>
          <p:cNvSpPr/>
          <p:nvPr/>
        </p:nvSpPr>
        <p:spPr>
          <a:xfrm>
            <a:off x="5175504" y="1545336"/>
            <a:ext cx="3200400" cy="384048"/>
          </a:xfrm>
          <a:prstGeom prst="rect">
            <a:avLst/>
          </a:prstGeom>
          <a:noFill/>
          <a:ln/>
        </p:spPr>
        <p:txBody>
          <a:bodyPr wrap="square" lIns="0" tIns="0" rIns="0" bIns="0" rtlCol="0" anchor="ctr"/>
          <a:lstStyle/>
          <a:p>
            <a:pPr marL="0" indent="0" algn="l">
              <a:buNone/>
            </a:pPr>
            <a:r>
              <a:rPr lang="en-US" sz="2100" b="1" dirty="0">
                <a:solidFill>
                  <a:srgbClr val="B5654A"/>
                </a:solidFill>
                <a:latin typeface="Cambria" pitchFamily="34" charset="0"/>
                <a:ea typeface="Cambria" pitchFamily="34" charset="-122"/>
                <a:cs typeface="Cambria" pitchFamily="34" charset="-120"/>
              </a:rPr>
              <a:t>Re ≪ 1</a:t>
            </a:r>
            <a:endParaRPr lang="en-US" sz="2100" dirty="0"/>
          </a:p>
        </p:txBody>
      </p:sp>
      <p:sp>
        <p:nvSpPr>
          <p:cNvPr id="7" name="Text 5"/>
          <p:cNvSpPr/>
          <p:nvPr/>
        </p:nvSpPr>
        <p:spPr>
          <a:xfrm>
            <a:off x="5175504" y="1920240"/>
            <a:ext cx="3200400" cy="365760"/>
          </a:xfrm>
          <a:prstGeom prst="rect">
            <a:avLst/>
          </a:prstGeom>
          <a:noFill/>
          <a:ln/>
        </p:spPr>
        <p:txBody>
          <a:bodyPr wrap="square" lIns="0" tIns="0" rIns="0" bIns="0" rtlCol="0" anchor="t"/>
          <a:lstStyle/>
          <a:p>
            <a:pPr marL="0" indent="0" algn="l">
              <a:lnSpc>
                <a:spcPct val="95000"/>
              </a:lnSpc>
              <a:buNone/>
            </a:pPr>
            <a:r>
              <a:rPr lang="en-US" sz="1050" dirty="0">
                <a:solidFill>
                  <a:srgbClr val="727A85"/>
                </a:solidFill>
                <a:latin typeface="Calibri" pitchFamily="34" charset="0"/>
                <a:ea typeface="Calibri" pitchFamily="34" charset="-122"/>
                <a:cs typeface="Calibri" pitchFamily="34" charset="-120"/>
              </a:rPr>
              <a:t>Stokes regime — viscous forces dominate, inertia is negligible (Re ≈ 10⁻⁸–10⁻⁴)</a:t>
            </a:r>
            <a:endParaRPr lang="en-US" sz="1050" dirty="0"/>
          </a:p>
        </p:txBody>
      </p:sp>
      <p:sp>
        <p:nvSpPr>
          <p:cNvPr id="8" name="Shape 6"/>
          <p:cNvSpPr/>
          <p:nvPr/>
        </p:nvSpPr>
        <p:spPr>
          <a:xfrm>
            <a:off x="4937760" y="2478024"/>
            <a:ext cx="3657600" cy="914400"/>
          </a:xfrm>
          <a:prstGeom prst="roundRect">
            <a:avLst>
              <a:gd name="adj" fmla="val 5000"/>
            </a:avLst>
          </a:prstGeom>
          <a:solidFill>
            <a:srgbClr val="F4F5F7"/>
          </a:solidFill>
          <a:ln/>
        </p:spPr>
        <p:txBody>
          <a:bodyPr/>
          <a:lstStyle/>
          <a:p>
            <a:endParaRPr lang="de-DE"/>
          </a:p>
        </p:txBody>
      </p:sp>
      <p:sp>
        <p:nvSpPr>
          <p:cNvPr id="9" name="Text 7"/>
          <p:cNvSpPr/>
          <p:nvPr/>
        </p:nvSpPr>
        <p:spPr>
          <a:xfrm>
            <a:off x="5175504" y="2606040"/>
            <a:ext cx="3200400" cy="384048"/>
          </a:xfrm>
          <a:prstGeom prst="rect">
            <a:avLst/>
          </a:prstGeom>
          <a:noFill/>
          <a:ln/>
        </p:spPr>
        <p:txBody>
          <a:bodyPr wrap="square" lIns="0" tIns="0" rIns="0" bIns="0" rtlCol="0" anchor="ctr"/>
          <a:lstStyle/>
          <a:p>
            <a:pPr marL="0" indent="0" algn="l">
              <a:buNone/>
            </a:pPr>
            <a:r>
              <a:rPr lang="en-US" sz="2100" b="1" dirty="0">
                <a:solidFill>
                  <a:srgbClr val="B5654A"/>
                </a:solidFill>
                <a:latin typeface="Cambria" pitchFamily="34" charset="0"/>
                <a:ea typeface="Cambria" pitchFamily="34" charset="-122"/>
                <a:cs typeface="Cambria" pitchFamily="34" charset="-120"/>
              </a:rPr>
              <a:t>hours – days</a:t>
            </a:r>
            <a:endParaRPr lang="en-US" sz="2100" dirty="0"/>
          </a:p>
        </p:txBody>
      </p:sp>
      <p:sp>
        <p:nvSpPr>
          <p:cNvPr id="10" name="Text 8"/>
          <p:cNvSpPr/>
          <p:nvPr/>
        </p:nvSpPr>
        <p:spPr>
          <a:xfrm>
            <a:off x="5175504" y="2980944"/>
            <a:ext cx="3200400" cy="365760"/>
          </a:xfrm>
          <a:prstGeom prst="rect">
            <a:avLst/>
          </a:prstGeom>
          <a:noFill/>
          <a:ln/>
        </p:spPr>
        <p:txBody>
          <a:bodyPr wrap="square" lIns="0" tIns="0" rIns="0" bIns="0" rtlCol="0" anchor="t"/>
          <a:lstStyle/>
          <a:p>
            <a:pPr marL="0" indent="0" algn="l">
              <a:lnSpc>
                <a:spcPct val="95000"/>
              </a:lnSpc>
              <a:buNone/>
            </a:pPr>
            <a:r>
              <a:rPr lang="en-US" sz="1050" dirty="0">
                <a:solidFill>
                  <a:srgbClr val="727A85"/>
                </a:solidFill>
                <a:latin typeface="Calibri" pitchFamily="34" charset="0"/>
                <a:ea typeface="Calibri" pitchFamily="34" charset="-122"/>
                <a:cs typeface="Calibri" pitchFamily="34" charset="-120"/>
              </a:rPr>
              <a:t>Runtime per simulation on a fixed 256×256 grid</a:t>
            </a:r>
            <a:endParaRPr lang="en-US" sz="1050" dirty="0"/>
          </a:p>
        </p:txBody>
      </p:sp>
      <p:sp>
        <p:nvSpPr>
          <p:cNvPr id="11" name="Shape 9"/>
          <p:cNvSpPr/>
          <p:nvPr/>
        </p:nvSpPr>
        <p:spPr>
          <a:xfrm>
            <a:off x="4937760" y="3538728"/>
            <a:ext cx="3657600" cy="914400"/>
          </a:xfrm>
          <a:prstGeom prst="roundRect">
            <a:avLst>
              <a:gd name="adj" fmla="val 5000"/>
            </a:avLst>
          </a:prstGeom>
          <a:solidFill>
            <a:srgbClr val="F4F5F7"/>
          </a:solidFill>
          <a:ln/>
        </p:spPr>
        <p:txBody>
          <a:bodyPr/>
          <a:lstStyle/>
          <a:p>
            <a:endParaRPr lang="de-DE"/>
          </a:p>
        </p:txBody>
      </p:sp>
      <p:sp>
        <p:nvSpPr>
          <p:cNvPr id="12" name="Text 10"/>
          <p:cNvSpPr/>
          <p:nvPr/>
        </p:nvSpPr>
        <p:spPr>
          <a:xfrm>
            <a:off x="5175504" y="3666744"/>
            <a:ext cx="3200400" cy="384048"/>
          </a:xfrm>
          <a:prstGeom prst="rect">
            <a:avLst/>
          </a:prstGeom>
          <a:noFill/>
          <a:ln/>
        </p:spPr>
        <p:txBody>
          <a:bodyPr wrap="square" lIns="0" tIns="0" rIns="0" bIns="0" rtlCol="0" anchor="ctr"/>
          <a:lstStyle/>
          <a:p>
            <a:pPr marL="0" indent="0" algn="l">
              <a:buNone/>
            </a:pPr>
            <a:r>
              <a:rPr lang="en-US" sz="2100" b="1" dirty="0">
                <a:solidFill>
                  <a:srgbClr val="B5654A"/>
                </a:solidFill>
                <a:latin typeface="Cambria" pitchFamily="34" charset="0"/>
                <a:ea typeface="Cambria" pitchFamily="34" charset="-122"/>
                <a:cs typeface="Cambria" pitchFamily="34" charset="-120"/>
              </a:rPr>
              <a:t>∝ N²</a:t>
            </a:r>
            <a:endParaRPr lang="en-US" sz="2100" dirty="0"/>
          </a:p>
        </p:txBody>
      </p:sp>
      <p:sp>
        <p:nvSpPr>
          <p:cNvPr id="13" name="Text 11"/>
          <p:cNvSpPr/>
          <p:nvPr/>
        </p:nvSpPr>
        <p:spPr>
          <a:xfrm>
            <a:off x="5175504" y="4041648"/>
            <a:ext cx="3200400" cy="365760"/>
          </a:xfrm>
          <a:prstGeom prst="rect">
            <a:avLst/>
          </a:prstGeom>
          <a:noFill/>
          <a:ln/>
        </p:spPr>
        <p:txBody>
          <a:bodyPr wrap="square" lIns="0" tIns="0" rIns="0" bIns="0" rtlCol="0" anchor="t"/>
          <a:lstStyle/>
          <a:p>
            <a:pPr marL="0" indent="0" algn="l">
              <a:lnSpc>
                <a:spcPct val="95000"/>
              </a:lnSpc>
              <a:buNone/>
            </a:pPr>
            <a:r>
              <a:rPr lang="en-US" sz="1050" dirty="0">
                <a:solidFill>
                  <a:srgbClr val="727A85"/>
                </a:solidFill>
                <a:latin typeface="Calibri" pitchFamily="34" charset="0"/>
                <a:ea typeface="Calibri" pitchFamily="34" charset="-122"/>
                <a:cs typeface="Calibri" pitchFamily="34" charset="-120"/>
              </a:rPr>
              <a:t>Interaction cost scales with the square of the crystal count</a:t>
            </a:r>
            <a:endParaRPr lang="en-US" sz="1050" dirty="0"/>
          </a:p>
        </p:txBody>
      </p:sp>
      <p:sp>
        <p:nvSpPr>
          <p:cNvPr id="14" name="Shape 12"/>
          <p:cNvSpPr/>
          <p:nvPr/>
        </p:nvSpPr>
        <p:spPr>
          <a:xfrm>
            <a:off x="566928" y="4370832"/>
            <a:ext cx="4160520" cy="475488"/>
          </a:xfrm>
          <a:prstGeom prst="roundRect">
            <a:avLst>
              <a:gd name="adj" fmla="val 9615"/>
            </a:avLst>
          </a:prstGeom>
          <a:solidFill>
            <a:srgbClr val="23272F"/>
          </a:solidFill>
          <a:ln/>
        </p:spPr>
        <p:txBody>
          <a:bodyPr/>
          <a:lstStyle/>
          <a:p>
            <a:endParaRPr lang="de-DE"/>
          </a:p>
        </p:txBody>
      </p:sp>
      <p:sp>
        <p:nvSpPr>
          <p:cNvPr id="15" name="Text 13"/>
          <p:cNvSpPr/>
          <p:nvPr/>
        </p:nvSpPr>
        <p:spPr>
          <a:xfrm>
            <a:off x="749808" y="4370832"/>
            <a:ext cx="3840480" cy="475488"/>
          </a:xfrm>
          <a:prstGeom prst="rect">
            <a:avLst/>
          </a:prstGeom>
          <a:noFill/>
          <a:ln/>
        </p:spPr>
        <p:txBody>
          <a:bodyPr wrap="square" lIns="0" tIns="0" rIns="0" bIns="0" rtlCol="0" anchor="ctr"/>
          <a:lstStyle/>
          <a:p>
            <a:pPr marL="0" indent="0">
              <a:buNone/>
            </a:pPr>
            <a:r>
              <a:rPr lang="en-US" sz="1150" b="1" i="1" dirty="0">
                <a:solidFill>
                  <a:srgbClr val="EAECEF"/>
                </a:solidFill>
                <a:latin typeface="Calibri" pitchFamily="34" charset="0"/>
                <a:ea typeface="Calibri" pitchFamily="34" charset="-122"/>
                <a:cs typeface="Calibri" pitchFamily="34" charset="-120"/>
              </a:rPr>
              <a:t>→  Can we train a surrogate that predicts these fields in milliseconds, not hours?</a:t>
            </a:r>
            <a:endParaRPr lang="en-US" sz="1150" dirty="0"/>
          </a:p>
        </p:txBody>
      </p:sp>
      <p:sp>
        <p:nvSpPr>
          <p:cNvPr id="16" name="Text 14"/>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01 · MOTIVATION</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Research Question &amp; Hypotheses</a:t>
            </a:r>
            <a:endParaRPr lang="en-US" sz="2900" dirty="0"/>
          </a:p>
        </p:txBody>
      </p:sp>
      <p:sp>
        <p:nvSpPr>
          <p:cNvPr id="4" name="Shape 2"/>
          <p:cNvSpPr/>
          <p:nvPr/>
        </p:nvSpPr>
        <p:spPr>
          <a:xfrm>
            <a:off x="566928" y="1371600"/>
            <a:ext cx="8028432" cy="1298448"/>
          </a:xfrm>
          <a:prstGeom prst="roundRect">
            <a:avLst>
              <a:gd name="adj" fmla="val 4225"/>
            </a:avLst>
          </a:prstGeom>
          <a:solidFill>
            <a:srgbClr val="23272F"/>
          </a:solidFill>
          <a:ln/>
          <a:effectLst>
            <a:outerShdw blurRad="76200" dist="25400" dir="5400000" algn="bl" rotWithShape="0">
              <a:srgbClr val="000000">
                <a:alpha val="10000"/>
              </a:srgbClr>
            </a:outerShdw>
          </a:effectLst>
        </p:spPr>
        <p:txBody>
          <a:bodyPr/>
          <a:lstStyle/>
          <a:p>
            <a:endParaRPr lang="de-DE"/>
          </a:p>
        </p:txBody>
      </p:sp>
      <p:sp>
        <p:nvSpPr>
          <p:cNvPr id="5" name="Text 3"/>
          <p:cNvSpPr/>
          <p:nvPr/>
        </p:nvSpPr>
        <p:spPr>
          <a:xfrm>
            <a:off x="868680" y="1517904"/>
            <a:ext cx="7315200" cy="274320"/>
          </a:xfrm>
          <a:prstGeom prst="rect">
            <a:avLst/>
          </a:prstGeom>
          <a:noFill/>
          <a:ln/>
        </p:spPr>
        <p:txBody>
          <a:bodyPr wrap="square" lIns="0" tIns="0" rIns="0" bIns="0" rtlCol="0" anchor="ctr"/>
          <a:lstStyle/>
          <a:p>
            <a:pPr marL="0" indent="0">
              <a:buNone/>
            </a:pPr>
            <a:r>
              <a:rPr lang="en-US" sz="1100" b="1" kern="0" spc="300" dirty="0">
                <a:solidFill>
                  <a:srgbClr val="CF8A72"/>
                </a:solidFill>
                <a:latin typeface="Calibri" pitchFamily="34" charset="0"/>
                <a:ea typeface="Calibri" pitchFamily="34" charset="-122"/>
                <a:cs typeface="Calibri" pitchFamily="34" charset="-120"/>
              </a:rPr>
              <a:t>CENTRAL RESEARCH QUESTION</a:t>
            </a:r>
            <a:endParaRPr lang="en-US" sz="1100" dirty="0"/>
          </a:p>
        </p:txBody>
      </p:sp>
      <p:sp>
        <p:nvSpPr>
          <p:cNvPr id="6" name="Text 4"/>
          <p:cNvSpPr/>
          <p:nvPr/>
        </p:nvSpPr>
        <p:spPr>
          <a:xfrm>
            <a:off x="868680" y="1810512"/>
            <a:ext cx="7406640" cy="777240"/>
          </a:xfrm>
          <a:prstGeom prst="rect">
            <a:avLst/>
          </a:prstGeom>
          <a:noFill/>
          <a:ln/>
        </p:spPr>
        <p:txBody>
          <a:bodyPr wrap="square" lIns="0" tIns="0" rIns="0" bIns="0" rtlCol="0" anchor="t"/>
          <a:lstStyle/>
          <a:p>
            <a:pPr marL="0" indent="0">
              <a:lnSpc>
                <a:spcPct val="105000"/>
              </a:lnSpc>
              <a:buNone/>
            </a:pPr>
            <a:r>
              <a:rPr lang="en-US" sz="1450" i="1" dirty="0">
                <a:solidFill>
                  <a:srgbClr val="EAECEF"/>
                </a:solidFill>
                <a:latin typeface="Cambria" pitchFamily="34" charset="0"/>
                <a:ea typeface="Cambria" pitchFamily="34" charset="-122"/>
                <a:cs typeface="Cambria" pitchFamily="34" charset="-120"/>
              </a:rPr>
              <a:t>To what extent can a U-Net and a Fourier Neural Operator, trained on configurations with up to a fixed number of crystals, generalize to unseen scenarios with varying particle numbers and arrangements — and which factors fundamentally limit this generalization?</a:t>
            </a:r>
            <a:endParaRPr lang="en-US" sz="1450" dirty="0"/>
          </a:p>
        </p:txBody>
      </p:sp>
      <p:sp>
        <p:nvSpPr>
          <p:cNvPr id="7" name="Shape 5"/>
          <p:cNvSpPr/>
          <p:nvPr/>
        </p:nvSpPr>
        <p:spPr>
          <a:xfrm>
            <a:off x="566928" y="2907792"/>
            <a:ext cx="2596896" cy="1627632"/>
          </a:xfrm>
          <a:prstGeom prst="roundRect">
            <a:avLst>
              <a:gd name="adj" fmla="val 2809"/>
            </a:avLst>
          </a:prstGeom>
          <a:solidFill>
            <a:srgbClr val="F4F5F7"/>
          </a:solidFill>
          <a:ln/>
        </p:spPr>
        <p:txBody>
          <a:bodyPr/>
          <a:lstStyle/>
          <a:p>
            <a:endParaRPr lang="de-DE"/>
          </a:p>
        </p:txBody>
      </p:sp>
      <p:sp>
        <p:nvSpPr>
          <p:cNvPr id="8" name="Text 6"/>
          <p:cNvSpPr/>
          <p:nvPr/>
        </p:nvSpPr>
        <p:spPr>
          <a:xfrm>
            <a:off x="822960" y="3127248"/>
            <a:ext cx="1828800" cy="420624"/>
          </a:xfrm>
          <a:prstGeom prst="rect">
            <a:avLst/>
          </a:prstGeom>
          <a:noFill/>
          <a:ln/>
        </p:spPr>
        <p:txBody>
          <a:bodyPr wrap="square" lIns="0" tIns="0" rIns="0" bIns="0" rtlCol="0" anchor="ctr"/>
          <a:lstStyle/>
          <a:p>
            <a:pPr marL="0" indent="0">
              <a:buNone/>
            </a:pPr>
            <a:r>
              <a:rPr lang="en-US" sz="2400" b="1" dirty="0">
                <a:solidFill>
                  <a:srgbClr val="B5654A"/>
                </a:solidFill>
                <a:latin typeface="Cambria" pitchFamily="34" charset="0"/>
                <a:ea typeface="Cambria" pitchFamily="34" charset="-122"/>
                <a:cs typeface="Cambria" pitchFamily="34" charset="-120"/>
              </a:rPr>
              <a:t>H1</a:t>
            </a:r>
            <a:endParaRPr lang="en-US" sz="2400" dirty="0"/>
          </a:p>
        </p:txBody>
      </p:sp>
      <p:sp>
        <p:nvSpPr>
          <p:cNvPr id="9" name="Text 7"/>
          <p:cNvSpPr/>
          <p:nvPr/>
        </p:nvSpPr>
        <p:spPr>
          <a:xfrm>
            <a:off x="822960" y="3657600"/>
            <a:ext cx="2084832" cy="292608"/>
          </a:xfrm>
          <a:prstGeom prst="rect">
            <a:avLst/>
          </a:prstGeom>
          <a:noFill/>
          <a:ln/>
        </p:spPr>
        <p:txBody>
          <a:bodyPr wrap="square" lIns="0" tIns="0" rIns="0" bIns="0" rtlCol="0" anchor="ctr"/>
          <a:lstStyle/>
          <a:p>
            <a:pPr marL="0" indent="0">
              <a:buNone/>
            </a:pPr>
            <a:r>
              <a:rPr lang="en-US" sz="1450" b="1" dirty="0">
                <a:solidFill>
                  <a:srgbClr val="1F2329"/>
                </a:solidFill>
                <a:latin typeface="Cambria" pitchFamily="34" charset="0"/>
                <a:ea typeface="Cambria" pitchFamily="34" charset="-122"/>
                <a:cs typeface="Cambria" pitchFamily="34" charset="-120"/>
              </a:rPr>
              <a:t>Generalization</a:t>
            </a:r>
            <a:endParaRPr lang="en-US" sz="1450" dirty="0"/>
          </a:p>
        </p:txBody>
      </p:sp>
      <p:sp>
        <p:nvSpPr>
          <p:cNvPr id="10" name="Text 8"/>
          <p:cNvSpPr/>
          <p:nvPr/>
        </p:nvSpPr>
        <p:spPr>
          <a:xfrm>
            <a:off x="822960" y="3968496"/>
            <a:ext cx="2084832" cy="512064"/>
          </a:xfrm>
          <a:prstGeom prst="rect">
            <a:avLst/>
          </a:prstGeom>
          <a:noFill/>
          <a:ln/>
        </p:spPr>
        <p:txBody>
          <a:bodyPr wrap="square" lIns="0" tIns="0" rIns="0" bIns="0" rtlCol="0" anchor="t"/>
          <a:lstStyle/>
          <a:p>
            <a:pPr marL="0" indent="0">
              <a:lnSpc>
                <a:spcPct val="96000"/>
              </a:lnSpc>
              <a:buNone/>
            </a:pPr>
            <a:r>
              <a:rPr lang="en-US" sz="1100" dirty="0">
                <a:solidFill>
                  <a:srgbClr val="727A85"/>
                </a:solidFill>
                <a:latin typeface="Calibri" pitchFamily="34" charset="0"/>
                <a:ea typeface="Calibri" pitchFamily="34" charset="-122"/>
                <a:cs typeface="Calibri" pitchFamily="34" charset="-120"/>
              </a:rPr>
              <a:t>Sufficient sampling and a broad training distribution enable out-of-distribution generalization.</a:t>
            </a:r>
            <a:endParaRPr lang="en-US" sz="1100" dirty="0"/>
          </a:p>
        </p:txBody>
      </p:sp>
      <p:sp>
        <p:nvSpPr>
          <p:cNvPr id="11" name="Shape 9"/>
          <p:cNvSpPr/>
          <p:nvPr/>
        </p:nvSpPr>
        <p:spPr>
          <a:xfrm>
            <a:off x="3282696" y="2907792"/>
            <a:ext cx="2596896" cy="1627632"/>
          </a:xfrm>
          <a:prstGeom prst="roundRect">
            <a:avLst>
              <a:gd name="adj" fmla="val 2809"/>
            </a:avLst>
          </a:prstGeom>
          <a:solidFill>
            <a:srgbClr val="F4F5F7"/>
          </a:solidFill>
          <a:ln/>
        </p:spPr>
        <p:txBody>
          <a:bodyPr/>
          <a:lstStyle/>
          <a:p>
            <a:endParaRPr lang="de-DE"/>
          </a:p>
        </p:txBody>
      </p:sp>
      <p:sp>
        <p:nvSpPr>
          <p:cNvPr id="12" name="Text 10"/>
          <p:cNvSpPr/>
          <p:nvPr/>
        </p:nvSpPr>
        <p:spPr>
          <a:xfrm>
            <a:off x="3538728" y="3127248"/>
            <a:ext cx="1828800" cy="420624"/>
          </a:xfrm>
          <a:prstGeom prst="rect">
            <a:avLst/>
          </a:prstGeom>
          <a:noFill/>
          <a:ln/>
        </p:spPr>
        <p:txBody>
          <a:bodyPr wrap="square" lIns="0" tIns="0" rIns="0" bIns="0" rtlCol="0" anchor="ctr"/>
          <a:lstStyle/>
          <a:p>
            <a:pPr marL="0" indent="0">
              <a:buNone/>
            </a:pPr>
            <a:r>
              <a:rPr lang="en-US" sz="2400" b="1" dirty="0">
                <a:solidFill>
                  <a:srgbClr val="B5654A"/>
                </a:solidFill>
                <a:latin typeface="Cambria" pitchFamily="34" charset="0"/>
                <a:ea typeface="Cambria" pitchFamily="34" charset="-122"/>
                <a:cs typeface="Cambria" pitchFamily="34" charset="-120"/>
              </a:rPr>
              <a:t>H2</a:t>
            </a:r>
            <a:endParaRPr lang="en-US" sz="2400" dirty="0"/>
          </a:p>
        </p:txBody>
      </p:sp>
      <p:sp>
        <p:nvSpPr>
          <p:cNvPr id="13" name="Text 11"/>
          <p:cNvSpPr/>
          <p:nvPr/>
        </p:nvSpPr>
        <p:spPr>
          <a:xfrm>
            <a:off x="3538728" y="3657600"/>
            <a:ext cx="2084832" cy="292608"/>
          </a:xfrm>
          <a:prstGeom prst="rect">
            <a:avLst/>
          </a:prstGeom>
          <a:noFill/>
          <a:ln/>
        </p:spPr>
        <p:txBody>
          <a:bodyPr wrap="square" lIns="0" tIns="0" rIns="0" bIns="0" rtlCol="0" anchor="ctr"/>
          <a:lstStyle/>
          <a:p>
            <a:pPr marL="0" indent="0">
              <a:buNone/>
            </a:pPr>
            <a:r>
              <a:rPr lang="en-US" sz="1450" b="1" dirty="0">
                <a:solidFill>
                  <a:srgbClr val="1F2329"/>
                </a:solidFill>
                <a:latin typeface="Cambria" pitchFamily="34" charset="0"/>
                <a:ea typeface="Cambria" pitchFamily="34" charset="-122"/>
                <a:cs typeface="Cambria" pitchFamily="34" charset="-120"/>
              </a:rPr>
              <a:t>ψ-Formulation</a:t>
            </a:r>
            <a:endParaRPr lang="en-US" sz="1450" dirty="0"/>
          </a:p>
        </p:txBody>
      </p:sp>
      <p:sp>
        <p:nvSpPr>
          <p:cNvPr id="14" name="Text 12"/>
          <p:cNvSpPr/>
          <p:nvPr/>
        </p:nvSpPr>
        <p:spPr>
          <a:xfrm>
            <a:off x="3538728" y="3968496"/>
            <a:ext cx="2084832" cy="512064"/>
          </a:xfrm>
          <a:prstGeom prst="rect">
            <a:avLst/>
          </a:prstGeom>
          <a:noFill/>
          <a:ln/>
        </p:spPr>
        <p:txBody>
          <a:bodyPr wrap="square" lIns="0" tIns="0" rIns="0" bIns="0" rtlCol="0" anchor="t"/>
          <a:lstStyle/>
          <a:p>
            <a:pPr marL="0" indent="0">
              <a:lnSpc>
                <a:spcPct val="96000"/>
              </a:lnSpc>
              <a:buNone/>
            </a:pPr>
            <a:r>
              <a:rPr lang="en-US" sz="1100" dirty="0">
                <a:solidFill>
                  <a:srgbClr val="727A85"/>
                </a:solidFill>
                <a:latin typeface="Calibri" pitchFamily="34" charset="0"/>
                <a:ea typeface="Calibri" pitchFamily="34" charset="-122"/>
                <a:cs typeface="Calibri" pitchFamily="34" charset="-120"/>
              </a:rPr>
              <a:t>Predicting the stream function reduces task complexity and guarantees exact incompressibility.</a:t>
            </a:r>
            <a:endParaRPr lang="en-US" sz="1100" dirty="0"/>
          </a:p>
        </p:txBody>
      </p:sp>
      <p:sp>
        <p:nvSpPr>
          <p:cNvPr id="15" name="Shape 13"/>
          <p:cNvSpPr/>
          <p:nvPr/>
        </p:nvSpPr>
        <p:spPr>
          <a:xfrm>
            <a:off x="5998464" y="2907792"/>
            <a:ext cx="2596896" cy="1627632"/>
          </a:xfrm>
          <a:prstGeom prst="roundRect">
            <a:avLst>
              <a:gd name="adj" fmla="val 2809"/>
            </a:avLst>
          </a:prstGeom>
          <a:solidFill>
            <a:srgbClr val="F4F5F7"/>
          </a:solidFill>
          <a:ln/>
        </p:spPr>
        <p:txBody>
          <a:bodyPr/>
          <a:lstStyle/>
          <a:p>
            <a:endParaRPr lang="de-DE"/>
          </a:p>
        </p:txBody>
      </p:sp>
      <p:sp>
        <p:nvSpPr>
          <p:cNvPr id="16" name="Text 14"/>
          <p:cNvSpPr/>
          <p:nvPr/>
        </p:nvSpPr>
        <p:spPr>
          <a:xfrm>
            <a:off x="6254496" y="3127248"/>
            <a:ext cx="1828800" cy="420624"/>
          </a:xfrm>
          <a:prstGeom prst="rect">
            <a:avLst/>
          </a:prstGeom>
          <a:noFill/>
          <a:ln/>
        </p:spPr>
        <p:txBody>
          <a:bodyPr wrap="square" lIns="0" tIns="0" rIns="0" bIns="0" rtlCol="0" anchor="ctr"/>
          <a:lstStyle/>
          <a:p>
            <a:pPr marL="0" indent="0">
              <a:buNone/>
            </a:pPr>
            <a:r>
              <a:rPr lang="en-US" sz="2400" b="1" dirty="0">
                <a:solidFill>
                  <a:srgbClr val="B5654A"/>
                </a:solidFill>
                <a:latin typeface="Cambria" pitchFamily="34" charset="0"/>
                <a:ea typeface="Cambria" pitchFamily="34" charset="-122"/>
                <a:cs typeface="Cambria" pitchFamily="34" charset="-120"/>
              </a:rPr>
              <a:t>H3</a:t>
            </a:r>
            <a:endParaRPr lang="en-US" sz="2400" dirty="0"/>
          </a:p>
        </p:txBody>
      </p:sp>
      <p:sp>
        <p:nvSpPr>
          <p:cNvPr id="17" name="Text 15"/>
          <p:cNvSpPr/>
          <p:nvPr/>
        </p:nvSpPr>
        <p:spPr>
          <a:xfrm>
            <a:off x="6254496" y="3657600"/>
            <a:ext cx="2084832" cy="292608"/>
          </a:xfrm>
          <a:prstGeom prst="rect">
            <a:avLst/>
          </a:prstGeom>
          <a:noFill/>
          <a:ln/>
        </p:spPr>
        <p:txBody>
          <a:bodyPr wrap="square" lIns="0" tIns="0" rIns="0" bIns="0" rtlCol="0" anchor="ctr"/>
          <a:lstStyle/>
          <a:p>
            <a:pPr marL="0" indent="0">
              <a:buNone/>
            </a:pPr>
            <a:r>
              <a:rPr lang="en-US" sz="1450" b="1" dirty="0">
                <a:solidFill>
                  <a:srgbClr val="1F2329"/>
                </a:solidFill>
                <a:latin typeface="Cambria" pitchFamily="34" charset="0"/>
                <a:ea typeface="Cambria" pitchFamily="34" charset="-122"/>
                <a:cs typeface="Cambria" pitchFamily="34" charset="-120"/>
              </a:rPr>
              <a:t>Architecture</a:t>
            </a:r>
            <a:endParaRPr lang="en-US" sz="1450" dirty="0"/>
          </a:p>
        </p:txBody>
      </p:sp>
      <p:sp>
        <p:nvSpPr>
          <p:cNvPr id="18" name="Text 16"/>
          <p:cNvSpPr/>
          <p:nvPr/>
        </p:nvSpPr>
        <p:spPr>
          <a:xfrm>
            <a:off x="6254496" y="3968496"/>
            <a:ext cx="2084832" cy="512064"/>
          </a:xfrm>
          <a:prstGeom prst="rect">
            <a:avLst/>
          </a:prstGeom>
          <a:noFill/>
          <a:ln/>
        </p:spPr>
        <p:txBody>
          <a:bodyPr wrap="square" lIns="0" tIns="0" rIns="0" bIns="0" rtlCol="0" anchor="t"/>
          <a:lstStyle/>
          <a:p>
            <a:pPr marL="0" indent="0">
              <a:lnSpc>
                <a:spcPct val="96000"/>
              </a:lnSpc>
              <a:buNone/>
            </a:pPr>
            <a:r>
              <a:rPr lang="en-US" sz="1100" dirty="0">
                <a:solidFill>
                  <a:srgbClr val="727A85"/>
                </a:solidFill>
                <a:latin typeface="Calibri" pitchFamily="34" charset="0"/>
                <a:ea typeface="Calibri" pitchFamily="34" charset="-122"/>
                <a:cs typeface="Calibri" pitchFamily="34" charset="-120"/>
              </a:rPr>
              <a:t>Spectral (FNO) and spatial (U-Net) models excel under different generalization regimes.</a:t>
            </a:r>
            <a:endParaRPr lang="en-US" sz="1100" dirty="0"/>
          </a:p>
        </p:txBody>
      </p:sp>
      <p:sp>
        <p:nvSpPr>
          <p:cNvPr id="19" name="Text 17"/>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21792" y="1371600"/>
            <a:ext cx="2743200" cy="1371600"/>
          </a:xfrm>
          <a:prstGeom prst="rect">
            <a:avLst/>
          </a:prstGeom>
          <a:noFill/>
          <a:ln/>
        </p:spPr>
        <p:txBody>
          <a:bodyPr wrap="square" lIns="0" tIns="0" rIns="0" bIns="0" rtlCol="0" anchor="ctr"/>
          <a:lstStyle/>
          <a:p>
            <a:pPr marL="0" indent="0">
              <a:buNone/>
            </a:pPr>
            <a:r>
              <a:rPr lang="en-US" sz="11000" b="1" dirty="0">
                <a:solidFill>
                  <a:srgbClr val="B5654A"/>
                </a:solidFill>
                <a:latin typeface="Cambria" pitchFamily="34" charset="0"/>
                <a:ea typeface="Cambria" pitchFamily="34" charset="-122"/>
                <a:cs typeface="Cambria" pitchFamily="34" charset="-120"/>
              </a:rPr>
              <a:t>02</a:t>
            </a:r>
            <a:endParaRPr lang="en-US" sz="11000" dirty="0"/>
          </a:p>
        </p:txBody>
      </p:sp>
      <p:sp>
        <p:nvSpPr>
          <p:cNvPr id="3" name="Text 1"/>
          <p:cNvSpPr/>
          <p:nvPr/>
        </p:nvSpPr>
        <p:spPr>
          <a:xfrm>
            <a:off x="676656" y="2788920"/>
            <a:ext cx="7315200" cy="292608"/>
          </a:xfrm>
          <a:prstGeom prst="rect">
            <a:avLst/>
          </a:prstGeom>
          <a:noFill/>
          <a:ln/>
        </p:spPr>
        <p:txBody>
          <a:bodyPr wrap="square" lIns="0" tIns="0" rIns="0" bIns="0" rtlCol="0" anchor="ctr"/>
          <a:lstStyle/>
          <a:p>
            <a:pPr marL="0" indent="0">
              <a:buNone/>
            </a:pPr>
            <a:r>
              <a:rPr lang="en-US" sz="1300" b="1" kern="0" spc="400" dirty="0">
                <a:solidFill>
                  <a:srgbClr val="9AA1AB"/>
                </a:solidFill>
                <a:latin typeface="Calibri" pitchFamily="34" charset="0"/>
                <a:ea typeface="Calibri" pitchFamily="34" charset="-122"/>
                <a:cs typeface="Calibri" pitchFamily="34" charset="-120"/>
              </a:rPr>
              <a:t>SECTION TWO</a:t>
            </a:r>
            <a:endParaRPr lang="en-US" sz="1300" dirty="0"/>
          </a:p>
        </p:txBody>
      </p:sp>
      <p:sp>
        <p:nvSpPr>
          <p:cNvPr id="4" name="Text 2"/>
          <p:cNvSpPr/>
          <p:nvPr/>
        </p:nvSpPr>
        <p:spPr>
          <a:xfrm>
            <a:off x="640080" y="3063240"/>
            <a:ext cx="7680960" cy="822960"/>
          </a:xfrm>
          <a:prstGeom prst="rect">
            <a:avLst/>
          </a:prstGeom>
          <a:noFill/>
          <a:ln/>
        </p:spPr>
        <p:txBody>
          <a:bodyPr wrap="square" lIns="0" tIns="0" rIns="0" bIns="0" rtlCol="0" anchor="ctr"/>
          <a:lstStyle/>
          <a:p>
            <a:pPr marL="0" indent="0">
              <a:buNone/>
            </a:pPr>
            <a:r>
              <a:rPr lang="en-US" sz="3800" b="1" dirty="0">
                <a:solidFill>
                  <a:srgbClr val="EAECEF"/>
                </a:solidFill>
                <a:latin typeface="Cambria" pitchFamily="34" charset="0"/>
                <a:ea typeface="Cambria" pitchFamily="34" charset="-122"/>
                <a:cs typeface="Cambria" pitchFamily="34" charset="-120"/>
              </a:rPr>
              <a:t>Physics</a:t>
            </a:r>
            <a:endParaRPr lang="en-US" sz="3800" dirty="0"/>
          </a:p>
        </p:txBody>
      </p:sp>
      <p:sp>
        <p:nvSpPr>
          <p:cNvPr id="5" name="Text 3"/>
          <p:cNvSpPr/>
          <p:nvPr/>
        </p:nvSpPr>
        <p:spPr>
          <a:xfrm>
            <a:off x="658368" y="3931920"/>
            <a:ext cx="7315200" cy="640080"/>
          </a:xfrm>
          <a:prstGeom prst="rect">
            <a:avLst/>
          </a:prstGeom>
          <a:noFill/>
          <a:ln/>
        </p:spPr>
        <p:txBody>
          <a:bodyPr wrap="square" lIns="0" tIns="0" rIns="0" bIns="0" rtlCol="0" anchor="ctr"/>
          <a:lstStyle/>
          <a:p>
            <a:pPr marL="0" indent="0">
              <a:buNone/>
            </a:pPr>
            <a:r>
              <a:rPr lang="en-US" sz="1500" i="1" dirty="0">
                <a:solidFill>
                  <a:srgbClr val="9AA1AB"/>
                </a:solidFill>
                <a:latin typeface="Calibri" pitchFamily="34" charset="0"/>
                <a:ea typeface="Calibri" pitchFamily="34" charset="-122"/>
                <a:cs typeface="Calibri" pitchFamily="34" charset="-120"/>
              </a:rPr>
              <a:t>Stokes flow and the stream-function formulation.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02 · PHYSICS</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Stokes Flow &amp; the Stream Function</a:t>
            </a:r>
            <a:endParaRPr lang="en-US" sz="2900" dirty="0"/>
          </a:p>
        </p:txBody>
      </p:sp>
      <p:sp>
        <p:nvSpPr>
          <p:cNvPr id="4" name="Shape 2"/>
          <p:cNvSpPr/>
          <p:nvPr/>
        </p:nvSpPr>
        <p:spPr>
          <a:xfrm>
            <a:off x="566928" y="1371600"/>
            <a:ext cx="4069080" cy="1481328"/>
          </a:xfrm>
          <a:prstGeom prst="roundRect">
            <a:avLst>
              <a:gd name="adj" fmla="val 3086"/>
            </a:avLst>
          </a:prstGeom>
          <a:solidFill>
            <a:srgbClr val="F4F5F7"/>
          </a:solidFill>
          <a:ln/>
        </p:spPr>
        <p:txBody>
          <a:bodyPr/>
          <a:lstStyle/>
          <a:p>
            <a:endParaRPr lang="de-DE"/>
          </a:p>
        </p:txBody>
      </p:sp>
      <p:sp>
        <p:nvSpPr>
          <p:cNvPr id="5" name="Text 3"/>
          <p:cNvSpPr/>
          <p:nvPr/>
        </p:nvSpPr>
        <p:spPr>
          <a:xfrm>
            <a:off x="749808" y="1481328"/>
            <a:ext cx="3703320" cy="274320"/>
          </a:xfrm>
          <a:prstGeom prst="rect">
            <a:avLst/>
          </a:prstGeom>
          <a:noFill/>
          <a:ln/>
        </p:spPr>
        <p:txBody>
          <a:bodyPr wrap="square" lIns="0" tIns="0" rIns="0" bIns="0" rtlCol="0" anchor="ctr"/>
          <a:lstStyle/>
          <a:p>
            <a:pPr marL="0" indent="0">
              <a:buNone/>
            </a:pPr>
            <a:r>
              <a:rPr lang="en-US" sz="1150" b="1" kern="0" spc="100" dirty="0">
                <a:solidFill>
                  <a:srgbClr val="B5654A"/>
                </a:solidFill>
                <a:latin typeface="Calibri" pitchFamily="34" charset="0"/>
                <a:ea typeface="Calibri" pitchFamily="34" charset="-122"/>
                <a:cs typeface="Calibri" pitchFamily="34" charset="-120"/>
              </a:rPr>
              <a:t>① FROM NAVIER–STOKES TO STOKES</a:t>
            </a:r>
            <a:endParaRPr lang="en-US" sz="1150" dirty="0"/>
          </a:p>
        </p:txBody>
      </p:sp>
      <p:sp>
        <p:nvSpPr>
          <p:cNvPr id="6" name="Text 4"/>
          <p:cNvSpPr/>
          <p:nvPr/>
        </p:nvSpPr>
        <p:spPr>
          <a:xfrm>
            <a:off x="749808" y="1773936"/>
            <a:ext cx="3703320" cy="969264"/>
          </a:xfrm>
          <a:prstGeom prst="rect">
            <a:avLst/>
          </a:prstGeom>
          <a:noFill/>
          <a:ln/>
        </p:spPr>
        <p:txBody>
          <a:bodyPr wrap="square" lIns="0" tIns="0" rIns="0" bIns="0" rtlCol="0" anchor="t"/>
          <a:lstStyle/>
          <a:p>
            <a:pPr marL="0" indent="0">
              <a:spcAft>
                <a:spcPts val="500"/>
              </a:spcAft>
              <a:buNone/>
            </a:pPr>
            <a:r>
              <a:rPr lang="en-US" sz="1150" dirty="0">
                <a:solidFill>
                  <a:srgbClr val="3F454D"/>
                </a:solidFill>
                <a:latin typeface="Calibri" pitchFamily="34" charset="0"/>
                <a:ea typeface="Calibri" pitchFamily="34" charset="-122"/>
                <a:cs typeface="Calibri" pitchFamily="34" charset="-120"/>
              </a:rPr>
              <a:t>Re ≪ 1  ⟹  inertia vanishes, steady state:</a:t>
            </a:r>
            <a:endParaRPr lang="en-US" sz="1150" dirty="0"/>
          </a:p>
          <a:p>
            <a:pPr marL="0" indent="0">
              <a:spcAft>
                <a:spcPts val="300"/>
              </a:spcAft>
              <a:buNone/>
            </a:pPr>
            <a:r>
              <a:rPr lang="en-US" sz="1500" b="1" dirty="0">
                <a:solidFill>
                  <a:srgbClr val="1F2329"/>
                </a:solidFill>
                <a:latin typeface="Calibri" pitchFamily="34" charset="0"/>
                <a:ea typeface="Calibri" pitchFamily="34" charset="-122"/>
                <a:cs typeface="Calibri" pitchFamily="34" charset="-120"/>
              </a:rPr>
              <a:t>−∇p + η∇²u + ρg = 0</a:t>
            </a:r>
            <a:endParaRPr lang="en-US" sz="1150" dirty="0"/>
          </a:p>
          <a:p>
            <a:pPr marL="0" indent="0">
              <a:buNone/>
            </a:pPr>
            <a:r>
              <a:rPr lang="en-US" sz="1300" b="1" dirty="0">
                <a:solidFill>
                  <a:srgbClr val="1F2329"/>
                </a:solidFill>
                <a:latin typeface="Calibri" pitchFamily="34" charset="0"/>
                <a:ea typeface="Calibri" pitchFamily="34" charset="-122"/>
                <a:cs typeface="Calibri" pitchFamily="34" charset="-120"/>
              </a:rPr>
              <a:t>∇·u = 0      (incompressibility)</a:t>
            </a:r>
            <a:endParaRPr lang="en-US" sz="1150" dirty="0"/>
          </a:p>
        </p:txBody>
      </p:sp>
      <p:sp>
        <p:nvSpPr>
          <p:cNvPr id="7" name="Shape 5"/>
          <p:cNvSpPr/>
          <p:nvPr/>
        </p:nvSpPr>
        <p:spPr>
          <a:xfrm>
            <a:off x="4773168" y="1371600"/>
            <a:ext cx="3822192" cy="1481328"/>
          </a:xfrm>
          <a:prstGeom prst="roundRect">
            <a:avLst>
              <a:gd name="adj" fmla="val 3086"/>
            </a:avLst>
          </a:prstGeom>
          <a:solidFill>
            <a:srgbClr val="F4F5F7"/>
          </a:solidFill>
          <a:ln/>
        </p:spPr>
        <p:txBody>
          <a:bodyPr/>
          <a:lstStyle/>
          <a:p>
            <a:endParaRPr lang="de-DE"/>
          </a:p>
        </p:txBody>
      </p:sp>
      <p:sp>
        <p:nvSpPr>
          <p:cNvPr id="8" name="Text 6"/>
          <p:cNvSpPr/>
          <p:nvPr/>
        </p:nvSpPr>
        <p:spPr>
          <a:xfrm>
            <a:off x="4956048" y="1481328"/>
            <a:ext cx="3456432" cy="274320"/>
          </a:xfrm>
          <a:prstGeom prst="rect">
            <a:avLst/>
          </a:prstGeom>
          <a:noFill/>
          <a:ln/>
        </p:spPr>
        <p:txBody>
          <a:bodyPr wrap="square" lIns="0" tIns="0" rIns="0" bIns="0" rtlCol="0" anchor="ctr"/>
          <a:lstStyle/>
          <a:p>
            <a:pPr marL="0" indent="0">
              <a:buNone/>
            </a:pPr>
            <a:r>
              <a:rPr lang="en-US" sz="1150" b="1" kern="0" spc="100" dirty="0">
                <a:solidFill>
                  <a:srgbClr val="4E6E81"/>
                </a:solidFill>
                <a:latin typeface="Calibri" pitchFamily="34" charset="0"/>
                <a:ea typeface="Calibri" pitchFamily="34" charset="-122"/>
                <a:cs typeface="Calibri" pitchFamily="34" charset="-120"/>
              </a:rPr>
              <a:t>② WHY NOT PREDICT VELOCITY DIRECTLY?</a:t>
            </a:r>
            <a:endParaRPr lang="en-US" sz="1150" dirty="0"/>
          </a:p>
        </p:txBody>
      </p:sp>
      <p:sp>
        <p:nvSpPr>
          <p:cNvPr id="9" name="Text 7"/>
          <p:cNvSpPr/>
          <p:nvPr/>
        </p:nvSpPr>
        <p:spPr>
          <a:xfrm>
            <a:off x="4956048" y="1773936"/>
            <a:ext cx="3456432" cy="969264"/>
          </a:xfrm>
          <a:prstGeom prst="rect">
            <a:avLst/>
          </a:prstGeom>
          <a:noFill/>
          <a:ln/>
        </p:spPr>
        <p:txBody>
          <a:bodyPr wrap="square" lIns="0" tIns="0" rIns="0" bIns="0" rtlCol="0" anchor="t"/>
          <a:lstStyle/>
          <a:p>
            <a:pPr marL="0" indent="0">
              <a:spcAft>
                <a:spcPts val="500"/>
              </a:spcAft>
              <a:buNone/>
            </a:pPr>
            <a:r>
              <a:rPr lang="en-US" sz="1150" dirty="0">
                <a:solidFill>
                  <a:srgbClr val="3F454D"/>
                </a:solidFill>
                <a:latin typeface="Calibri" pitchFamily="34" charset="0"/>
                <a:ea typeface="Calibri" pitchFamily="34" charset="-122"/>
                <a:cs typeface="Calibri" pitchFamily="34" charset="-120"/>
              </a:rPr>
              <a:t>A network predicting u must learn ∇·u = 0 from data — leading to small but systematic divergence errors.</a:t>
            </a:r>
            <a:endParaRPr lang="en-US" sz="1150" dirty="0"/>
          </a:p>
          <a:p>
            <a:pPr marL="0" indent="0">
              <a:buNone/>
            </a:pPr>
            <a:r>
              <a:rPr lang="en-US" sz="1150" i="1" dirty="0">
                <a:solidFill>
                  <a:srgbClr val="3C5667"/>
                </a:solidFill>
                <a:latin typeface="Calibri" pitchFamily="34" charset="0"/>
                <a:ea typeface="Calibri" pitchFamily="34" charset="-122"/>
                <a:cs typeface="Calibri" pitchFamily="34" charset="-120"/>
              </a:rPr>
              <a:t>Instead, we enforce incompressibility analytically.</a:t>
            </a:r>
            <a:endParaRPr lang="en-US" sz="1150" dirty="0"/>
          </a:p>
        </p:txBody>
      </p:sp>
      <p:sp>
        <p:nvSpPr>
          <p:cNvPr id="10" name="Shape 8"/>
          <p:cNvSpPr/>
          <p:nvPr/>
        </p:nvSpPr>
        <p:spPr>
          <a:xfrm>
            <a:off x="566928" y="2980944"/>
            <a:ext cx="4069080" cy="1792224"/>
          </a:xfrm>
          <a:prstGeom prst="roundRect">
            <a:avLst>
              <a:gd name="adj" fmla="val 3061"/>
            </a:avLst>
          </a:prstGeom>
          <a:solidFill>
            <a:srgbClr val="23272F"/>
          </a:solidFill>
          <a:ln/>
          <a:effectLst>
            <a:outerShdw blurRad="76200" dist="25400" dir="5400000" algn="bl" rotWithShape="0">
              <a:srgbClr val="000000">
                <a:alpha val="10000"/>
              </a:srgbClr>
            </a:outerShdw>
          </a:effectLst>
        </p:spPr>
        <p:txBody>
          <a:bodyPr/>
          <a:lstStyle/>
          <a:p>
            <a:endParaRPr lang="de-DE"/>
          </a:p>
        </p:txBody>
      </p:sp>
      <p:sp>
        <p:nvSpPr>
          <p:cNvPr id="11" name="Text 9"/>
          <p:cNvSpPr/>
          <p:nvPr/>
        </p:nvSpPr>
        <p:spPr>
          <a:xfrm>
            <a:off x="768096" y="3108960"/>
            <a:ext cx="3657600" cy="274320"/>
          </a:xfrm>
          <a:prstGeom prst="rect">
            <a:avLst/>
          </a:prstGeom>
          <a:noFill/>
          <a:ln/>
        </p:spPr>
        <p:txBody>
          <a:bodyPr wrap="square" lIns="0" tIns="0" rIns="0" bIns="0" rtlCol="0" anchor="ctr"/>
          <a:lstStyle/>
          <a:p>
            <a:pPr marL="0" indent="0">
              <a:buNone/>
            </a:pPr>
            <a:r>
              <a:rPr lang="en-US" sz="1150" b="1" kern="0" spc="100" dirty="0">
                <a:solidFill>
                  <a:srgbClr val="CF8A72"/>
                </a:solidFill>
                <a:latin typeface="Calibri" pitchFamily="34" charset="0"/>
                <a:ea typeface="Calibri" pitchFamily="34" charset="-122"/>
                <a:cs typeface="Calibri" pitchFamily="34" charset="-120"/>
              </a:rPr>
              <a:t>③ THE STREAM FUNCTION ψ</a:t>
            </a:r>
            <a:endParaRPr lang="en-US" sz="1150" dirty="0"/>
          </a:p>
        </p:txBody>
      </p:sp>
      <p:sp>
        <p:nvSpPr>
          <p:cNvPr id="12" name="Text 10"/>
          <p:cNvSpPr/>
          <p:nvPr/>
        </p:nvSpPr>
        <p:spPr>
          <a:xfrm>
            <a:off x="768096" y="3401568"/>
            <a:ext cx="3703320" cy="1280160"/>
          </a:xfrm>
          <a:prstGeom prst="rect">
            <a:avLst/>
          </a:prstGeom>
          <a:noFill/>
          <a:ln/>
        </p:spPr>
        <p:txBody>
          <a:bodyPr wrap="square" lIns="0" tIns="0" rIns="0" bIns="0" rtlCol="0" anchor="t"/>
          <a:lstStyle/>
          <a:p>
            <a:pPr marL="0" indent="0">
              <a:lnSpc>
                <a:spcPct val="100000"/>
              </a:lnSpc>
              <a:spcAft>
                <a:spcPts val="700"/>
              </a:spcAft>
              <a:buNone/>
            </a:pPr>
            <a:r>
              <a:rPr lang="en-US" sz="1400" b="1" dirty="0">
                <a:solidFill>
                  <a:srgbClr val="EAECEF"/>
                </a:solidFill>
                <a:latin typeface="Calibri" pitchFamily="34" charset="0"/>
                <a:ea typeface="Calibri" pitchFamily="34" charset="-122"/>
                <a:cs typeface="Calibri" pitchFamily="34" charset="-120"/>
              </a:rPr>
              <a:t>uₓ = +∂ψ/∂z        u_z = −∂ψ/∂x</a:t>
            </a:r>
            <a:endParaRPr lang="en-US" sz="1400" dirty="0"/>
          </a:p>
          <a:p>
            <a:pPr marL="0" indent="0">
              <a:lnSpc>
                <a:spcPct val="100000"/>
              </a:lnSpc>
              <a:spcAft>
                <a:spcPts val="600"/>
              </a:spcAft>
              <a:buNone/>
            </a:pPr>
            <a:r>
              <a:rPr lang="en-US" sz="1300" b="1" dirty="0">
                <a:solidFill>
                  <a:srgbClr val="CF8A72"/>
                </a:solidFill>
                <a:latin typeface="Calibri" pitchFamily="34" charset="0"/>
                <a:ea typeface="Calibri" pitchFamily="34" charset="-122"/>
                <a:cs typeface="Calibri" pitchFamily="34" charset="-120"/>
              </a:rPr>
              <a:t>∇·u = ∂²ψ/∂x∂z − ∂²ψ/∂z∂x = 0</a:t>
            </a:r>
            <a:endParaRPr lang="en-US" sz="1400" dirty="0"/>
          </a:p>
          <a:p>
            <a:pPr marL="0" indent="0">
              <a:lnSpc>
                <a:spcPct val="100000"/>
              </a:lnSpc>
              <a:buNone/>
            </a:pPr>
            <a:r>
              <a:rPr lang="en-US" sz="1050" i="1" dirty="0">
                <a:solidFill>
                  <a:srgbClr val="9AA1AB"/>
                </a:solidFill>
                <a:latin typeface="Calibri" pitchFamily="34" charset="0"/>
                <a:ea typeface="Calibri" pitchFamily="34" charset="-122"/>
                <a:cs typeface="Calibri" pitchFamily="34" charset="-120"/>
              </a:rPr>
              <a:t>Schwarz's theorem → mixed partials cancel. Divergence-free is an algebraic identity, not a learned constraint.</a:t>
            </a:r>
            <a:endParaRPr lang="en-US" sz="1400" dirty="0"/>
          </a:p>
        </p:txBody>
      </p:sp>
      <p:sp>
        <p:nvSpPr>
          <p:cNvPr id="13" name="Shape 11"/>
          <p:cNvSpPr/>
          <p:nvPr/>
        </p:nvSpPr>
        <p:spPr>
          <a:xfrm>
            <a:off x="4773168" y="2980944"/>
            <a:ext cx="3822192" cy="859536"/>
          </a:xfrm>
          <a:prstGeom prst="roundRect">
            <a:avLst>
              <a:gd name="adj" fmla="val 5319"/>
            </a:avLst>
          </a:prstGeom>
          <a:solidFill>
            <a:srgbClr val="F4F5F7"/>
          </a:solidFill>
          <a:ln/>
        </p:spPr>
        <p:txBody>
          <a:bodyPr/>
          <a:lstStyle/>
          <a:p>
            <a:endParaRPr lang="de-DE"/>
          </a:p>
        </p:txBody>
      </p:sp>
      <p:sp>
        <p:nvSpPr>
          <p:cNvPr id="14" name="Text 12"/>
          <p:cNvSpPr/>
          <p:nvPr/>
        </p:nvSpPr>
        <p:spPr>
          <a:xfrm>
            <a:off x="4956048" y="3090672"/>
            <a:ext cx="3456432" cy="274320"/>
          </a:xfrm>
          <a:prstGeom prst="rect">
            <a:avLst/>
          </a:prstGeom>
          <a:noFill/>
          <a:ln/>
        </p:spPr>
        <p:txBody>
          <a:bodyPr wrap="square" lIns="0" tIns="0" rIns="0" bIns="0" rtlCol="0" anchor="ctr"/>
          <a:lstStyle/>
          <a:p>
            <a:pPr marL="0" indent="0">
              <a:buNone/>
            </a:pPr>
            <a:r>
              <a:rPr lang="en-US" sz="1150" b="1" kern="0" spc="100" dirty="0">
                <a:solidFill>
                  <a:srgbClr val="B5654A"/>
                </a:solidFill>
                <a:latin typeface="Calibri" pitchFamily="34" charset="0"/>
                <a:ea typeface="Calibri" pitchFamily="34" charset="-122"/>
                <a:cs typeface="Calibri" pitchFamily="34" charset="-120"/>
              </a:rPr>
              <a:t>④ POISSON EQUATION FOR ψ</a:t>
            </a:r>
            <a:endParaRPr lang="en-US" sz="1150" dirty="0"/>
          </a:p>
        </p:txBody>
      </p:sp>
      <p:sp>
        <p:nvSpPr>
          <p:cNvPr id="15" name="Text 13"/>
          <p:cNvSpPr/>
          <p:nvPr/>
        </p:nvSpPr>
        <p:spPr>
          <a:xfrm>
            <a:off x="4956048" y="3383280"/>
            <a:ext cx="3456432" cy="347472"/>
          </a:xfrm>
          <a:prstGeom prst="rect">
            <a:avLst/>
          </a:prstGeom>
          <a:noFill/>
          <a:ln/>
        </p:spPr>
        <p:txBody>
          <a:bodyPr wrap="square" lIns="0" tIns="0" rIns="0" bIns="0" rtlCol="0" anchor="t"/>
          <a:lstStyle/>
          <a:p>
            <a:pPr marL="0" indent="0">
              <a:spcAft>
                <a:spcPts val="200"/>
              </a:spcAft>
              <a:buNone/>
            </a:pPr>
            <a:r>
              <a:rPr lang="en-US" sz="1400" b="1" dirty="0">
                <a:solidFill>
                  <a:srgbClr val="1F2329"/>
                </a:solidFill>
                <a:latin typeface="Calibri" pitchFamily="34" charset="0"/>
                <a:ea typeface="Calibri" pitchFamily="34" charset="-122"/>
                <a:cs typeface="Calibri" pitchFamily="34" charset="-120"/>
              </a:rPr>
              <a:t>ω = −∇²ψ    ⟹    ∇²ψ = −ω</a:t>
            </a:r>
            <a:endParaRPr lang="en-US" sz="1400" dirty="0"/>
          </a:p>
          <a:p>
            <a:pPr marL="0" indent="0">
              <a:buNone/>
            </a:pPr>
            <a:r>
              <a:rPr lang="en-US" sz="980" dirty="0">
                <a:solidFill>
                  <a:srgbClr val="727A85"/>
                </a:solidFill>
                <a:latin typeface="Calibri" pitchFamily="34" charset="0"/>
                <a:ea typeface="Calibri" pitchFamily="34" charset="-122"/>
                <a:cs typeface="Calibri" pitchFamily="34" charset="-120"/>
              </a:rPr>
              <a:t>Solved with Dirichlet BC ψ|∂Ω = 0 — boundary is one streamline; gauge fixed, unique solution.</a:t>
            </a:r>
            <a:endParaRPr lang="en-US" sz="1400" dirty="0"/>
          </a:p>
        </p:txBody>
      </p:sp>
      <p:sp>
        <p:nvSpPr>
          <p:cNvPr id="16" name="Shape 14"/>
          <p:cNvSpPr/>
          <p:nvPr/>
        </p:nvSpPr>
        <p:spPr>
          <a:xfrm>
            <a:off x="4773168" y="3968496"/>
            <a:ext cx="3822192" cy="804672"/>
          </a:xfrm>
          <a:prstGeom prst="roundRect">
            <a:avLst>
              <a:gd name="adj" fmla="val 5682"/>
            </a:avLst>
          </a:prstGeom>
          <a:solidFill>
            <a:srgbClr val="F4F5F7"/>
          </a:solidFill>
          <a:ln/>
        </p:spPr>
        <p:txBody>
          <a:bodyPr/>
          <a:lstStyle/>
          <a:p>
            <a:endParaRPr lang="de-DE"/>
          </a:p>
        </p:txBody>
      </p:sp>
      <p:sp>
        <p:nvSpPr>
          <p:cNvPr id="17" name="Text 15"/>
          <p:cNvSpPr/>
          <p:nvPr/>
        </p:nvSpPr>
        <p:spPr>
          <a:xfrm>
            <a:off x="4956048" y="4078224"/>
            <a:ext cx="3456432" cy="274320"/>
          </a:xfrm>
          <a:prstGeom prst="rect">
            <a:avLst/>
          </a:prstGeom>
          <a:noFill/>
          <a:ln/>
        </p:spPr>
        <p:txBody>
          <a:bodyPr wrap="square" lIns="0" tIns="0" rIns="0" bIns="0" rtlCol="0" anchor="ctr"/>
          <a:lstStyle/>
          <a:p>
            <a:pPr marL="0" indent="0">
              <a:buNone/>
            </a:pPr>
            <a:r>
              <a:rPr lang="en-US" sz="1150" b="1" kern="0" spc="100" dirty="0">
                <a:solidFill>
                  <a:srgbClr val="B5654A"/>
                </a:solidFill>
                <a:latin typeface="Calibri" pitchFamily="34" charset="0"/>
                <a:ea typeface="Calibri" pitchFamily="34" charset="-122"/>
                <a:cs typeface="Calibri" pitchFamily="34" charset="-120"/>
              </a:rPr>
              <a:t>⑤ RECOVERING VELOCITY FROM ψ̂</a:t>
            </a:r>
            <a:endParaRPr lang="en-US" sz="1150" dirty="0"/>
          </a:p>
        </p:txBody>
      </p:sp>
      <p:sp>
        <p:nvSpPr>
          <p:cNvPr id="18" name="Text 16"/>
          <p:cNvSpPr/>
          <p:nvPr/>
        </p:nvSpPr>
        <p:spPr>
          <a:xfrm>
            <a:off x="4956048" y="4370832"/>
            <a:ext cx="3456432" cy="292608"/>
          </a:xfrm>
          <a:prstGeom prst="rect">
            <a:avLst/>
          </a:prstGeom>
          <a:noFill/>
          <a:ln/>
        </p:spPr>
        <p:txBody>
          <a:bodyPr wrap="square" lIns="0" tIns="0" rIns="0" bIns="0" rtlCol="0" anchor="t"/>
          <a:lstStyle/>
          <a:p>
            <a:pPr marL="0" indent="0">
              <a:spcAft>
                <a:spcPts val="200"/>
              </a:spcAft>
              <a:buNone/>
            </a:pPr>
            <a:r>
              <a:rPr lang="en-US" sz="1000" dirty="0">
                <a:solidFill>
                  <a:srgbClr val="727A85"/>
                </a:solidFill>
                <a:latin typeface="Calibri" pitchFamily="34" charset="0"/>
                <a:ea typeface="Calibri" pitchFamily="34" charset="-122"/>
                <a:cs typeface="Calibri" pitchFamily="34" charset="-120"/>
              </a:rPr>
              <a:t>Numerical differentiation amplifies high-frequency error:</a:t>
            </a:r>
            <a:endParaRPr lang="en-US" sz="1000" dirty="0"/>
          </a:p>
          <a:p>
            <a:pPr marL="0" indent="0">
              <a:buNone/>
            </a:pPr>
            <a:r>
              <a:rPr lang="en-US" sz="1150" b="1" dirty="0">
                <a:solidFill>
                  <a:srgbClr val="8F4631"/>
                </a:solidFill>
                <a:latin typeface="Calibri" pitchFamily="34" charset="0"/>
                <a:ea typeface="Calibri" pitchFamily="34" charset="-122"/>
                <a:cs typeface="Calibri" pitchFamily="34" charset="-120"/>
              </a:rPr>
              <a:t>velocity error  ≈  2× (FNO),  3× (U-Net) the ψ-error</a:t>
            </a:r>
            <a:endParaRPr lang="en-US" sz="1000" dirty="0"/>
          </a:p>
        </p:txBody>
      </p:sp>
      <p:sp>
        <p:nvSpPr>
          <p:cNvPr id="19" name="Text 17"/>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21792" y="1371600"/>
            <a:ext cx="2743200" cy="1371600"/>
          </a:xfrm>
          <a:prstGeom prst="rect">
            <a:avLst/>
          </a:prstGeom>
          <a:noFill/>
          <a:ln/>
        </p:spPr>
        <p:txBody>
          <a:bodyPr wrap="square" lIns="0" tIns="0" rIns="0" bIns="0" rtlCol="0" anchor="ctr"/>
          <a:lstStyle/>
          <a:p>
            <a:pPr marL="0" indent="0">
              <a:buNone/>
            </a:pPr>
            <a:r>
              <a:rPr lang="en-US" sz="11000" b="1" dirty="0">
                <a:solidFill>
                  <a:srgbClr val="B5654A"/>
                </a:solidFill>
                <a:latin typeface="Cambria" pitchFamily="34" charset="0"/>
                <a:ea typeface="Cambria" pitchFamily="34" charset="-122"/>
                <a:cs typeface="Cambria" pitchFamily="34" charset="-120"/>
              </a:rPr>
              <a:t>03</a:t>
            </a:r>
            <a:endParaRPr lang="en-US" sz="11000" dirty="0"/>
          </a:p>
        </p:txBody>
      </p:sp>
      <p:sp>
        <p:nvSpPr>
          <p:cNvPr id="3" name="Text 1"/>
          <p:cNvSpPr/>
          <p:nvPr/>
        </p:nvSpPr>
        <p:spPr>
          <a:xfrm>
            <a:off x="676656" y="2788920"/>
            <a:ext cx="7315200" cy="292608"/>
          </a:xfrm>
          <a:prstGeom prst="rect">
            <a:avLst/>
          </a:prstGeom>
          <a:noFill/>
          <a:ln/>
        </p:spPr>
        <p:txBody>
          <a:bodyPr wrap="square" lIns="0" tIns="0" rIns="0" bIns="0" rtlCol="0" anchor="ctr"/>
          <a:lstStyle/>
          <a:p>
            <a:pPr marL="0" indent="0">
              <a:buNone/>
            </a:pPr>
            <a:r>
              <a:rPr lang="en-US" sz="1300" b="1" kern="0" spc="400" dirty="0">
                <a:solidFill>
                  <a:srgbClr val="9AA1AB"/>
                </a:solidFill>
                <a:latin typeface="Calibri" pitchFamily="34" charset="0"/>
                <a:ea typeface="Calibri" pitchFamily="34" charset="-122"/>
                <a:cs typeface="Calibri" pitchFamily="34" charset="-120"/>
              </a:rPr>
              <a:t>SECTION THREE</a:t>
            </a:r>
            <a:endParaRPr lang="en-US" sz="1300" dirty="0"/>
          </a:p>
        </p:txBody>
      </p:sp>
      <p:sp>
        <p:nvSpPr>
          <p:cNvPr id="4" name="Text 2"/>
          <p:cNvSpPr/>
          <p:nvPr/>
        </p:nvSpPr>
        <p:spPr>
          <a:xfrm>
            <a:off x="640080" y="3063240"/>
            <a:ext cx="7680960" cy="822960"/>
          </a:xfrm>
          <a:prstGeom prst="rect">
            <a:avLst/>
          </a:prstGeom>
          <a:noFill/>
          <a:ln/>
        </p:spPr>
        <p:txBody>
          <a:bodyPr wrap="square" lIns="0" tIns="0" rIns="0" bIns="0" rtlCol="0" anchor="ctr"/>
          <a:lstStyle/>
          <a:p>
            <a:pPr marL="0" indent="0">
              <a:buNone/>
            </a:pPr>
            <a:r>
              <a:rPr lang="en-US" sz="3800" b="1" dirty="0">
                <a:solidFill>
                  <a:srgbClr val="EAECEF"/>
                </a:solidFill>
                <a:latin typeface="Cambria" pitchFamily="34" charset="0"/>
                <a:ea typeface="Cambria" pitchFamily="34" charset="-122"/>
                <a:cs typeface="Cambria" pitchFamily="34" charset="-120"/>
              </a:rPr>
              <a:t>Methodology</a:t>
            </a:r>
            <a:endParaRPr lang="en-US" sz="3800" dirty="0"/>
          </a:p>
        </p:txBody>
      </p:sp>
      <p:sp>
        <p:nvSpPr>
          <p:cNvPr id="5" name="Text 3"/>
          <p:cNvSpPr/>
          <p:nvPr/>
        </p:nvSpPr>
        <p:spPr>
          <a:xfrm>
            <a:off x="658368" y="3931920"/>
            <a:ext cx="7315200" cy="640080"/>
          </a:xfrm>
          <a:prstGeom prst="rect">
            <a:avLst/>
          </a:prstGeom>
          <a:noFill/>
          <a:ln/>
        </p:spPr>
        <p:txBody>
          <a:bodyPr wrap="square" lIns="0" tIns="0" rIns="0" bIns="0" rtlCol="0" anchor="ctr"/>
          <a:lstStyle/>
          <a:p>
            <a:pPr marL="0" indent="0">
              <a:buNone/>
            </a:pPr>
            <a:r>
              <a:rPr lang="en-US" sz="1500" i="1" dirty="0">
                <a:solidFill>
                  <a:srgbClr val="9AA1AB"/>
                </a:solidFill>
                <a:latin typeface="Calibri" pitchFamily="34" charset="0"/>
                <a:ea typeface="Calibri" pitchFamily="34" charset="-122"/>
                <a:cs typeface="Calibri" pitchFamily="34" charset="-120"/>
              </a:rPr>
              <a:t>Two architectures, trained and evaluated on identical data.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03 · METHODOLOGY</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The Methodological Workflow</a:t>
            </a:r>
            <a:endParaRPr lang="en-US" sz="2900" dirty="0"/>
          </a:p>
        </p:txBody>
      </p:sp>
      <p:sp>
        <p:nvSpPr>
          <p:cNvPr id="4" name="Shape 2"/>
          <p:cNvSpPr/>
          <p:nvPr/>
        </p:nvSpPr>
        <p:spPr>
          <a:xfrm>
            <a:off x="566928" y="1508760"/>
            <a:ext cx="1463040" cy="1627632"/>
          </a:xfrm>
          <a:prstGeom prst="roundRect">
            <a:avLst>
              <a:gd name="adj" fmla="val 3750"/>
            </a:avLst>
          </a:prstGeom>
          <a:solidFill>
            <a:srgbClr val="F4F5F7"/>
          </a:solidFill>
          <a:ln/>
        </p:spPr>
        <p:txBody>
          <a:bodyPr/>
          <a:lstStyle/>
          <a:p>
            <a:endParaRPr lang="de-DE"/>
          </a:p>
        </p:txBody>
      </p:sp>
      <p:sp>
        <p:nvSpPr>
          <p:cNvPr id="5" name="Shape 3"/>
          <p:cNvSpPr/>
          <p:nvPr/>
        </p:nvSpPr>
        <p:spPr>
          <a:xfrm>
            <a:off x="1069848" y="1728216"/>
            <a:ext cx="457200" cy="457200"/>
          </a:xfrm>
          <a:prstGeom prst="ellipse">
            <a:avLst/>
          </a:prstGeom>
          <a:solidFill>
            <a:srgbClr val="B5654A"/>
          </a:solidFill>
          <a:ln/>
        </p:spPr>
        <p:txBody>
          <a:bodyPr/>
          <a:lstStyle/>
          <a:p>
            <a:endParaRPr lang="de-DE"/>
          </a:p>
        </p:txBody>
      </p:sp>
      <p:sp>
        <p:nvSpPr>
          <p:cNvPr id="6" name="Text 4"/>
          <p:cNvSpPr/>
          <p:nvPr/>
        </p:nvSpPr>
        <p:spPr>
          <a:xfrm>
            <a:off x="1069848" y="17282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621792" y="2350008"/>
            <a:ext cx="1353312" cy="310896"/>
          </a:xfrm>
          <a:prstGeom prst="rect">
            <a:avLst/>
          </a:prstGeom>
          <a:noFill/>
          <a:ln/>
        </p:spPr>
        <p:txBody>
          <a:bodyPr wrap="square" lIns="0" tIns="0" rIns="0" bIns="0" rtlCol="0" anchor="ctr"/>
          <a:lstStyle/>
          <a:p>
            <a:pPr marL="0" indent="0" algn="ctr">
              <a:buNone/>
            </a:pPr>
            <a:r>
              <a:rPr lang="en-US" sz="1300" b="1" dirty="0">
                <a:solidFill>
                  <a:srgbClr val="1F2329"/>
                </a:solidFill>
                <a:latin typeface="Cambria" pitchFamily="34" charset="0"/>
                <a:ea typeface="Cambria" pitchFamily="34" charset="-122"/>
                <a:cs typeface="Cambria" pitchFamily="34" charset="-120"/>
              </a:rPr>
              <a:t>LaMEM</a:t>
            </a:r>
            <a:endParaRPr lang="en-US" sz="1300" dirty="0"/>
          </a:p>
        </p:txBody>
      </p:sp>
      <p:sp>
        <p:nvSpPr>
          <p:cNvPr id="8" name="Text 6"/>
          <p:cNvSpPr/>
          <p:nvPr/>
        </p:nvSpPr>
        <p:spPr>
          <a:xfrm>
            <a:off x="658368" y="2660904"/>
            <a:ext cx="1280160" cy="402336"/>
          </a:xfrm>
          <a:prstGeom prst="rect">
            <a:avLst/>
          </a:prstGeom>
          <a:noFill/>
          <a:ln/>
        </p:spPr>
        <p:txBody>
          <a:bodyPr wrap="square" lIns="0" tIns="0" rIns="0" bIns="0" rtlCol="0" anchor="t"/>
          <a:lstStyle/>
          <a:p>
            <a:pPr marL="0" indent="0" algn="ctr">
              <a:lnSpc>
                <a:spcPct val="92000"/>
              </a:lnSpc>
              <a:buNone/>
            </a:pPr>
            <a:r>
              <a:rPr lang="en-US" sz="950" dirty="0">
                <a:solidFill>
                  <a:srgbClr val="727A85"/>
                </a:solidFill>
                <a:latin typeface="Calibri" pitchFamily="34" charset="0"/>
                <a:ea typeface="Calibri" pitchFamily="34" charset="-122"/>
                <a:cs typeface="Calibri" pitchFamily="34" charset="-120"/>
              </a:rPr>
              <a:t>Steady-state Stokes solve on a 256×256 FD grid</a:t>
            </a:r>
            <a:endParaRPr lang="en-US" sz="950" dirty="0"/>
          </a:p>
        </p:txBody>
      </p:sp>
      <p:sp>
        <p:nvSpPr>
          <p:cNvPr id="9" name="Text 7"/>
          <p:cNvSpPr/>
          <p:nvPr/>
        </p:nvSpPr>
        <p:spPr>
          <a:xfrm>
            <a:off x="1993392" y="1508760"/>
            <a:ext cx="251460" cy="1627632"/>
          </a:xfrm>
          <a:prstGeom prst="rect">
            <a:avLst/>
          </a:prstGeom>
          <a:noFill/>
          <a:ln/>
        </p:spPr>
        <p:txBody>
          <a:bodyPr wrap="square" lIns="0" tIns="0" rIns="0" bIns="0" rtlCol="0" anchor="ctr"/>
          <a:lstStyle/>
          <a:p>
            <a:pPr marL="0" indent="0" algn="ctr">
              <a:buNone/>
            </a:pPr>
            <a:r>
              <a:rPr lang="en-US" sz="1800" b="1" dirty="0">
                <a:solidFill>
                  <a:srgbClr val="B5654A"/>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208276" y="1508760"/>
            <a:ext cx="1463040" cy="1627632"/>
          </a:xfrm>
          <a:prstGeom prst="roundRect">
            <a:avLst>
              <a:gd name="adj" fmla="val 3750"/>
            </a:avLst>
          </a:prstGeom>
          <a:solidFill>
            <a:srgbClr val="F4F5F7"/>
          </a:solidFill>
          <a:ln/>
        </p:spPr>
        <p:txBody>
          <a:bodyPr/>
          <a:lstStyle/>
          <a:p>
            <a:endParaRPr lang="de-DE"/>
          </a:p>
        </p:txBody>
      </p:sp>
      <p:sp>
        <p:nvSpPr>
          <p:cNvPr id="11" name="Shape 9"/>
          <p:cNvSpPr/>
          <p:nvPr/>
        </p:nvSpPr>
        <p:spPr>
          <a:xfrm>
            <a:off x="2711196" y="1728216"/>
            <a:ext cx="457200" cy="457200"/>
          </a:xfrm>
          <a:prstGeom prst="ellipse">
            <a:avLst/>
          </a:prstGeom>
          <a:solidFill>
            <a:srgbClr val="B5654A"/>
          </a:solidFill>
          <a:ln/>
        </p:spPr>
        <p:txBody>
          <a:bodyPr/>
          <a:lstStyle/>
          <a:p>
            <a:endParaRPr lang="de-DE"/>
          </a:p>
        </p:txBody>
      </p:sp>
      <p:sp>
        <p:nvSpPr>
          <p:cNvPr id="12" name="Text 10"/>
          <p:cNvSpPr/>
          <p:nvPr/>
        </p:nvSpPr>
        <p:spPr>
          <a:xfrm>
            <a:off x="2711196" y="17282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2263140" y="2350008"/>
            <a:ext cx="1353312" cy="310896"/>
          </a:xfrm>
          <a:prstGeom prst="rect">
            <a:avLst/>
          </a:prstGeom>
          <a:noFill/>
          <a:ln/>
        </p:spPr>
        <p:txBody>
          <a:bodyPr wrap="square" lIns="0" tIns="0" rIns="0" bIns="0" rtlCol="0" anchor="ctr"/>
          <a:lstStyle/>
          <a:p>
            <a:pPr marL="0" indent="0" algn="ctr">
              <a:buNone/>
            </a:pPr>
            <a:r>
              <a:rPr lang="en-US" sz="1300" b="1" dirty="0">
                <a:solidFill>
                  <a:srgbClr val="1F2329"/>
                </a:solidFill>
                <a:latin typeface="Cambria" pitchFamily="34" charset="0"/>
                <a:ea typeface="Cambria" pitchFamily="34" charset="-122"/>
                <a:cs typeface="Cambria" pitchFamily="34" charset="-120"/>
              </a:rPr>
              <a:t>ψ via Poisson</a:t>
            </a:r>
            <a:endParaRPr lang="en-US" sz="1300" dirty="0"/>
          </a:p>
        </p:txBody>
      </p:sp>
      <p:sp>
        <p:nvSpPr>
          <p:cNvPr id="14" name="Text 12"/>
          <p:cNvSpPr/>
          <p:nvPr/>
        </p:nvSpPr>
        <p:spPr>
          <a:xfrm>
            <a:off x="2299716" y="2660904"/>
            <a:ext cx="1280160" cy="402336"/>
          </a:xfrm>
          <a:prstGeom prst="rect">
            <a:avLst/>
          </a:prstGeom>
          <a:noFill/>
          <a:ln/>
        </p:spPr>
        <p:txBody>
          <a:bodyPr wrap="square" lIns="0" tIns="0" rIns="0" bIns="0" rtlCol="0" anchor="t"/>
          <a:lstStyle/>
          <a:p>
            <a:pPr marL="0" indent="0" algn="ctr">
              <a:lnSpc>
                <a:spcPct val="92000"/>
              </a:lnSpc>
              <a:buNone/>
            </a:pPr>
            <a:r>
              <a:rPr lang="en-US" sz="950" dirty="0">
                <a:solidFill>
                  <a:srgbClr val="727A85"/>
                </a:solidFill>
                <a:latin typeface="Calibri" pitchFamily="34" charset="0"/>
                <a:ea typeface="Calibri" pitchFamily="34" charset="-122"/>
                <a:cs typeface="Calibri" pitchFamily="34" charset="-120"/>
              </a:rPr>
              <a:t>Reconstruct ψ from velocity (Dirichlet BC)</a:t>
            </a:r>
            <a:endParaRPr lang="en-US" sz="950" dirty="0"/>
          </a:p>
        </p:txBody>
      </p:sp>
      <p:sp>
        <p:nvSpPr>
          <p:cNvPr id="15" name="Text 13"/>
          <p:cNvSpPr/>
          <p:nvPr/>
        </p:nvSpPr>
        <p:spPr>
          <a:xfrm>
            <a:off x="3634740" y="1508760"/>
            <a:ext cx="251460" cy="1627632"/>
          </a:xfrm>
          <a:prstGeom prst="rect">
            <a:avLst/>
          </a:prstGeom>
          <a:noFill/>
          <a:ln/>
        </p:spPr>
        <p:txBody>
          <a:bodyPr wrap="square" lIns="0" tIns="0" rIns="0" bIns="0" rtlCol="0" anchor="ctr"/>
          <a:lstStyle/>
          <a:p>
            <a:pPr marL="0" indent="0" algn="ctr">
              <a:buNone/>
            </a:pPr>
            <a:r>
              <a:rPr lang="en-US" sz="1800" b="1" dirty="0">
                <a:solidFill>
                  <a:srgbClr val="B5654A"/>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3849624" y="1508760"/>
            <a:ext cx="1463040" cy="1627632"/>
          </a:xfrm>
          <a:prstGeom prst="roundRect">
            <a:avLst>
              <a:gd name="adj" fmla="val 3750"/>
            </a:avLst>
          </a:prstGeom>
          <a:solidFill>
            <a:srgbClr val="F4F5F7"/>
          </a:solidFill>
          <a:ln/>
        </p:spPr>
        <p:txBody>
          <a:bodyPr/>
          <a:lstStyle/>
          <a:p>
            <a:endParaRPr lang="de-DE"/>
          </a:p>
        </p:txBody>
      </p:sp>
      <p:sp>
        <p:nvSpPr>
          <p:cNvPr id="17" name="Shape 15"/>
          <p:cNvSpPr/>
          <p:nvPr/>
        </p:nvSpPr>
        <p:spPr>
          <a:xfrm>
            <a:off x="4352544" y="1728216"/>
            <a:ext cx="457200" cy="457200"/>
          </a:xfrm>
          <a:prstGeom prst="ellipse">
            <a:avLst/>
          </a:prstGeom>
          <a:solidFill>
            <a:srgbClr val="B5654A"/>
          </a:solidFill>
          <a:ln/>
        </p:spPr>
        <p:txBody>
          <a:bodyPr/>
          <a:lstStyle/>
          <a:p>
            <a:endParaRPr lang="de-DE"/>
          </a:p>
        </p:txBody>
      </p:sp>
      <p:sp>
        <p:nvSpPr>
          <p:cNvPr id="18" name="Text 16"/>
          <p:cNvSpPr/>
          <p:nvPr/>
        </p:nvSpPr>
        <p:spPr>
          <a:xfrm>
            <a:off x="4352544" y="17282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3904488" y="2350008"/>
            <a:ext cx="1353312" cy="310896"/>
          </a:xfrm>
          <a:prstGeom prst="rect">
            <a:avLst/>
          </a:prstGeom>
          <a:noFill/>
          <a:ln/>
        </p:spPr>
        <p:txBody>
          <a:bodyPr wrap="square" lIns="0" tIns="0" rIns="0" bIns="0" rtlCol="0" anchor="ctr"/>
          <a:lstStyle/>
          <a:p>
            <a:pPr marL="0" indent="0" algn="ctr">
              <a:buNone/>
            </a:pPr>
            <a:r>
              <a:rPr lang="en-US" sz="1300" b="1" dirty="0">
                <a:solidFill>
                  <a:srgbClr val="1F2329"/>
                </a:solidFill>
                <a:latin typeface="Cambria" pitchFamily="34" charset="0"/>
                <a:ea typeface="Cambria" pitchFamily="34" charset="-122"/>
                <a:cs typeface="Cambria" pitchFamily="34" charset="-120"/>
              </a:rPr>
              <a:t>4-Ch Encoding</a:t>
            </a:r>
            <a:endParaRPr lang="en-US" sz="1300" dirty="0"/>
          </a:p>
        </p:txBody>
      </p:sp>
      <p:sp>
        <p:nvSpPr>
          <p:cNvPr id="20" name="Text 18"/>
          <p:cNvSpPr/>
          <p:nvPr/>
        </p:nvSpPr>
        <p:spPr>
          <a:xfrm>
            <a:off x="3941064" y="2660904"/>
            <a:ext cx="1280160" cy="402336"/>
          </a:xfrm>
          <a:prstGeom prst="rect">
            <a:avLst/>
          </a:prstGeom>
          <a:noFill/>
          <a:ln/>
        </p:spPr>
        <p:txBody>
          <a:bodyPr wrap="square" lIns="0" tIns="0" rIns="0" bIns="0" rtlCol="0" anchor="t"/>
          <a:lstStyle/>
          <a:p>
            <a:pPr marL="0" indent="0" algn="ctr">
              <a:lnSpc>
                <a:spcPct val="92000"/>
              </a:lnSpc>
              <a:buNone/>
            </a:pPr>
            <a:r>
              <a:rPr lang="en-US" sz="950" dirty="0">
                <a:solidFill>
                  <a:srgbClr val="727A85"/>
                </a:solidFill>
                <a:latin typeface="Calibri" pitchFamily="34" charset="0"/>
                <a:ea typeface="Calibri" pitchFamily="34" charset="-122"/>
                <a:cs typeface="Calibri" pitchFamily="34" charset="-120"/>
              </a:rPr>
              <a:t>Geometry → input tensor</a:t>
            </a:r>
            <a:endParaRPr lang="en-US" sz="950" dirty="0"/>
          </a:p>
        </p:txBody>
      </p:sp>
      <p:sp>
        <p:nvSpPr>
          <p:cNvPr id="21" name="Text 19"/>
          <p:cNvSpPr/>
          <p:nvPr/>
        </p:nvSpPr>
        <p:spPr>
          <a:xfrm>
            <a:off x="5276088" y="1508760"/>
            <a:ext cx="251460" cy="1627632"/>
          </a:xfrm>
          <a:prstGeom prst="rect">
            <a:avLst/>
          </a:prstGeom>
          <a:noFill/>
          <a:ln/>
        </p:spPr>
        <p:txBody>
          <a:bodyPr wrap="square" lIns="0" tIns="0" rIns="0" bIns="0" rtlCol="0" anchor="ctr"/>
          <a:lstStyle/>
          <a:p>
            <a:pPr marL="0" indent="0" algn="ctr">
              <a:buNone/>
            </a:pPr>
            <a:r>
              <a:rPr lang="en-US" sz="1800" b="1" dirty="0">
                <a:solidFill>
                  <a:srgbClr val="B5654A"/>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5490972" y="1508760"/>
            <a:ext cx="1463040" cy="1627632"/>
          </a:xfrm>
          <a:prstGeom prst="roundRect">
            <a:avLst>
              <a:gd name="adj" fmla="val 3750"/>
            </a:avLst>
          </a:prstGeom>
          <a:solidFill>
            <a:srgbClr val="F4F5F7"/>
          </a:solidFill>
          <a:ln/>
        </p:spPr>
        <p:txBody>
          <a:bodyPr/>
          <a:lstStyle/>
          <a:p>
            <a:endParaRPr lang="de-DE"/>
          </a:p>
        </p:txBody>
      </p:sp>
      <p:sp>
        <p:nvSpPr>
          <p:cNvPr id="23" name="Shape 21"/>
          <p:cNvSpPr/>
          <p:nvPr/>
        </p:nvSpPr>
        <p:spPr>
          <a:xfrm>
            <a:off x="5993892" y="1728216"/>
            <a:ext cx="457200" cy="457200"/>
          </a:xfrm>
          <a:prstGeom prst="ellipse">
            <a:avLst/>
          </a:prstGeom>
          <a:solidFill>
            <a:srgbClr val="B5654A"/>
          </a:solidFill>
          <a:ln/>
        </p:spPr>
        <p:txBody>
          <a:bodyPr/>
          <a:lstStyle/>
          <a:p>
            <a:endParaRPr lang="de-DE"/>
          </a:p>
        </p:txBody>
      </p:sp>
      <p:sp>
        <p:nvSpPr>
          <p:cNvPr id="24" name="Text 22"/>
          <p:cNvSpPr/>
          <p:nvPr/>
        </p:nvSpPr>
        <p:spPr>
          <a:xfrm>
            <a:off x="5993892" y="17282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5545836" y="2350008"/>
            <a:ext cx="1353312" cy="310896"/>
          </a:xfrm>
          <a:prstGeom prst="rect">
            <a:avLst/>
          </a:prstGeom>
          <a:noFill/>
          <a:ln/>
        </p:spPr>
        <p:txBody>
          <a:bodyPr wrap="square" lIns="0" tIns="0" rIns="0" bIns="0" rtlCol="0" anchor="ctr"/>
          <a:lstStyle/>
          <a:p>
            <a:pPr marL="0" indent="0" algn="ctr">
              <a:buNone/>
            </a:pPr>
            <a:r>
              <a:rPr lang="en-US" sz="1300" b="1" dirty="0">
                <a:solidFill>
                  <a:srgbClr val="1F2329"/>
                </a:solidFill>
                <a:latin typeface="Cambria" pitchFamily="34" charset="0"/>
                <a:ea typeface="Cambria" pitchFamily="34" charset="-122"/>
                <a:cs typeface="Cambria" pitchFamily="34" charset="-120"/>
              </a:rPr>
              <a:t>Model → ψ̂</a:t>
            </a:r>
            <a:endParaRPr lang="en-US" sz="1300" dirty="0"/>
          </a:p>
        </p:txBody>
      </p:sp>
      <p:sp>
        <p:nvSpPr>
          <p:cNvPr id="26" name="Text 24"/>
          <p:cNvSpPr/>
          <p:nvPr/>
        </p:nvSpPr>
        <p:spPr>
          <a:xfrm>
            <a:off x="5582412" y="2660904"/>
            <a:ext cx="1280160" cy="402336"/>
          </a:xfrm>
          <a:prstGeom prst="rect">
            <a:avLst/>
          </a:prstGeom>
          <a:noFill/>
          <a:ln/>
        </p:spPr>
        <p:txBody>
          <a:bodyPr wrap="square" lIns="0" tIns="0" rIns="0" bIns="0" rtlCol="0" anchor="t"/>
          <a:lstStyle/>
          <a:p>
            <a:pPr marL="0" indent="0" algn="ctr">
              <a:lnSpc>
                <a:spcPct val="92000"/>
              </a:lnSpc>
              <a:buNone/>
            </a:pPr>
            <a:r>
              <a:rPr lang="en-US" sz="950" dirty="0">
                <a:solidFill>
                  <a:srgbClr val="727A85"/>
                </a:solidFill>
                <a:latin typeface="Calibri" pitchFamily="34" charset="0"/>
                <a:ea typeface="Calibri" pitchFamily="34" charset="-122"/>
                <a:cs typeface="Calibri" pitchFamily="34" charset="-120"/>
              </a:rPr>
              <a:t>U-Net or FNO predicts the stream function</a:t>
            </a:r>
            <a:endParaRPr lang="en-US" sz="950" dirty="0"/>
          </a:p>
        </p:txBody>
      </p:sp>
      <p:sp>
        <p:nvSpPr>
          <p:cNvPr id="27" name="Text 25"/>
          <p:cNvSpPr/>
          <p:nvPr/>
        </p:nvSpPr>
        <p:spPr>
          <a:xfrm>
            <a:off x="6917436" y="1508760"/>
            <a:ext cx="251460" cy="1627632"/>
          </a:xfrm>
          <a:prstGeom prst="rect">
            <a:avLst/>
          </a:prstGeom>
          <a:noFill/>
          <a:ln/>
        </p:spPr>
        <p:txBody>
          <a:bodyPr wrap="square" lIns="0" tIns="0" rIns="0" bIns="0" rtlCol="0" anchor="ctr"/>
          <a:lstStyle/>
          <a:p>
            <a:pPr marL="0" indent="0" algn="ctr">
              <a:buNone/>
            </a:pPr>
            <a:r>
              <a:rPr lang="en-US" sz="1800" b="1" dirty="0">
                <a:solidFill>
                  <a:srgbClr val="B5654A"/>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7132320" y="1508760"/>
            <a:ext cx="1463040" cy="1627632"/>
          </a:xfrm>
          <a:prstGeom prst="roundRect">
            <a:avLst>
              <a:gd name="adj" fmla="val 3750"/>
            </a:avLst>
          </a:prstGeom>
          <a:solidFill>
            <a:srgbClr val="F4F5F7"/>
          </a:solidFill>
          <a:ln/>
        </p:spPr>
        <p:txBody>
          <a:bodyPr/>
          <a:lstStyle/>
          <a:p>
            <a:endParaRPr lang="de-DE"/>
          </a:p>
        </p:txBody>
      </p:sp>
      <p:sp>
        <p:nvSpPr>
          <p:cNvPr id="29" name="Shape 27"/>
          <p:cNvSpPr/>
          <p:nvPr/>
        </p:nvSpPr>
        <p:spPr>
          <a:xfrm>
            <a:off x="7635240" y="1728216"/>
            <a:ext cx="457200" cy="457200"/>
          </a:xfrm>
          <a:prstGeom prst="ellipse">
            <a:avLst/>
          </a:prstGeom>
          <a:solidFill>
            <a:srgbClr val="B5654A"/>
          </a:solidFill>
          <a:ln/>
        </p:spPr>
        <p:txBody>
          <a:bodyPr/>
          <a:lstStyle/>
          <a:p>
            <a:endParaRPr lang="de-DE"/>
          </a:p>
        </p:txBody>
      </p:sp>
      <p:sp>
        <p:nvSpPr>
          <p:cNvPr id="30" name="Text 28"/>
          <p:cNvSpPr/>
          <p:nvPr/>
        </p:nvSpPr>
        <p:spPr>
          <a:xfrm>
            <a:off x="7635240" y="17282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1" name="Text 29"/>
          <p:cNvSpPr/>
          <p:nvPr/>
        </p:nvSpPr>
        <p:spPr>
          <a:xfrm>
            <a:off x="7187184" y="2350008"/>
            <a:ext cx="1353312" cy="310896"/>
          </a:xfrm>
          <a:prstGeom prst="rect">
            <a:avLst/>
          </a:prstGeom>
          <a:noFill/>
          <a:ln/>
        </p:spPr>
        <p:txBody>
          <a:bodyPr wrap="square" lIns="0" tIns="0" rIns="0" bIns="0" rtlCol="0" anchor="ctr"/>
          <a:lstStyle/>
          <a:p>
            <a:pPr marL="0" indent="0" algn="ctr">
              <a:buNone/>
            </a:pPr>
            <a:r>
              <a:rPr lang="en-US" sz="1300" b="1" dirty="0">
                <a:solidFill>
                  <a:srgbClr val="1F2329"/>
                </a:solidFill>
                <a:latin typeface="Cambria" pitchFamily="34" charset="0"/>
                <a:ea typeface="Cambria" pitchFamily="34" charset="-122"/>
                <a:cs typeface="Cambria" pitchFamily="34" charset="-120"/>
              </a:rPr>
              <a:t>Evaluation</a:t>
            </a:r>
            <a:endParaRPr lang="en-US" sz="1300" dirty="0"/>
          </a:p>
        </p:txBody>
      </p:sp>
      <p:sp>
        <p:nvSpPr>
          <p:cNvPr id="32" name="Text 30"/>
          <p:cNvSpPr/>
          <p:nvPr/>
        </p:nvSpPr>
        <p:spPr>
          <a:xfrm>
            <a:off x="7223760" y="2660904"/>
            <a:ext cx="1280160" cy="402336"/>
          </a:xfrm>
          <a:prstGeom prst="rect">
            <a:avLst/>
          </a:prstGeom>
          <a:noFill/>
          <a:ln/>
        </p:spPr>
        <p:txBody>
          <a:bodyPr wrap="square" lIns="0" tIns="0" rIns="0" bIns="0" rtlCol="0" anchor="t"/>
          <a:lstStyle/>
          <a:p>
            <a:pPr marL="0" indent="0" algn="ctr">
              <a:lnSpc>
                <a:spcPct val="92000"/>
              </a:lnSpc>
              <a:buNone/>
            </a:pPr>
            <a:r>
              <a:rPr lang="en-US" sz="950" dirty="0">
                <a:solidFill>
                  <a:srgbClr val="727A85"/>
                </a:solidFill>
                <a:latin typeface="Calibri" pitchFamily="34" charset="0"/>
                <a:ea typeface="Calibri" pitchFamily="34" charset="-122"/>
                <a:cs typeface="Calibri" pitchFamily="34" charset="-120"/>
              </a:rPr>
              <a:t>Rel. L² error · MAE · divergence</a:t>
            </a:r>
            <a:endParaRPr lang="en-US" sz="950" dirty="0"/>
          </a:p>
        </p:txBody>
      </p:sp>
      <p:sp>
        <p:nvSpPr>
          <p:cNvPr id="33" name="Shape 31"/>
          <p:cNvSpPr/>
          <p:nvPr/>
        </p:nvSpPr>
        <p:spPr>
          <a:xfrm>
            <a:off x="566928" y="3401568"/>
            <a:ext cx="4892040" cy="1371600"/>
          </a:xfrm>
          <a:prstGeom prst="roundRect">
            <a:avLst>
              <a:gd name="adj" fmla="val 3333"/>
            </a:avLst>
          </a:prstGeom>
          <a:solidFill>
            <a:srgbClr val="F4F5F7"/>
          </a:solidFill>
          <a:ln/>
        </p:spPr>
        <p:txBody>
          <a:bodyPr/>
          <a:lstStyle/>
          <a:p>
            <a:endParaRPr lang="de-DE"/>
          </a:p>
        </p:txBody>
      </p:sp>
      <p:sp>
        <p:nvSpPr>
          <p:cNvPr id="34" name="Text 32"/>
          <p:cNvSpPr/>
          <p:nvPr/>
        </p:nvSpPr>
        <p:spPr>
          <a:xfrm>
            <a:off x="768096" y="3511296"/>
            <a:ext cx="4572000" cy="274320"/>
          </a:xfrm>
          <a:prstGeom prst="rect">
            <a:avLst/>
          </a:prstGeom>
          <a:noFill/>
          <a:ln/>
        </p:spPr>
        <p:txBody>
          <a:bodyPr wrap="square" lIns="0" tIns="0" rIns="0" bIns="0" rtlCol="0" anchor="ctr"/>
          <a:lstStyle/>
          <a:p>
            <a:pPr marL="0" indent="0">
              <a:buNone/>
            </a:pPr>
            <a:r>
              <a:rPr lang="en-US" sz="1100" b="1" kern="0" spc="200" dirty="0">
                <a:solidFill>
                  <a:srgbClr val="B5654A"/>
                </a:solidFill>
                <a:latin typeface="Calibri" pitchFamily="34" charset="0"/>
                <a:ea typeface="Calibri" pitchFamily="34" charset="-122"/>
                <a:cs typeface="Calibri" pitchFamily="34" charset="-120"/>
              </a:rPr>
              <a:t>THE FOUR INPUT CHANNELS</a:t>
            </a:r>
            <a:endParaRPr lang="en-US" sz="1100" dirty="0"/>
          </a:p>
        </p:txBody>
      </p:sp>
      <p:sp>
        <p:nvSpPr>
          <p:cNvPr id="35" name="Text 33"/>
          <p:cNvSpPr/>
          <p:nvPr/>
        </p:nvSpPr>
        <p:spPr>
          <a:xfrm>
            <a:off x="768096" y="3803904"/>
            <a:ext cx="4572000" cy="914400"/>
          </a:xfrm>
          <a:prstGeom prst="rect">
            <a:avLst/>
          </a:prstGeom>
          <a:noFill/>
          <a:ln/>
        </p:spPr>
        <p:txBody>
          <a:bodyPr wrap="square" lIns="0" tIns="0" rIns="0" bIns="0" rtlCol="0" anchor="t"/>
          <a:lstStyle/>
          <a:p>
            <a:pPr marL="0" indent="0">
              <a:lnSpc>
                <a:spcPct val="100000"/>
              </a:lnSpc>
              <a:spcAft>
                <a:spcPts val="400"/>
              </a:spcAft>
              <a:buNone/>
            </a:pPr>
            <a:r>
              <a:rPr lang="en-US" sz="1150" dirty="0">
                <a:solidFill>
                  <a:srgbClr val="3F454D"/>
                </a:solidFill>
                <a:latin typeface="Calibri" pitchFamily="34" charset="0"/>
                <a:ea typeface="Calibri" pitchFamily="34" charset="-122"/>
                <a:cs typeface="Calibri" pitchFamily="34" charset="-120"/>
              </a:rPr>
              <a:t>1   Binary crystal mask</a:t>
            </a:r>
            <a:endParaRPr lang="en-US" sz="1150" dirty="0"/>
          </a:p>
          <a:p>
            <a:pPr marL="0" indent="0">
              <a:lnSpc>
                <a:spcPct val="100000"/>
              </a:lnSpc>
              <a:spcAft>
                <a:spcPts val="400"/>
              </a:spcAft>
              <a:buNone/>
            </a:pPr>
            <a:r>
              <a:rPr lang="en-US" sz="1150" dirty="0">
                <a:solidFill>
                  <a:srgbClr val="3F454D"/>
                </a:solidFill>
                <a:latin typeface="Calibri" pitchFamily="34" charset="0"/>
                <a:ea typeface="Calibri" pitchFamily="34" charset="-122"/>
                <a:cs typeface="Calibri" pitchFamily="34" charset="-120"/>
              </a:rPr>
              <a:t>2   Signed distance field to nearest crystal surface</a:t>
            </a:r>
            <a:endParaRPr lang="en-US" sz="1150" dirty="0"/>
          </a:p>
          <a:p>
            <a:pPr marL="0" indent="0">
              <a:lnSpc>
                <a:spcPct val="100000"/>
              </a:lnSpc>
              <a:buNone/>
            </a:pPr>
            <a:r>
              <a:rPr lang="en-US" sz="1150" dirty="0">
                <a:solidFill>
                  <a:srgbClr val="3F454D"/>
                </a:solidFill>
                <a:latin typeface="Calibri" pitchFamily="34" charset="0"/>
                <a:ea typeface="Calibri" pitchFamily="34" charset="-122"/>
                <a:cs typeface="Calibri" pitchFamily="34" charset="-120"/>
              </a:rPr>
              <a:t>3 + 4   Normalized x- and z-coordinates (absolute position)</a:t>
            </a:r>
            <a:endParaRPr lang="en-US" sz="1150" dirty="0"/>
          </a:p>
        </p:txBody>
      </p:sp>
      <p:sp>
        <p:nvSpPr>
          <p:cNvPr id="36" name="Shape 34"/>
          <p:cNvSpPr/>
          <p:nvPr/>
        </p:nvSpPr>
        <p:spPr>
          <a:xfrm>
            <a:off x="5596128" y="3401568"/>
            <a:ext cx="2999232" cy="1371600"/>
          </a:xfrm>
          <a:prstGeom prst="roundRect">
            <a:avLst>
              <a:gd name="adj" fmla="val 3333"/>
            </a:avLst>
          </a:prstGeom>
          <a:solidFill>
            <a:srgbClr val="23272F"/>
          </a:solidFill>
          <a:ln/>
        </p:spPr>
        <p:txBody>
          <a:bodyPr/>
          <a:lstStyle/>
          <a:p>
            <a:endParaRPr lang="de-DE"/>
          </a:p>
        </p:txBody>
      </p:sp>
      <p:sp>
        <p:nvSpPr>
          <p:cNvPr id="37" name="Text 35"/>
          <p:cNvSpPr/>
          <p:nvPr/>
        </p:nvSpPr>
        <p:spPr>
          <a:xfrm>
            <a:off x="5779008" y="3511296"/>
            <a:ext cx="2651760" cy="274320"/>
          </a:xfrm>
          <a:prstGeom prst="rect">
            <a:avLst/>
          </a:prstGeom>
          <a:noFill/>
          <a:ln/>
        </p:spPr>
        <p:txBody>
          <a:bodyPr wrap="square" lIns="0" tIns="0" rIns="0" bIns="0" rtlCol="0" anchor="ctr"/>
          <a:lstStyle/>
          <a:p>
            <a:pPr marL="0" indent="0">
              <a:buNone/>
            </a:pPr>
            <a:r>
              <a:rPr lang="en-US" sz="1050" b="1" kern="0" spc="150" dirty="0">
                <a:solidFill>
                  <a:srgbClr val="CF8A72"/>
                </a:solidFill>
                <a:latin typeface="Calibri" pitchFamily="34" charset="0"/>
                <a:ea typeface="Calibri" pitchFamily="34" charset="-122"/>
                <a:cs typeface="Calibri" pitchFamily="34" charset="-120"/>
              </a:rPr>
              <a:t>CONTROLLED COMPARISON</a:t>
            </a:r>
            <a:endParaRPr lang="en-US" sz="1050" dirty="0"/>
          </a:p>
        </p:txBody>
      </p:sp>
      <p:sp>
        <p:nvSpPr>
          <p:cNvPr id="38" name="Text 36"/>
          <p:cNvSpPr/>
          <p:nvPr/>
        </p:nvSpPr>
        <p:spPr>
          <a:xfrm>
            <a:off x="5779008" y="3803904"/>
            <a:ext cx="2670048" cy="914400"/>
          </a:xfrm>
          <a:prstGeom prst="rect">
            <a:avLst/>
          </a:prstGeom>
          <a:noFill/>
          <a:ln/>
        </p:spPr>
        <p:txBody>
          <a:bodyPr wrap="square" lIns="0" tIns="0" rIns="0" bIns="0" rtlCol="0" anchor="t"/>
          <a:lstStyle/>
          <a:p>
            <a:pPr marL="0" indent="0">
              <a:lnSpc>
                <a:spcPct val="102000"/>
              </a:lnSpc>
              <a:buNone/>
            </a:pPr>
            <a:r>
              <a:rPr lang="en-US" sz="1100" dirty="0">
                <a:solidFill>
                  <a:srgbClr val="EAECEF"/>
                </a:solidFill>
                <a:latin typeface="Calibri" pitchFamily="34" charset="0"/>
                <a:ea typeface="Calibri" pitchFamily="34" charset="-122"/>
                <a:cs typeface="Calibri" pitchFamily="34" charset="-120"/>
              </a:rPr>
              <a:t>Both architectures receive the same encoding and target, and are judged by the same metrics — any performance difference is attributable to the architecture, not the data.</a:t>
            </a:r>
            <a:endParaRPr lang="en-US" sz="1100" dirty="0"/>
          </a:p>
        </p:txBody>
      </p:sp>
      <p:sp>
        <p:nvSpPr>
          <p:cNvPr id="39" name="Text 37"/>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03 · METHODOLOGY</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Two Architectures, One Question</a:t>
            </a:r>
            <a:endParaRPr lang="en-US" sz="2900" dirty="0"/>
          </a:p>
        </p:txBody>
      </p:sp>
      <p:sp>
        <p:nvSpPr>
          <p:cNvPr id="4" name="Shape 2"/>
          <p:cNvSpPr/>
          <p:nvPr/>
        </p:nvSpPr>
        <p:spPr>
          <a:xfrm>
            <a:off x="566928" y="1371600"/>
            <a:ext cx="3931920" cy="3401568"/>
          </a:xfrm>
          <a:prstGeom prst="roundRect">
            <a:avLst>
              <a:gd name="adj" fmla="val 1613"/>
            </a:avLst>
          </a:prstGeom>
          <a:solidFill>
            <a:srgbClr val="F4F5F7"/>
          </a:solidFill>
          <a:ln/>
        </p:spPr>
        <p:txBody>
          <a:bodyPr/>
          <a:lstStyle/>
          <a:p>
            <a:endParaRPr lang="de-DE"/>
          </a:p>
        </p:txBody>
      </p:sp>
      <p:sp>
        <p:nvSpPr>
          <p:cNvPr id="5" name="Text 3"/>
          <p:cNvSpPr/>
          <p:nvPr/>
        </p:nvSpPr>
        <p:spPr>
          <a:xfrm>
            <a:off x="841248" y="1572768"/>
            <a:ext cx="3383280" cy="237744"/>
          </a:xfrm>
          <a:prstGeom prst="rect">
            <a:avLst/>
          </a:prstGeom>
          <a:noFill/>
          <a:ln/>
        </p:spPr>
        <p:txBody>
          <a:bodyPr wrap="square" lIns="0" tIns="0" rIns="0" bIns="0" rtlCol="0" anchor="ctr"/>
          <a:lstStyle/>
          <a:p>
            <a:pPr marL="0" indent="0">
              <a:buNone/>
            </a:pPr>
            <a:r>
              <a:rPr lang="en-US" sz="1100" b="1" kern="0" spc="250" dirty="0">
                <a:solidFill>
                  <a:srgbClr val="4E6E81"/>
                </a:solidFill>
                <a:latin typeface="Calibri" pitchFamily="34" charset="0"/>
                <a:ea typeface="Calibri" pitchFamily="34" charset="-122"/>
                <a:cs typeface="Calibri" pitchFamily="34" charset="-120"/>
              </a:rPr>
              <a:t>SPATIAL</a:t>
            </a:r>
            <a:endParaRPr lang="en-US" sz="1100" dirty="0"/>
          </a:p>
        </p:txBody>
      </p:sp>
      <p:sp>
        <p:nvSpPr>
          <p:cNvPr id="6" name="Text 4"/>
          <p:cNvSpPr/>
          <p:nvPr/>
        </p:nvSpPr>
        <p:spPr>
          <a:xfrm>
            <a:off x="841248" y="1810512"/>
            <a:ext cx="3383280" cy="365760"/>
          </a:xfrm>
          <a:prstGeom prst="rect">
            <a:avLst/>
          </a:prstGeom>
          <a:noFill/>
          <a:ln/>
        </p:spPr>
        <p:txBody>
          <a:bodyPr wrap="square" lIns="0" tIns="0" rIns="0" bIns="0" rtlCol="0" anchor="ctr"/>
          <a:lstStyle/>
          <a:p>
            <a:pPr marL="0" indent="0">
              <a:buNone/>
            </a:pPr>
            <a:r>
              <a:rPr lang="en-US" sz="2100" b="1" dirty="0">
                <a:solidFill>
                  <a:srgbClr val="1F2329"/>
                </a:solidFill>
                <a:latin typeface="Cambria" pitchFamily="34" charset="0"/>
                <a:ea typeface="Cambria" pitchFamily="34" charset="-122"/>
                <a:cs typeface="Cambria" pitchFamily="34" charset="-120"/>
              </a:rPr>
              <a:t>U-Net</a:t>
            </a:r>
            <a:endParaRPr lang="en-US" sz="2100" dirty="0"/>
          </a:p>
        </p:txBody>
      </p:sp>
      <p:sp>
        <p:nvSpPr>
          <p:cNvPr id="7" name="Text 5"/>
          <p:cNvSpPr/>
          <p:nvPr/>
        </p:nvSpPr>
        <p:spPr>
          <a:xfrm>
            <a:off x="841248" y="2212848"/>
            <a:ext cx="3383280" cy="274320"/>
          </a:xfrm>
          <a:prstGeom prst="rect">
            <a:avLst/>
          </a:prstGeom>
          <a:noFill/>
          <a:ln/>
        </p:spPr>
        <p:txBody>
          <a:bodyPr wrap="square" lIns="0" tIns="0" rIns="0" bIns="0" rtlCol="0" anchor="ctr"/>
          <a:lstStyle/>
          <a:p>
            <a:pPr marL="0" indent="0">
              <a:buNone/>
            </a:pPr>
            <a:r>
              <a:rPr lang="en-US" sz="1150" i="1" dirty="0">
                <a:solidFill>
                  <a:srgbClr val="727A85"/>
                </a:solidFill>
                <a:latin typeface="Calibri" pitchFamily="34" charset="0"/>
                <a:ea typeface="Calibri" pitchFamily="34" charset="-122"/>
                <a:cs typeface="Calibri" pitchFamily="34" charset="-120"/>
              </a:rPr>
              <a:t>Builds global context gradually</a:t>
            </a:r>
            <a:endParaRPr lang="en-US" sz="1150" dirty="0"/>
          </a:p>
        </p:txBody>
      </p:sp>
      <p:sp>
        <p:nvSpPr>
          <p:cNvPr id="8" name="Text 6"/>
          <p:cNvSpPr/>
          <p:nvPr/>
        </p:nvSpPr>
        <p:spPr>
          <a:xfrm>
            <a:off x="841248" y="2670048"/>
            <a:ext cx="3401568" cy="1965960"/>
          </a:xfrm>
          <a:prstGeom prst="rect">
            <a:avLst/>
          </a:prstGeom>
          <a:noFill/>
          <a:ln/>
        </p:spPr>
        <p:txBody>
          <a:bodyPr wrap="square" lIns="0" tIns="0" rIns="0" bIns="0" rtlCol="0" anchor="t"/>
          <a:lstStyle/>
          <a:p>
            <a:pPr marL="0" indent="0">
              <a:spcAft>
                <a:spcPts val="100"/>
              </a:spcAft>
              <a:buNone/>
            </a:pPr>
            <a:r>
              <a:rPr lang="en-US" sz="1150" b="1" dirty="0">
                <a:solidFill>
                  <a:srgbClr val="1F2329"/>
                </a:solidFill>
                <a:latin typeface="Calibri" pitchFamily="34" charset="0"/>
                <a:ea typeface="Calibri" pitchFamily="34" charset="-122"/>
                <a:cs typeface="Calibri" pitchFamily="34" charset="-120"/>
              </a:rPr>
              <a:t>Encoder–decoder with skip connections</a:t>
            </a:r>
            <a:endParaRPr lang="en-US" sz="1150" dirty="0"/>
          </a:p>
          <a:p>
            <a:pPr marL="0" indent="0">
              <a:lnSpc>
                <a:spcPct val="95000"/>
              </a:lnSpc>
              <a:spcAft>
                <a:spcPts val="800"/>
              </a:spcAft>
              <a:buNone/>
            </a:pPr>
            <a:r>
              <a:rPr lang="en-US" sz="1050" dirty="0">
                <a:solidFill>
                  <a:srgbClr val="727A85"/>
                </a:solidFill>
                <a:latin typeface="Calibri" pitchFamily="34" charset="0"/>
                <a:ea typeface="Calibri" pitchFamily="34" charset="-122"/>
                <a:cs typeface="Calibri" pitchFamily="34" charset="-120"/>
              </a:rPr>
              <a:t>Compresses to abstract features, then reconstructs full resolution; skips preserve fine spatial detail.</a:t>
            </a:r>
            <a:endParaRPr lang="en-US" sz="1150" dirty="0"/>
          </a:p>
          <a:p>
            <a:pPr marL="0" indent="0">
              <a:spcAft>
                <a:spcPts val="100"/>
              </a:spcAft>
              <a:buNone/>
            </a:pPr>
            <a:r>
              <a:rPr lang="en-US" sz="1150" b="1" dirty="0">
                <a:solidFill>
                  <a:srgbClr val="1F2329"/>
                </a:solidFill>
                <a:latin typeface="Calibri" pitchFamily="34" charset="0"/>
                <a:ea typeface="Calibri" pitchFamily="34" charset="-122"/>
                <a:cs typeface="Calibri" pitchFamily="34" charset="-120"/>
              </a:rPr>
              <a:t>Global context only emerges indirectly</a:t>
            </a:r>
            <a:endParaRPr lang="en-US" sz="1150" dirty="0"/>
          </a:p>
          <a:p>
            <a:pPr marL="0" indent="0">
              <a:lnSpc>
                <a:spcPct val="95000"/>
              </a:lnSpc>
              <a:spcAft>
                <a:spcPts val="800"/>
              </a:spcAft>
              <a:buNone/>
            </a:pPr>
            <a:r>
              <a:rPr lang="en-US" sz="1050" dirty="0">
                <a:solidFill>
                  <a:srgbClr val="727A85"/>
                </a:solidFill>
                <a:latin typeface="Calibri" pitchFamily="34" charset="0"/>
                <a:ea typeface="Calibri" pitchFamily="34" charset="-122"/>
                <a:cs typeface="Calibri" pitchFamily="34" charset="-120"/>
              </a:rPr>
              <a:t>Long-range interactions are pieced together through many pooling steps.</a:t>
            </a:r>
            <a:endParaRPr lang="en-US" sz="1150" dirty="0"/>
          </a:p>
          <a:p>
            <a:pPr marL="0" indent="0">
              <a:spcAft>
                <a:spcPts val="100"/>
              </a:spcAft>
              <a:buNone/>
            </a:pPr>
            <a:r>
              <a:rPr lang="en-US" sz="1150" b="1" dirty="0">
                <a:solidFill>
                  <a:srgbClr val="1F2329"/>
                </a:solidFill>
                <a:latin typeface="Calibri" pitchFamily="34" charset="0"/>
                <a:ea typeface="Calibri" pitchFamily="34" charset="-122"/>
                <a:cs typeface="Calibri" pitchFamily="34" charset="-120"/>
              </a:rPr>
              <a:t>BatchNorm · resize-convs · composite loss</a:t>
            </a:r>
            <a:endParaRPr lang="en-US" sz="1150" dirty="0"/>
          </a:p>
          <a:p>
            <a:pPr marL="0" indent="0">
              <a:lnSpc>
                <a:spcPct val="95000"/>
              </a:lnSpc>
              <a:buNone/>
            </a:pPr>
            <a:r>
              <a:rPr lang="en-US" sz="1050" dirty="0">
                <a:solidFill>
                  <a:srgbClr val="727A85"/>
                </a:solidFill>
                <a:latin typeface="Calibri" pitchFamily="34" charset="0"/>
                <a:ea typeface="Calibri" pitchFamily="34" charset="-122"/>
                <a:cs typeface="Calibri" pitchFamily="34" charset="-120"/>
              </a:rPr>
              <a:t>Penalizes ψ, its gradients, and boundary error.</a:t>
            </a:r>
            <a:endParaRPr lang="en-US" sz="1150" dirty="0"/>
          </a:p>
        </p:txBody>
      </p:sp>
      <p:sp>
        <p:nvSpPr>
          <p:cNvPr id="9" name="Shape 7"/>
          <p:cNvSpPr/>
          <p:nvPr/>
        </p:nvSpPr>
        <p:spPr>
          <a:xfrm>
            <a:off x="4645152" y="1371600"/>
            <a:ext cx="3950208" cy="3401568"/>
          </a:xfrm>
          <a:prstGeom prst="roundRect">
            <a:avLst>
              <a:gd name="adj" fmla="val 1613"/>
            </a:avLst>
          </a:prstGeom>
          <a:solidFill>
            <a:srgbClr val="F4F5F7"/>
          </a:solidFill>
          <a:ln/>
        </p:spPr>
        <p:txBody>
          <a:bodyPr/>
          <a:lstStyle/>
          <a:p>
            <a:endParaRPr lang="de-DE"/>
          </a:p>
        </p:txBody>
      </p:sp>
      <p:sp>
        <p:nvSpPr>
          <p:cNvPr id="10" name="Text 8"/>
          <p:cNvSpPr/>
          <p:nvPr/>
        </p:nvSpPr>
        <p:spPr>
          <a:xfrm>
            <a:off x="4919472" y="1572768"/>
            <a:ext cx="3401568" cy="237744"/>
          </a:xfrm>
          <a:prstGeom prst="rect">
            <a:avLst/>
          </a:prstGeom>
          <a:noFill/>
          <a:ln/>
        </p:spPr>
        <p:txBody>
          <a:bodyPr wrap="square" lIns="0" tIns="0" rIns="0" bIns="0" rtlCol="0" anchor="ctr"/>
          <a:lstStyle/>
          <a:p>
            <a:pPr marL="0" indent="0">
              <a:buNone/>
            </a:pPr>
            <a:r>
              <a:rPr lang="en-US" sz="1100" b="1" kern="0" spc="250" dirty="0">
                <a:solidFill>
                  <a:srgbClr val="B5654A"/>
                </a:solidFill>
                <a:latin typeface="Calibri" pitchFamily="34" charset="0"/>
                <a:ea typeface="Calibri" pitchFamily="34" charset="-122"/>
                <a:cs typeface="Calibri" pitchFamily="34" charset="-120"/>
              </a:rPr>
              <a:t>SPECTRAL</a:t>
            </a:r>
            <a:endParaRPr lang="en-US" sz="1100" dirty="0"/>
          </a:p>
        </p:txBody>
      </p:sp>
      <p:sp>
        <p:nvSpPr>
          <p:cNvPr id="11" name="Text 9"/>
          <p:cNvSpPr/>
          <p:nvPr/>
        </p:nvSpPr>
        <p:spPr>
          <a:xfrm>
            <a:off x="4919472" y="1810512"/>
            <a:ext cx="3401568" cy="365760"/>
          </a:xfrm>
          <a:prstGeom prst="rect">
            <a:avLst/>
          </a:prstGeom>
          <a:noFill/>
          <a:ln/>
        </p:spPr>
        <p:txBody>
          <a:bodyPr wrap="square" lIns="0" tIns="0" rIns="0" bIns="0" rtlCol="0" anchor="ctr"/>
          <a:lstStyle/>
          <a:p>
            <a:pPr marL="0" indent="0">
              <a:buNone/>
            </a:pPr>
            <a:r>
              <a:rPr lang="en-US" sz="2100" b="1" dirty="0">
                <a:solidFill>
                  <a:srgbClr val="1F2329"/>
                </a:solidFill>
                <a:latin typeface="Cambria" pitchFamily="34" charset="0"/>
                <a:ea typeface="Cambria" pitchFamily="34" charset="-122"/>
                <a:cs typeface="Cambria" pitchFamily="34" charset="-120"/>
              </a:rPr>
              <a:t>Fourier Neural Operator</a:t>
            </a:r>
            <a:endParaRPr lang="en-US" sz="2100" dirty="0"/>
          </a:p>
        </p:txBody>
      </p:sp>
      <p:sp>
        <p:nvSpPr>
          <p:cNvPr id="12" name="Text 10"/>
          <p:cNvSpPr/>
          <p:nvPr/>
        </p:nvSpPr>
        <p:spPr>
          <a:xfrm>
            <a:off x="4919472" y="2212848"/>
            <a:ext cx="3401568" cy="274320"/>
          </a:xfrm>
          <a:prstGeom prst="rect">
            <a:avLst/>
          </a:prstGeom>
          <a:noFill/>
          <a:ln/>
        </p:spPr>
        <p:txBody>
          <a:bodyPr wrap="square" lIns="0" tIns="0" rIns="0" bIns="0" rtlCol="0" anchor="ctr"/>
          <a:lstStyle/>
          <a:p>
            <a:pPr marL="0" indent="0">
              <a:buNone/>
            </a:pPr>
            <a:r>
              <a:rPr lang="en-US" sz="1150" i="1" dirty="0">
                <a:solidFill>
                  <a:srgbClr val="727A85"/>
                </a:solidFill>
                <a:latin typeface="Calibri" pitchFamily="34" charset="0"/>
                <a:ea typeface="Calibri" pitchFamily="34" charset="-122"/>
                <a:cs typeface="Calibri" pitchFamily="34" charset="-120"/>
              </a:rPr>
              <a:t>Sees the whole domain at once</a:t>
            </a:r>
            <a:endParaRPr lang="en-US" sz="1150" dirty="0"/>
          </a:p>
        </p:txBody>
      </p:sp>
      <p:sp>
        <p:nvSpPr>
          <p:cNvPr id="13" name="Text 11"/>
          <p:cNvSpPr/>
          <p:nvPr/>
        </p:nvSpPr>
        <p:spPr>
          <a:xfrm>
            <a:off x="4919472" y="2670048"/>
            <a:ext cx="3419856" cy="1965960"/>
          </a:xfrm>
          <a:prstGeom prst="rect">
            <a:avLst/>
          </a:prstGeom>
          <a:noFill/>
          <a:ln/>
        </p:spPr>
        <p:txBody>
          <a:bodyPr wrap="square" lIns="0" tIns="0" rIns="0" bIns="0" rtlCol="0" anchor="t"/>
          <a:lstStyle/>
          <a:p>
            <a:pPr marL="0" indent="0">
              <a:spcAft>
                <a:spcPts val="100"/>
              </a:spcAft>
              <a:buNone/>
            </a:pPr>
            <a:r>
              <a:rPr lang="en-US" sz="1150" b="1" dirty="0">
                <a:solidFill>
                  <a:srgbClr val="1F2329"/>
                </a:solidFill>
                <a:latin typeface="Calibri" pitchFamily="34" charset="0"/>
                <a:ea typeface="Calibri" pitchFamily="34" charset="-122"/>
                <a:cs typeface="Calibri" pitchFamily="34" charset="-120"/>
              </a:rPr>
              <a:t>Learns in the frequency domain</a:t>
            </a:r>
            <a:endParaRPr lang="en-US" sz="1150" dirty="0"/>
          </a:p>
          <a:p>
            <a:pPr marL="0" indent="0">
              <a:lnSpc>
                <a:spcPct val="95000"/>
              </a:lnSpc>
              <a:spcAft>
                <a:spcPts val="800"/>
              </a:spcAft>
              <a:buNone/>
            </a:pPr>
            <a:r>
              <a:rPr lang="en-US" sz="1050" dirty="0">
                <a:solidFill>
                  <a:srgbClr val="727A85"/>
                </a:solidFill>
                <a:latin typeface="Calibri" pitchFamily="34" charset="0"/>
                <a:ea typeface="Calibri" pitchFamily="34" charset="-122"/>
                <a:cs typeface="Calibri" pitchFamily="34" charset="-120"/>
              </a:rPr>
              <a:t>FFT → learnable weights on the 16 lowest modes → inverse FFT, with a parallel pointwise path.</a:t>
            </a:r>
            <a:endParaRPr lang="en-US" sz="1150" dirty="0"/>
          </a:p>
          <a:p>
            <a:pPr marL="0" indent="0">
              <a:spcAft>
                <a:spcPts val="100"/>
              </a:spcAft>
              <a:buNone/>
            </a:pPr>
            <a:r>
              <a:rPr lang="en-US" sz="1150" b="1" dirty="0">
                <a:solidFill>
                  <a:srgbClr val="1F2329"/>
                </a:solidFill>
                <a:latin typeface="Calibri" pitchFamily="34" charset="0"/>
                <a:ea typeface="Calibri" pitchFamily="34" charset="-122"/>
                <a:cs typeface="Calibri" pitchFamily="34" charset="-120"/>
              </a:rPr>
              <a:t>Global receptive field after one layer</a:t>
            </a:r>
            <a:endParaRPr lang="en-US" sz="1150" dirty="0"/>
          </a:p>
          <a:p>
            <a:pPr marL="0" indent="0">
              <a:lnSpc>
                <a:spcPct val="95000"/>
              </a:lnSpc>
              <a:spcAft>
                <a:spcPts val="800"/>
              </a:spcAft>
              <a:buNone/>
            </a:pPr>
            <a:r>
              <a:rPr lang="en-US" sz="1050" dirty="0">
                <a:solidFill>
                  <a:srgbClr val="727A85"/>
                </a:solidFill>
                <a:latin typeface="Calibri" pitchFamily="34" charset="0"/>
                <a:ea typeface="Calibri" pitchFamily="34" charset="-122"/>
                <a:cs typeface="Calibri" pitchFamily="34" charset="-120"/>
              </a:rPr>
              <a:t>Every output point depends on every input point immediately.</a:t>
            </a:r>
            <a:endParaRPr lang="en-US" sz="1150" dirty="0"/>
          </a:p>
          <a:p>
            <a:pPr marL="0" indent="0">
              <a:spcAft>
                <a:spcPts val="100"/>
              </a:spcAft>
              <a:buNone/>
            </a:pPr>
            <a:r>
              <a:rPr lang="en-US" sz="1150" b="1" dirty="0">
                <a:solidFill>
                  <a:srgbClr val="1F2329"/>
                </a:solidFill>
                <a:latin typeface="Calibri" pitchFamily="34" charset="0"/>
                <a:ea typeface="Calibri" pitchFamily="34" charset="-122"/>
                <a:cs typeface="Calibri" pitchFamily="34" charset="-120"/>
              </a:rPr>
              <a:t>Structurally matched to elliptic PDEs</a:t>
            </a:r>
            <a:endParaRPr lang="en-US" sz="1150" dirty="0"/>
          </a:p>
          <a:p>
            <a:pPr marL="0" indent="0">
              <a:lnSpc>
                <a:spcPct val="95000"/>
              </a:lnSpc>
              <a:buNone/>
            </a:pPr>
            <a:r>
              <a:rPr lang="en-US" sz="1050" dirty="0">
                <a:solidFill>
                  <a:srgbClr val="727A85"/>
                </a:solidFill>
                <a:latin typeface="Calibri" pitchFamily="34" charset="0"/>
                <a:ea typeface="Calibri" pitchFamily="34" charset="-122"/>
                <a:cs typeface="Calibri" pitchFamily="34" charset="-120"/>
              </a:rPr>
              <a:t>A local perturbation propagates across the whole field — captured naturally.</a:t>
            </a:r>
            <a:endParaRPr lang="en-US" sz="1150" dirty="0"/>
          </a:p>
        </p:txBody>
      </p:sp>
      <p:sp>
        <p:nvSpPr>
          <p:cNvPr id="14" name="Text 12"/>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21792" y="1371600"/>
            <a:ext cx="2743200" cy="1371600"/>
          </a:xfrm>
          <a:prstGeom prst="rect">
            <a:avLst/>
          </a:prstGeom>
          <a:noFill/>
          <a:ln/>
        </p:spPr>
        <p:txBody>
          <a:bodyPr wrap="square" lIns="0" tIns="0" rIns="0" bIns="0" rtlCol="0" anchor="ctr"/>
          <a:lstStyle/>
          <a:p>
            <a:pPr marL="0" indent="0">
              <a:buNone/>
            </a:pPr>
            <a:r>
              <a:rPr lang="en-US" sz="11000" b="1" dirty="0">
                <a:solidFill>
                  <a:srgbClr val="B5654A"/>
                </a:solidFill>
                <a:latin typeface="Cambria" pitchFamily="34" charset="0"/>
                <a:ea typeface="Cambria" pitchFamily="34" charset="-122"/>
                <a:cs typeface="Cambria" pitchFamily="34" charset="-120"/>
              </a:rPr>
              <a:t>04</a:t>
            </a:r>
            <a:endParaRPr lang="en-US" sz="11000" dirty="0"/>
          </a:p>
        </p:txBody>
      </p:sp>
      <p:sp>
        <p:nvSpPr>
          <p:cNvPr id="3" name="Text 1"/>
          <p:cNvSpPr/>
          <p:nvPr/>
        </p:nvSpPr>
        <p:spPr>
          <a:xfrm>
            <a:off x="676656" y="2788920"/>
            <a:ext cx="7315200" cy="292608"/>
          </a:xfrm>
          <a:prstGeom prst="rect">
            <a:avLst/>
          </a:prstGeom>
          <a:noFill/>
          <a:ln/>
        </p:spPr>
        <p:txBody>
          <a:bodyPr wrap="square" lIns="0" tIns="0" rIns="0" bIns="0" rtlCol="0" anchor="ctr"/>
          <a:lstStyle/>
          <a:p>
            <a:pPr marL="0" indent="0">
              <a:buNone/>
            </a:pPr>
            <a:r>
              <a:rPr lang="en-US" sz="1300" b="1" kern="0" spc="400" dirty="0">
                <a:solidFill>
                  <a:srgbClr val="9AA1AB"/>
                </a:solidFill>
                <a:latin typeface="Calibri" pitchFamily="34" charset="0"/>
                <a:ea typeface="Calibri" pitchFamily="34" charset="-122"/>
                <a:cs typeface="Calibri" pitchFamily="34" charset="-120"/>
              </a:rPr>
              <a:t>SECTION FOUR</a:t>
            </a:r>
            <a:endParaRPr lang="en-US" sz="1300" dirty="0"/>
          </a:p>
        </p:txBody>
      </p:sp>
      <p:sp>
        <p:nvSpPr>
          <p:cNvPr id="4" name="Text 2"/>
          <p:cNvSpPr/>
          <p:nvPr/>
        </p:nvSpPr>
        <p:spPr>
          <a:xfrm>
            <a:off x="640080" y="3063240"/>
            <a:ext cx="7680960" cy="822960"/>
          </a:xfrm>
          <a:prstGeom prst="rect">
            <a:avLst/>
          </a:prstGeom>
          <a:noFill/>
          <a:ln/>
        </p:spPr>
        <p:txBody>
          <a:bodyPr wrap="square" lIns="0" tIns="0" rIns="0" bIns="0" rtlCol="0" anchor="ctr"/>
          <a:lstStyle/>
          <a:p>
            <a:pPr marL="0" indent="0">
              <a:buNone/>
            </a:pPr>
            <a:r>
              <a:rPr lang="en-US" sz="3800" b="1" dirty="0">
                <a:solidFill>
                  <a:srgbClr val="EAECEF"/>
                </a:solidFill>
                <a:latin typeface="Cambria" pitchFamily="34" charset="0"/>
                <a:ea typeface="Cambria" pitchFamily="34" charset="-122"/>
                <a:cs typeface="Cambria" pitchFamily="34" charset="-120"/>
              </a:rPr>
              <a:t>Experiments</a:t>
            </a:r>
            <a:endParaRPr lang="en-US" sz="3800" dirty="0"/>
          </a:p>
        </p:txBody>
      </p:sp>
      <p:sp>
        <p:nvSpPr>
          <p:cNvPr id="5" name="Text 3"/>
          <p:cNvSpPr/>
          <p:nvPr/>
        </p:nvSpPr>
        <p:spPr>
          <a:xfrm>
            <a:off x="658368" y="3931920"/>
            <a:ext cx="7315200" cy="640080"/>
          </a:xfrm>
          <a:prstGeom prst="rect">
            <a:avLst/>
          </a:prstGeom>
          <a:noFill/>
          <a:ln/>
        </p:spPr>
        <p:txBody>
          <a:bodyPr wrap="square" lIns="0" tIns="0" rIns="0" bIns="0" rtlCol="0" anchor="ctr"/>
          <a:lstStyle/>
          <a:p>
            <a:pPr marL="0" indent="0">
              <a:buNone/>
            </a:pPr>
            <a:r>
              <a:rPr lang="en-US" sz="1500" i="1" dirty="0">
                <a:solidFill>
                  <a:srgbClr val="9AA1AB"/>
                </a:solidFill>
                <a:latin typeface="Calibri" pitchFamily="34" charset="0"/>
                <a:ea typeface="Calibri" pitchFamily="34" charset="-122"/>
                <a:cs typeface="Calibri" pitchFamily="34" charset="-120"/>
              </a:rPr>
              <a:t>Four experiments — from a single crystal to crystal-size generalization.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04 · EXPERIMENTS</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Experimental Design</a:t>
            </a:r>
            <a:endParaRPr lang="en-US" sz="2900" dirty="0"/>
          </a:p>
        </p:txBody>
      </p:sp>
      <p:sp>
        <p:nvSpPr>
          <p:cNvPr id="4" name="Shape 2"/>
          <p:cNvSpPr/>
          <p:nvPr/>
        </p:nvSpPr>
        <p:spPr>
          <a:xfrm>
            <a:off x="566928" y="1371600"/>
            <a:ext cx="3959352" cy="1481328"/>
          </a:xfrm>
          <a:prstGeom prst="roundRect">
            <a:avLst>
              <a:gd name="adj" fmla="val 3704"/>
            </a:avLst>
          </a:prstGeom>
          <a:solidFill>
            <a:srgbClr val="F4F5F7"/>
          </a:solidFill>
          <a:ln/>
        </p:spPr>
        <p:txBody>
          <a:bodyPr/>
          <a:lstStyle/>
          <a:p>
            <a:endParaRPr lang="de-DE"/>
          </a:p>
        </p:txBody>
      </p:sp>
      <p:sp>
        <p:nvSpPr>
          <p:cNvPr id="5" name="Text 3"/>
          <p:cNvSpPr/>
          <p:nvPr/>
        </p:nvSpPr>
        <p:spPr>
          <a:xfrm>
            <a:off x="859536" y="1591056"/>
            <a:ext cx="3410712" cy="237744"/>
          </a:xfrm>
          <a:prstGeom prst="rect">
            <a:avLst/>
          </a:prstGeom>
          <a:noFill/>
          <a:ln/>
        </p:spPr>
        <p:txBody>
          <a:bodyPr wrap="square" lIns="0" tIns="0" rIns="0" bIns="0" rtlCol="0" anchor="ctr"/>
          <a:lstStyle/>
          <a:p>
            <a:pPr marL="0" indent="0">
              <a:buNone/>
            </a:pPr>
            <a:r>
              <a:rPr lang="en-US" sz="1050" b="1" kern="0" spc="150" dirty="0">
                <a:solidFill>
                  <a:srgbClr val="B5654A"/>
                </a:solidFill>
                <a:latin typeface="Calibri" pitchFamily="34" charset="0"/>
                <a:ea typeface="Calibri" pitchFamily="34" charset="-122"/>
                <a:cs typeface="Calibri" pitchFamily="34" charset="-120"/>
              </a:rPr>
              <a:t>EXPERIMENT 1</a:t>
            </a:r>
            <a:endParaRPr lang="en-US" sz="1050" dirty="0"/>
          </a:p>
        </p:txBody>
      </p:sp>
      <p:sp>
        <p:nvSpPr>
          <p:cNvPr id="6" name="Text 4"/>
          <p:cNvSpPr/>
          <p:nvPr/>
        </p:nvSpPr>
        <p:spPr>
          <a:xfrm>
            <a:off x="859536" y="1828800"/>
            <a:ext cx="3410712" cy="329184"/>
          </a:xfrm>
          <a:prstGeom prst="rect">
            <a:avLst/>
          </a:prstGeom>
          <a:noFill/>
          <a:ln/>
        </p:spPr>
        <p:txBody>
          <a:bodyPr wrap="square" lIns="0" tIns="0" rIns="0" bIns="0" rtlCol="0" anchor="ctr"/>
          <a:lstStyle/>
          <a:p>
            <a:pPr marL="0" indent="0">
              <a:buNone/>
            </a:pPr>
            <a:r>
              <a:rPr lang="en-US" sz="1600" b="1" dirty="0">
                <a:solidFill>
                  <a:srgbClr val="1F2329"/>
                </a:solidFill>
                <a:latin typeface="Cambria" pitchFamily="34" charset="0"/>
                <a:ea typeface="Cambria" pitchFamily="34" charset="-122"/>
                <a:cs typeface="Cambria" pitchFamily="34" charset="-120"/>
              </a:rPr>
              <a:t>Single-Crystal Baseline</a:t>
            </a:r>
            <a:endParaRPr lang="en-US" sz="1600" dirty="0"/>
          </a:p>
        </p:txBody>
      </p:sp>
      <p:sp>
        <p:nvSpPr>
          <p:cNvPr id="7" name="Text 5"/>
          <p:cNvSpPr/>
          <p:nvPr/>
        </p:nvSpPr>
        <p:spPr>
          <a:xfrm>
            <a:off x="859536" y="2231136"/>
            <a:ext cx="3410712" cy="548640"/>
          </a:xfrm>
          <a:prstGeom prst="rect">
            <a:avLst/>
          </a:prstGeom>
          <a:noFill/>
          <a:ln/>
        </p:spPr>
        <p:txBody>
          <a:bodyPr wrap="square" lIns="0" tIns="0" rIns="0" bIns="0" rtlCol="0" anchor="t"/>
          <a:lstStyle/>
          <a:p>
            <a:pPr marL="0" indent="0">
              <a:lnSpc>
                <a:spcPct val="96000"/>
              </a:lnSpc>
              <a:buNone/>
            </a:pPr>
            <a:r>
              <a:rPr lang="en-US" sz="1050" dirty="0">
                <a:solidFill>
                  <a:srgbClr val="727A85"/>
                </a:solidFill>
                <a:latin typeface="Calibri" pitchFamily="34" charset="0"/>
                <a:ea typeface="Calibri" pitchFamily="34" charset="-122"/>
                <a:cs typeface="Calibri" pitchFamily="34" charset="-120"/>
              </a:rPr>
              <a:t>Exactly one crystal. Hyperparameter sweep over 4 learning rates × 2 batch sizes — a reference per architecture.</a:t>
            </a:r>
            <a:endParaRPr lang="en-US" sz="1050" dirty="0"/>
          </a:p>
        </p:txBody>
      </p:sp>
      <p:sp>
        <p:nvSpPr>
          <p:cNvPr id="8" name="Shape 6"/>
          <p:cNvSpPr/>
          <p:nvPr/>
        </p:nvSpPr>
        <p:spPr>
          <a:xfrm>
            <a:off x="4636008" y="1371600"/>
            <a:ext cx="3959352" cy="1481328"/>
          </a:xfrm>
          <a:prstGeom prst="roundRect">
            <a:avLst>
              <a:gd name="adj" fmla="val 3704"/>
            </a:avLst>
          </a:prstGeom>
          <a:solidFill>
            <a:srgbClr val="F4F5F7"/>
          </a:solidFill>
          <a:ln/>
        </p:spPr>
        <p:txBody>
          <a:bodyPr/>
          <a:lstStyle/>
          <a:p>
            <a:endParaRPr lang="de-DE"/>
          </a:p>
        </p:txBody>
      </p:sp>
      <p:sp>
        <p:nvSpPr>
          <p:cNvPr id="9" name="Text 7"/>
          <p:cNvSpPr/>
          <p:nvPr/>
        </p:nvSpPr>
        <p:spPr>
          <a:xfrm>
            <a:off x="4928616" y="1591056"/>
            <a:ext cx="3410712" cy="237744"/>
          </a:xfrm>
          <a:prstGeom prst="rect">
            <a:avLst/>
          </a:prstGeom>
          <a:noFill/>
          <a:ln/>
        </p:spPr>
        <p:txBody>
          <a:bodyPr wrap="square" lIns="0" tIns="0" rIns="0" bIns="0" rtlCol="0" anchor="ctr"/>
          <a:lstStyle/>
          <a:p>
            <a:pPr marL="0" indent="0">
              <a:buNone/>
            </a:pPr>
            <a:r>
              <a:rPr lang="en-US" sz="1050" b="1" kern="0" spc="150" dirty="0">
                <a:solidFill>
                  <a:srgbClr val="B5654A"/>
                </a:solidFill>
                <a:latin typeface="Calibri" pitchFamily="34" charset="0"/>
                <a:ea typeface="Calibri" pitchFamily="34" charset="-122"/>
                <a:cs typeface="Calibri" pitchFamily="34" charset="-120"/>
              </a:rPr>
              <a:t>EXPERIMENT 2</a:t>
            </a:r>
            <a:endParaRPr lang="en-US" sz="1050" dirty="0"/>
          </a:p>
        </p:txBody>
      </p:sp>
      <p:sp>
        <p:nvSpPr>
          <p:cNvPr id="10" name="Text 8"/>
          <p:cNvSpPr/>
          <p:nvPr/>
        </p:nvSpPr>
        <p:spPr>
          <a:xfrm>
            <a:off x="4928616" y="1828800"/>
            <a:ext cx="3410712" cy="329184"/>
          </a:xfrm>
          <a:prstGeom prst="rect">
            <a:avLst/>
          </a:prstGeom>
          <a:noFill/>
          <a:ln/>
        </p:spPr>
        <p:txBody>
          <a:bodyPr wrap="square" lIns="0" tIns="0" rIns="0" bIns="0" rtlCol="0" anchor="ctr"/>
          <a:lstStyle/>
          <a:p>
            <a:pPr marL="0" indent="0">
              <a:buNone/>
            </a:pPr>
            <a:r>
              <a:rPr lang="en-US" sz="1600" b="1" dirty="0">
                <a:solidFill>
                  <a:srgbClr val="1F2329"/>
                </a:solidFill>
                <a:latin typeface="Cambria" pitchFamily="34" charset="0"/>
                <a:ea typeface="Cambria" pitchFamily="34" charset="-122"/>
                <a:cs typeface="Cambria" pitchFamily="34" charset="-120"/>
              </a:rPr>
              <a:t>Multi-Crystal Generalization</a:t>
            </a:r>
            <a:endParaRPr lang="en-US" sz="1600" dirty="0"/>
          </a:p>
        </p:txBody>
      </p:sp>
      <p:sp>
        <p:nvSpPr>
          <p:cNvPr id="11" name="Text 9"/>
          <p:cNvSpPr/>
          <p:nvPr/>
        </p:nvSpPr>
        <p:spPr>
          <a:xfrm>
            <a:off x="4928616" y="2231136"/>
            <a:ext cx="3410712" cy="548640"/>
          </a:xfrm>
          <a:prstGeom prst="rect">
            <a:avLst/>
          </a:prstGeom>
          <a:noFill/>
          <a:ln/>
        </p:spPr>
        <p:txBody>
          <a:bodyPr wrap="square" lIns="0" tIns="0" rIns="0" bIns="0" rtlCol="0" anchor="t"/>
          <a:lstStyle/>
          <a:p>
            <a:pPr marL="0" indent="0">
              <a:lnSpc>
                <a:spcPct val="96000"/>
              </a:lnSpc>
              <a:buNone/>
            </a:pPr>
            <a:r>
              <a:rPr lang="en-US" sz="1050" dirty="0">
                <a:solidFill>
                  <a:srgbClr val="727A85"/>
                </a:solidFill>
                <a:latin typeface="Calibri" pitchFamily="34" charset="0"/>
                <a:ea typeface="Calibri" pitchFamily="34" charset="-122"/>
                <a:cs typeface="Calibri" pitchFamily="34" charset="-120"/>
              </a:rPr>
              <a:t>Train on 1–10 crystals, evaluate per count incl. unseen higher counts up to 25.</a:t>
            </a:r>
            <a:endParaRPr lang="en-US" sz="1050" dirty="0"/>
          </a:p>
        </p:txBody>
      </p:sp>
      <p:sp>
        <p:nvSpPr>
          <p:cNvPr id="12" name="Shape 10"/>
          <p:cNvSpPr/>
          <p:nvPr/>
        </p:nvSpPr>
        <p:spPr>
          <a:xfrm>
            <a:off x="566928" y="2999232"/>
            <a:ext cx="3959352" cy="1481328"/>
          </a:xfrm>
          <a:prstGeom prst="roundRect">
            <a:avLst>
              <a:gd name="adj" fmla="val 3704"/>
            </a:avLst>
          </a:prstGeom>
          <a:solidFill>
            <a:srgbClr val="F4F5F7"/>
          </a:solidFill>
          <a:ln/>
        </p:spPr>
        <p:txBody>
          <a:bodyPr/>
          <a:lstStyle/>
          <a:p>
            <a:endParaRPr lang="de-DE"/>
          </a:p>
        </p:txBody>
      </p:sp>
      <p:sp>
        <p:nvSpPr>
          <p:cNvPr id="13" name="Text 11"/>
          <p:cNvSpPr/>
          <p:nvPr/>
        </p:nvSpPr>
        <p:spPr>
          <a:xfrm>
            <a:off x="859536" y="3218688"/>
            <a:ext cx="3410712" cy="237744"/>
          </a:xfrm>
          <a:prstGeom prst="rect">
            <a:avLst/>
          </a:prstGeom>
          <a:noFill/>
          <a:ln/>
        </p:spPr>
        <p:txBody>
          <a:bodyPr wrap="square" lIns="0" tIns="0" rIns="0" bIns="0" rtlCol="0" anchor="ctr"/>
          <a:lstStyle/>
          <a:p>
            <a:pPr marL="0" indent="0">
              <a:buNone/>
            </a:pPr>
            <a:r>
              <a:rPr lang="en-US" sz="1050" b="1" kern="0" spc="150" dirty="0">
                <a:solidFill>
                  <a:srgbClr val="B5654A"/>
                </a:solidFill>
                <a:latin typeface="Calibri" pitchFamily="34" charset="0"/>
                <a:ea typeface="Calibri" pitchFamily="34" charset="-122"/>
                <a:cs typeface="Calibri" pitchFamily="34" charset="-120"/>
              </a:rPr>
              <a:t>EXPERIMENT 3</a:t>
            </a:r>
            <a:endParaRPr lang="en-US" sz="1050" dirty="0"/>
          </a:p>
        </p:txBody>
      </p:sp>
      <p:sp>
        <p:nvSpPr>
          <p:cNvPr id="14" name="Text 12"/>
          <p:cNvSpPr/>
          <p:nvPr/>
        </p:nvSpPr>
        <p:spPr>
          <a:xfrm>
            <a:off x="859536" y="3456432"/>
            <a:ext cx="3410712" cy="329184"/>
          </a:xfrm>
          <a:prstGeom prst="rect">
            <a:avLst/>
          </a:prstGeom>
          <a:noFill/>
          <a:ln/>
        </p:spPr>
        <p:txBody>
          <a:bodyPr wrap="square" lIns="0" tIns="0" rIns="0" bIns="0" rtlCol="0" anchor="ctr"/>
          <a:lstStyle/>
          <a:p>
            <a:pPr marL="0" indent="0">
              <a:buNone/>
            </a:pPr>
            <a:r>
              <a:rPr lang="en-US" sz="1600" b="1" dirty="0">
                <a:solidFill>
                  <a:srgbClr val="1F2329"/>
                </a:solidFill>
                <a:latin typeface="Cambria" pitchFamily="34" charset="0"/>
                <a:ea typeface="Cambria" pitchFamily="34" charset="-122"/>
                <a:cs typeface="Cambria" pitchFamily="34" charset="-120"/>
              </a:rPr>
              <a:t>Density Stress Test</a:t>
            </a:r>
            <a:endParaRPr lang="en-US" sz="1600" dirty="0"/>
          </a:p>
        </p:txBody>
      </p:sp>
      <p:sp>
        <p:nvSpPr>
          <p:cNvPr id="15" name="Text 13"/>
          <p:cNvSpPr/>
          <p:nvPr/>
        </p:nvSpPr>
        <p:spPr>
          <a:xfrm>
            <a:off x="859536" y="3858768"/>
            <a:ext cx="3410712" cy="548640"/>
          </a:xfrm>
          <a:prstGeom prst="rect">
            <a:avLst/>
          </a:prstGeom>
          <a:noFill/>
          <a:ln/>
        </p:spPr>
        <p:txBody>
          <a:bodyPr wrap="square" lIns="0" tIns="0" rIns="0" bIns="0" rtlCol="0" anchor="t"/>
          <a:lstStyle/>
          <a:p>
            <a:pPr marL="0" indent="0">
              <a:lnSpc>
                <a:spcPct val="96000"/>
              </a:lnSpc>
              <a:buNone/>
            </a:pPr>
            <a:r>
              <a:rPr lang="en-US" sz="1050" dirty="0">
                <a:solidFill>
                  <a:srgbClr val="727A85"/>
                </a:solidFill>
                <a:latin typeface="Calibri" pitchFamily="34" charset="0"/>
                <a:ea typeface="Calibri" pitchFamily="34" charset="-122"/>
                <a:cs typeface="Calibri" pitchFamily="34" charset="-120"/>
              </a:rPr>
              <a:t>Train on ≤25 crystals, evaluate on far denser scenes up to 84 — does reach scale with the training range?</a:t>
            </a:r>
            <a:endParaRPr lang="en-US" sz="1050" dirty="0"/>
          </a:p>
        </p:txBody>
      </p:sp>
      <p:sp>
        <p:nvSpPr>
          <p:cNvPr id="16" name="Shape 14"/>
          <p:cNvSpPr/>
          <p:nvPr/>
        </p:nvSpPr>
        <p:spPr>
          <a:xfrm>
            <a:off x="4636008" y="2999232"/>
            <a:ext cx="3959352" cy="1481328"/>
          </a:xfrm>
          <a:prstGeom prst="roundRect">
            <a:avLst>
              <a:gd name="adj" fmla="val 3704"/>
            </a:avLst>
          </a:prstGeom>
          <a:solidFill>
            <a:srgbClr val="F4F5F7"/>
          </a:solidFill>
          <a:ln/>
        </p:spPr>
        <p:txBody>
          <a:bodyPr/>
          <a:lstStyle/>
          <a:p>
            <a:endParaRPr lang="de-DE"/>
          </a:p>
        </p:txBody>
      </p:sp>
      <p:sp>
        <p:nvSpPr>
          <p:cNvPr id="17" name="Text 15"/>
          <p:cNvSpPr/>
          <p:nvPr/>
        </p:nvSpPr>
        <p:spPr>
          <a:xfrm>
            <a:off x="4928616" y="3218688"/>
            <a:ext cx="3410712" cy="237744"/>
          </a:xfrm>
          <a:prstGeom prst="rect">
            <a:avLst/>
          </a:prstGeom>
          <a:noFill/>
          <a:ln/>
        </p:spPr>
        <p:txBody>
          <a:bodyPr wrap="square" lIns="0" tIns="0" rIns="0" bIns="0" rtlCol="0" anchor="ctr"/>
          <a:lstStyle/>
          <a:p>
            <a:pPr marL="0" indent="0">
              <a:buNone/>
            </a:pPr>
            <a:r>
              <a:rPr lang="en-US" sz="1050" b="1" kern="0" spc="150" dirty="0">
                <a:solidFill>
                  <a:srgbClr val="B5654A"/>
                </a:solidFill>
                <a:latin typeface="Calibri" pitchFamily="34" charset="0"/>
                <a:ea typeface="Calibri" pitchFamily="34" charset="-122"/>
                <a:cs typeface="Calibri" pitchFamily="34" charset="-120"/>
              </a:rPr>
              <a:t>EXPERIMENT 4</a:t>
            </a:r>
            <a:endParaRPr lang="en-US" sz="1050" dirty="0"/>
          </a:p>
        </p:txBody>
      </p:sp>
      <p:sp>
        <p:nvSpPr>
          <p:cNvPr id="18" name="Text 16"/>
          <p:cNvSpPr/>
          <p:nvPr/>
        </p:nvSpPr>
        <p:spPr>
          <a:xfrm>
            <a:off x="4928616" y="3456432"/>
            <a:ext cx="3410712" cy="329184"/>
          </a:xfrm>
          <a:prstGeom prst="rect">
            <a:avLst/>
          </a:prstGeom>
          <a:noFill/>
          <a:ln/>
        </p:spPr>
        <p:txBody>
          <a:bodyPr wrap="square" lIns="0" tIns="0" rIns="0" bIns="0" rtlCol="0" anchor="ctr"/>
          <a:lstStyle/>
          <a:p>
            <a:pPr marL="0" indent="0">
              <a:buNone/>
            </a:pPr>
            <a:r>
              <a:rPr lang="en-US" sz="1600" b="1" dirty="0">
                <a:solidFill>
                  <a:srgbClr val="1F2329"/>
                </a:solidFill>
                <a:latin typeface="Cambria" pitchFamily="34" charset="0"/>
                <a:ea typeface="Cambria" pitchFamily="34" charset="-122"/>
                <a:cs typeface="Cambria" pitchFamily="34" charset="-120"/>
              </a:rPr>
              <a:t>Crystal-Size Generalization</a:t>
            </a:r>
            <a:endParaRPr lang="en-US" sz="1600" dirty="0"/>
          </a:p>
        </p:txBody>
      </p:sp>
      <p:sp>
        <p:nvSpPr>
          <p:cNvPr id="19" name="Text 17"/>
          <p:cNvSpPr/>
          <p:nvPr/>
        </p:nvSpPr>
        <p:spPr>
          <a:xfrm>
            <a:off x="4928616" y="3858768"/>
            <a:ext cx="3410712" cy="548640"/>
          </a:xfrm>
          <a:prstGeom prst="rect">
            <a:avLst/>
          </a:prstGeom>
          <a:noFill/>
          <a:ln/>
        </p:spPr>
        <p:txBody>
          <a:bodyPr wrap="square" lIns="0" tIns="0" rIns="0" bIns="0" rtlCol="0" anchor="t"/>
          <a:lstStyle/>
          <a:p>
            <a:pPr marL="0" indent="0">
              <a:lnSpc>
                <a:spcPct val="96000"/>
              </a:lnSpc>
              <a:buNone/>
            </a:pPr>
            <a:r>
              <a:rPr lang="en-US" sz="1050" dirty="0">
                <a:solidFill>
                  <a:srgbClr val="727A85"/>
                </a:solidFill>
                <a:latin typeface="Calibri" pitchFamily="34" charset="0"/>
                <a:ea typeface="Calibri" pitchFamily="34" charset="-122"/>
                <a:cs typeface="Calibri" pitchFamily="34" charset="-120"/>
              </a:rPr>
              <a:t>Train on r = 0.05, apply to r = 0.005 and r = 0.5. Also: an FNO trained on three radii at once.</a:t>
            </a:r>
            <a:endParaRPr lang="en-US" sz="1050" dirty="0"/>
          </a:p>
        </p:txBody>
      </p:sp>
      <p:sp>
        <p:nvSpPr>
          <p:cNvPr id="20" name="Text 18"/>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04 · EXPERIMENTS — RESULT 1</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Single-Crystal Baseline</a:t>
            </a:r>
            <a:endParaRPr lang="en-US" sz="2900" dirty="0"/>
          </a:p>
        </p:txBody>
      </p:sp>
      <p:graphicFrame>
        <p:nvGraphicFramePr>
          <p:cNvPr id="4" name="Chart 0"/>
          <p:cNvGraphicFramePr/>
          <p:nvPr/>
        </p:nvGraphicFramePr>
        <p:xfrm>
          <a:off x="502920" y="1417320"/>
          <a:ext cx="457200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303520" y="1481328"/>
            <a:ext cx="3291840" cy="969264"/>
          </a:xfrm>
          <a:prstGeom prst="roundRect">
            <a:avLst>
              <a:gd name="adj" fmla="val 4717"/>
            </a:avLst>
          </a:prstGeom>
          <a:solidFill>
            <a:srgbClr val="F4F5F7"/>
          </a:solidFill>
          <a:ln/>
        </p:spPr>
        <p:txBody>
          <a:bodyPr/>
          <a:lstStyle/>
          <a:p>
            <a:endParaRPr lang="de-DE"/>
          </a:p>
        </p:txBody>
      </p:sp>
      <p:sp>
        <p:nvSpPr>
          <p:cNvPr id="6" name="Text 3"/>
          <p:cNvSpPr/>
          <p:nvPr/>
        </p:nvSpPr>
        <p:spPr>
          <a:xfrm>
            <a:off x="5504688" y="1591056"/>
            <a:ext cx="2889504" cy="329184"/>
          </a:xfrm>
          <a:prstGeom prst="rect">
            <a:avLst/>
          </a:prstGeom>
          <a:noFill/>
          <a:ln/>
        </p:spPr>
        <p:txBody>
          <a:bodyPr wrap="square" lIns="0" tIns="0" rIns="0" bIns="0" rtlCol="0" anchor="ctr"/>
          <a:lstStyle/>
          <a:p>
            <a:pPr marL="0" indent="0">
              <a:buNone/>
            </a:pPr>
            <a:r>
              <a:rPr lang="en-US" sz="1900" b="1" dirty="0">
                <a:solidFill>
                  <a:srgbClr val="B5654A"/>
                </a:solidFill>
                <a:latin typeface="Cambria" pitchFamily="34" charset="0"/>
                <a:ea typeface="Cambria" pitchFamily="34" charset="-122"/>
                <a:cs typeface="Cambria" pitchFamily="34" charset="-120"/>
              </a:rPr>
              <a:t>≈ 3×</a:t>
            </a:r>
            <a:endParaRPr lang="en-US" sz="1900" dirty="0"/>
          </a:p>
        </p:txBody>
      </p:sp>
      <p:sp>
        <p:nvSpPr>
          <p:cNvPr id="7" name="Text 4"/>
          <p:cNvSpPr/>
          <p:nvPr/>
        </p:nvSpPr>
        <p:spPr>
          <a:xfrm>
            <a:off x="5504688" y="1920240"/>
            <a:ext cx="2889504" cy="237744"/>
          </a:xfrm>
          <a:prstGeom prst="rect">
            <a:avLst/>
          </a:prstGeom>
          <a:noFill/>
          <a:ln/>
        </p:spPr>
        <p:txBody>
          <a:bodyPr wrap="square" lIns="0" tIns="0" rIns="0" bIns="0" rtlCol="0" anchor="ctr"/>
          <a:lstStyle/>
          <a:p>
            <a:pPr marL="0" indent="0">
              <a:buNone/>
            </a:pPr>
            <a:r>
              <a:rPr lang="en-US" sz="1250" b="1" dirty="0">
                <a:solidFill>
                  <a:srgbClr val="1F2329"/>
                </a:solidFill>
                <a:latin typeface="Cambria" pitchFamily="34" charset="0"/>
                <a:ea typeface="Cambria" pitchFamily="34" charset="-122"/>
                <a:cs typeface="Cambria" pitchFamily="34" charset="-120"/>
              </a:rPr>
              <a:t>Lower ψ-error</a:t>
            </a:r>
            <a:endParaRPr lang="en-US" sz="1250" dirty="0"/>
          </a:p>
        </p:txBody>
      </p:sp>
      <p:sp>
        <p:nvSpPr>
          <p:cNvPr id="8" name="Text 5"/>
          <p:cNvSpPr/>
          <p:nvPr/>
        </p:nvSpPr>
        <p:spPr>
          <a:xfrm>
            <a:off x="5504688" y="2139696"/>
            <a:ext cx="2889504" cy="274320"/>
          </a:xfrm>
          <a:prstGeom prst="rect">
            <a:avLst/>
          </a:prstGeom>
          <a:noFill/>
          <a:ln/>
        </p:spPr>
        <p:txBody>
          <a:bodyPr wrap="square" lIns="0" tIns="0" rIns="0" bIns="0" rtlCol="0" anchor="t"/>
          <a:lstStyle/>
          <a:p>
            <a:pPr marL="0" indent="0">
              <a:lnSpc>
                <a:spcPct val="92000"/>
              </a:lnSpc>
              <a:buNone/>
            </a:pPr>
            <a:r>
              <a:rPr lang="en-US" sz="980" dirty="0">
                <a:solidFill>
                  <a:srgbClr val="727A85"/>
                </a:solidFill>
                <a:latin typeface="Calibri" pitchFamily="34" charset="0"/>
                <a:ea typeface="Calibri" pitchFamily="34" charset="-122"/>
                <a:cs typeface="Calibri" pitchFamily="34" charset="-120"/>
              </a:rPr>
              <a:t>Best FNO 1.6–2.5 % vs. U-Net 5.5–6.5 % on ψ</a:t>
            </a:r>
            <a:endParaRPr lang="en-US" sz="980" dirty="0"/>
          </a:p>
        </p:txBody>
      </p:sp>
      <p:sp>
        <p:nvSpPr>
          <p:cNvPr id="9" name="Shape 6"/>
          <p:cNvSpPr/>
          <p:nvPr/>
        </p:nvSpPr>
        <p:spPr>
          <a:xfrm>
            <a:off x="5303520" y="2578608"/>
            <a:ext cx="3291840" cy="969264"/>
          </a:xfrm>
          <a:prstGeom prst="roundRect">
            <a:avLst>
              <a:gd name="adj" fmla="val 4717"/>
            </a:avLst>
          </a:prstGeom>
          <a:solidFill>
            <a:srgbClr val="F4F5F7"/>
          </a:solidFill>
          <a:ln/>
        </p:spPr>
        <p:txBody>
          <a:bodyPr/>
          <a:lstStyle/>
          <a:p>
            <a:endParaRPr lang="de-DE"/>
          </a:p>
        </p:txBody>
      </p:sp>
      <p:sp>
        <p:nvSpPr>
          <p:cNvPr id="10" name="Text 7"/>
          <p:cNvSpPr/>
          <p:nvPr/>
        </p:nvSpPr>
        <p:spPr>
          <a:xfrm>
            <a:off x="5504688" y="2688336"/>
            <a:ext cx="2889504" cy="329184"/>
          </a:xfrm>
          <a:prstGeom prst="rect">
            <a:avLst/>
          </a:prstGeom>
          <a:noFill/>
          <a:ln/>
        </p:spPr>
        <p:txBody>
          <a:bodyPr wrap="square" lIns="0" tIns="0" rIns="0" bIns="0" rtlCol="0" anchor="ctr"/>
          <a:lstStyle/>
          <a:p>
            <a:pPr marL="0" indent="0">
              <a:buNone/>
            </a:pPr>
            <a:r>
              <a:rPr lang="en-US" sz="1900" b="1" dirty="0">
                <a:solidFill>
                  <a:srgbClr val="B5654A"/>
                </a:solidFill>
                <a:latin typeface="Cambria" pitchFamily="34" charset="0"/>
                <a:ea typeface="Cambria" pitchFamily="34" charset="-122"/>
                <a:cs typeface="Cambria" pitchFamily="34" charset="-120"/>
              </a:rPr>
              <a:t>Smooth</a:t>
            </a:r>
            <a:endParaRPr lang="en-US" sz="1900" dirty="0"/>
          </a:p>
        </p:txBody>
      </p:sp>
      <p:sp>
        <p:nvSpPr>
          <p:cNvPr id="11" name="Text 8"/>
          <p:cNvSpPr/>
          <p:nvPr/>
        </p:nvSpPr>
        <p:spPr>
          <a:xfrm>
            <a:off x="5504688" y="3017520"/>
            <a:ext cx="2889504" cy="237744"/>
          </a:xfrm>
          <a:prstGeom prst="rect">
            <a:avLst/>
          </a:prstGeom>
          <a:noFill/>
          <a:ln/>
        </p:spPr>
        <p:txBody>
          <a:bodyPr wrap="square" lIns="0" tIns="0" rIns="0" bIns="0" rtlCol="0" anchor="ctr"/>
          <a:lstStyle/>
          <a:p>
            <a:pPr marL="0" indent="0">
              <a:buNone/>
            </a:pPr>
            <a:r>
              <a:rPr lang="en-US" sz="1250" b="1" dirty="0">
                <a:solidFill>
                  <a:srgbClr val="1F2329"/>
                </a:solidFill>
                <a:latin typeface="Cambria" pitchFamily="34" charset="0"/>
                <a:ea typeface="Cambria" pitchFamily="34" charset="-122"/>
                <a:cs typeface="Cambria" pitchFamily="34" charset="-120"/>
              </a:rPr>
              <a:t>FNO convergence</a:t>
            </a:r>
            <a:endParaRPr lang="en-US" sz="1250" dirty="0"/>
          </a:p>
        </p:txBody>
      </p:sp>
      <p:sp>
        <p:nvSpPr>
          <p:cNvPr id="12" name="Text 9"/>
          <p:cNvSpPr/>
          <p:nvPr/>
        </p:nvSpPr>
        <p:spPr>
          <a:xfrm>
            <a:off x="5504688" y="3236976"/>
            <a:ext cx="2889504" cy="274320"/>
          </a:xfrm>
          <a:prstGeom prst="rect">
            <a:avLst/>
          </a:prstGeom>
          <a:noFill/>
          <a:ln/>
        </p:spPr>
        <p:txBody>
          <a:bodyPr wrap="square" lIns="0" tIns="0" rIns="0" bIns="0" rtlCol="0" anchor="t"/>
          <a:lstStyle/>
          <a:p>
            <a:pPr marL="0" indent="0">
              <a:lnSpc>
                <a:spcPct val="92000"/>
              </a:lnSpc>
              <a:buNone/>
            </a:pPr>
            <a:r>
              <a:rPr lang="en-US" sz="980" dirty="0">
                <a:solidFill>
                  <a:srgbClr val="727A85"/>
                </a:solidFill>
                <a:latin typeface="Calibri" pitchFamily="34" charset="0"/>
                <a:ea typeface="Calibri" pitchFamily="34" charset="-122"/>
                <a:cs typeface="Calibri" pitchFamily="34" charset="-120"/>
              </a:rPr>
              <a:t>Monotonic; U-Net oscillates at high LR / batch 16 (BatchNorm)</a:t>
            </a:r>
            <a:endParaRPr lang="en-US" sz="980" dirty="0"/>
          </a:p>
        </p:txBody>
      </p:sp>
      <p:sp>
        <p:nvSpPr>
          <p:cNvPr id="13" name="Shape 10"/>
          <p:cNvSpPr/>
          <p:nvPr/>
        </p:nvSpPr>
        <p:spPr>
          <a:xfrm>
            <a:off x="5303520" y="3675888"/>
            <a:ext cx="3291840" cy="969264"/>
          </a:xfrm>
          <a:prstGeom prst="roundRect">
            <a:avLst>
              <a:gd name="adj" fmla="val 4717"/>
            </a:avLst>
          </a:prstGeom>
          <a:solidFill>
            <a:srgbClr val="F4F5F7"/>
          </a:solidFill>
          <a:ln/>
        </p:spPr>
        <p:txBody>
          <a:bodyPr/>
          <a:lstStyle/>
          <a:p>
            <a:endParaRPr lang="de-DE"/>
          </a:p>
        </p:txBody>
      </p:sp>
      <p:sp>
        <p:nvSpPr>
          <p:cNvPr id="14" name="Text 11"/>
          <p:cNvSpPr/>
          <p:nvPr/>
        </p:nvSpPr>
        <p:spPr>
          <a:xfrm>
            <a:off x="5504688" y="3785616"/>
            <a:ext cx="2889504" cy="329184"/>
          </a:xfrm>
          <a:prstGeom prst="rect">
            <a:avLst/>
          </a:prstGeom>
          <a:noFill/>
          <a:ln/>
        </p:spPr>
        <p:txBody>
          <a:bodyPr wrap="square" lIns="0" tIns="0" rIns="0" bIns="0" rtlCol="0" anchor="ctr"/>
          <a:lstStyle/>
          <a:p>
            <a:pPr marL="0" indent="0">
              <a:buNone/>
            </a:pPr>
            <a:r>
              <a:rPr lang="en-US" sz="1900" b="1" dirty="0">
                <a:solidFill>
                  <a:srgbClr val="B5654A"/>
                </a:solidFill>
                <a:latin typeface="Cambria" pitchFamily="34" charset="0"/>
                <a:ea typeface="Cambria" pitchFamily="34" charset="-122"/>
                <a:cs typeface="Cambria" pitchFamily="34" charset="-120"/>
              </a:rPr>
              <a:t>3× → 1.5–2×</a:t>
            </a:r>
            <a:endParaRPr lang="en-US" sz="1900" dirty="0"/>
          </a:p>
        </p:txBody>
      </p:sp>
      <p:sp>
        <p:nvSpPr>
          <p:cNvPr id="15" name="Text 12"/>
          <p:cNvSpPr/>
          <p:nvPr/>
        </p:nvSpPr>
        <p:spPr>
          <a:xfrm>
            <a:off x="5504688" y="4114800"/>
            <a:ext cx="2889504" cy="237744"/>
          </a:xfrm>
          <a:prstGeom prst="rect">
            <a:avLst/>
          </a:prstGeom>
          <a:noFill/>
          <a:ln/>
        </p:spPr>
        <p:txBody>
          <a:bodyPr wrap="square" lIns="0" tIns="0" rIns="0" bIns="0" rtlCol="0" anchor="ctr"/>
          <a:lstStyle/>
          <a:p>
            <a:pPr marL="0" indent="0">
              <a:buNone/>
            </a:pPr>
            <a:r>
              <a:rPr lang="en-US" sz="1250" b="1" dirty="0">
                <a:solidFill>
                  <a:srgbClr val="1F2329"/>
                </a:solidFill>
                <a:latin typeface="Cambria" pitchFamily="34" charset="0"/>
                <a:ea typeface="Cambria" pitchFamily="34" charset="-122"/>
                <a:cs typeface="Cambria" pitchFamily="34" charset="-120"/>
              </a:rPr>
              <a:t>Composite loss</a:t>
            </a:r>
            <a:endParaRPr lang="en-US" sz="1250" dirty="0"/>
          </a:p>
        </p:txBody>
      </p:sp>
      <p:sp>
        <p:nvSpPr>
          <p:cNvPr id="16" name="Text 13"/>
          <p:cNvSpPr/>
          <p:nvPr/>
        </p:nvSpPr>
        <p:spPr>
          <a:xfrm>
            <a:off x="5504688" y="4334256"/>
            <a:ext cx="2889504" cy="274320"/>
          </a:xfrm>
          <a:prstGeom prst="rect">
            <a:avLst/>
          </a:prstGeom>
          <a:noFill/>
          <a:ln/>
        </p:spPr>
        <p:txBody>
          <a:bodyPr wrap="square" lIns="0" tIns="0" rIns="0" bIns="0" rtlCol="0" anchor="t"/>
          <a:lstStyle/>
          <a:p>
            <a:pPr marL="0" indent="0">
              <a:lnSpc>
                <a:spcPct val="92000"/>
              </a:lnSpc>
              <a:buNone/>
            </a:pPr>
            <a:r>
              <a:rPr lang="en-US" sz="980" dirty="0">
                <a:solidFill>
                  <a:srgbClr val="727A85"/>
                </a:solidFill>
                <a:latin typeface="Calibri" pitchFamily="34" charset="0"/>
                <a:ea typeface="Calibri" pitchFamily="34" charset="-122"/>
                <a:cs typeface="Calibri" pitchFamily="34" charset="-120"/>
              </a:rPr>
              <a:t>Cuts U-Net velocity/ψ ratio at batch 8 — but can backfire at 16</a:t>
            </a:r>
            <a:endParaRPr lang="en-US" sz="980" dirty="0"/>
          </a:p>
        </p:txBody>
      </p:sp>
      <p:sp>
        <p:nvSpPr>
          <p:cNvPr id="17" name="Text 14"/>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04 · EXPERIMENTS — RESULT 2 &amp; 3</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Multi-Crystal Generalization</a:t>
            </a:r>
            <a:endParaRPr lang="en-US" sz="2900" dirty="0"/>
          </a:p>
        </p:txBody>
      </p:sp>
      <p:graphicFrame>
        <p:nvGraphicFramePr>
          <p:cNvPr id="4" name="Chart 0"/>
          <p:cNvGraphicFramePr/>
          <p:nvPr/>
        </p:nvGraphicFramePr>
        <p:xfrm>
          <a:off x="502920" y="1417320"/>
          <a:ext cx="480060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504688" y="1463040"/>
            <a:ext cx="3090672" cy="1170432"/>
          </a:xfrm>
          <a:prstGeom prst="roundRect">
            <a:avLst>
              <a:gd name="adj" fmla="val 3906"/>
            </a:avLst>
          </a:prstGeom>
          <a:solidFill>
            <a:srgbClr val="F4F5F7"/>
          </a:solidFill>
          <a:ln/>
        </p:spPr>
        <p:txBody>
          <a:bodyPr/>
          <a:lstStyle/>
          <a:p>
            <a:endParaRPr lang="de-DE"/>
          </a:p>
        </p:txBody>
      </p:sp>
      <p:sp>
        <p:nvSpPr>
          <p:cNvPr id="6" name="Text 3"/>
          <p:cNvSpPr/>
          <p:nvPr/>
        </p:nvSpPr>
        <p:spPr>
          <a:xfrm>
            <a:off x="5687568" y="1554480"/>
            <a:ext cx="2743200" cy="237744"/>
          </a:xfrm>
          <a:prstGeom prst="rect">
            <a:avLst/>
          </a:prstGeom>
          <a:noFill/>
          <a:ln/>
        </p:spPr>
        <p:txBody>
          <a:bodyPr wrap="square" lIns="0" tIns="0" rIns="0" bIns="0" rtlCol="0" anchor="ctr"/>
          <a:lstStyle/>
          <a:p>
            <a:pPr marL="0" indent="0">
              <a:buNone/>
            </a:pPr>
            <a:r>
              <a:rPr lang="en-US" sz="1000" b="1" kern="0" spc="150" dirty="0">
                <a:solidFill>
                  <a:srgbClr val="B5654A"/>
                </a:solidFill>
                <a:latin typeface="Calibri" pitchFamily="34" charset="0"/>
                <a:ea typeface="Calibri" pitchFamily="34" charset="-122"/>
                <a:cs typeface="Calibri" pitchFamily="34" charset="-120"/>
              </a:rPr>
              <a:t>WITHIN DISTRIBUTION</a:t>
            </a:r>
            <a:endParaRPr lang="en-US" sz="1000" dirty="0"/>
          </a:p>
        </p:txBody>
      </p:sp>
      <p:sp>
        <p:nvSpPr>
          <p:cNvPr id="7" name="Text 4"/>
          <p:cNvSpPr/>
          <p:nvPr/>
        </p:nvSpPr>
        <p:spPr>
          <a:xfrm>
            <a:off x="5687568" y="1810512"/>
            <a:ext cx="2743200" cy="777240"/>
          </a:xfrm>
          <a:prstGeom prst="rect">
            <a:avLst/>
          </a:prstGeom>
          <a:noFill/>
          <a:ln/>
        </p:spPr>
        <p:txBody>
          <a:bodyPr wrap="square" lIns="0" tIns="0" rIns="0" bIns="0" rtlCol="0" anchor="t"/>
          <a:lstStyle/>
          <a:p>
            <a:pPr marL="0" indent="0">
              <a:spcAft>
                <a:spcPts val="200"/>
              </a:spcAft>
              <a:buNone/>
            </a:pPr>
            <a:r>
              <a:rPr lang="en-US" sz="1350" b="1" dirty="0">
                <a:solidFill>
                  <a:srgbClr val="1F2329"/>
                </a:solidFill>
                <a:latin typeface="Calibri" pitchFamily="34" charset="0"/>
                <a:ea typeface="Calibri" pitchFamily="34" charset="-122"/>
                <a:cs typeface="Calibri" pitchFamily="34" charset="-120"/>
              </a:rPr>
              <a:t>FNO  4–9 %</a:t>
            </a:r>
            <a:endParaRPr lang="en-US" sz="1350" dirty="0"/>
          </a:p>
          <a:p>
            <a:pPr marL="0" indent="0">
              <a:spcAft>
                <a:spcPts val="300"/>
              </a:spcAft>
              <a:buNone/>
            </a:pPr>
            <a:r>
              <a:rPr lang="en-US" sz="1350" b="1" dirty="0">
                <a:solidFill>
                  <a:srgbClr val="1F2329"/>
                </a:solidFill>
                <a:latin typeface="Calibri" pitchFamily="34" charset="0"/>
                <a:ea typeface="Calibri" pitchFamily="34" charset="-122"/>
                <a:cs typeface="Calibri" pitchFamily="34" charset="-120"/>
              </a:rPr>
              <a:t>U-Net  17–26 %  on ψ</a:t>
            </a:r>
            <a:endParaRPr lang="en-US" sz="1350" dirty="0"/>
          </a:p>
          <a:p>
            <a:pPr marL="0" indent="0">
              <a:lnSpc>
                <a:spcPct val="92000"/>
              </a:lnSpc>
              <a:buNone/>
            </a:pPr>
            <a:r>
              <a:rPr lang="en-US" sz="950" dirty="0">
                <a:solidFill>
                  <a:srgbClr val="727A85"/>
                </a:solidFill>
                <a:latin typeface="Calibri" pitchFamily="34" charset="0"/>
                <a:ea typeface="Calibri" pitchFamily="34" charset="-122"/>
                <a:cs typeface="Calibri" pitchFamily="34" charset="-120"/>
              </a:rPr>
              <a:t>Stokes is linear → fields ≈ superposition; global correlations (FNO's strength) help.</a:t>
            </a:r>
            <a:endParaRPr lang="en-US" sz="1350" dirty="0"/>
          </a:p>
        </p:txBody>
      </p:sp>
      <p:sp>
        <p:nvSpPr>
          <p:cNvPr id="8" name="Shape 5"/>
          <p:cNvSpPr/>
          <p:nvPr/>
        </p:nvSpPr>
        <p:spPr>
          <a:xfrm>
            <a:off x="5504688" y="2743200"/>
            <a:ext cx="3090672" cy="1828800"/>
          </a:xfrm>
          <a:prstGeom prst="roundRect">
            <a:avLst>
              <a:gd name="adj" fmla="val 2500"/>
            </a:avLst>
          </a:prstGeom>
          <a:solidFill>
            <a:srgbClr val="23272F"/>
          </a:solidFill>
          <a:ln/>
          <a:effectLst>
            <a:outerShdw blurRad="76200" dist="25400" dir="5400000" algn="bl" rotWithShape="0">
              <a:srgbClr val="000000">
                <a:alpha val="10000"/>
              </a:srgbClr>
            </a:outerShdw>
          </a:effectLst>
        </p:spPr>
        <p:txBody>
          <a:bodyPr/>
          <a:lstStyle/>
          <a:p>
            <a:endParaRPr lang="de-DE"/>
          </a:p>
        </p:txBody>
      </p:sp>
      <p:sp>
        <p:nvSpPr>
          <p:cNvPr id="9" name="Text 6"/>
          <p:cNvSpPr/>
          <p:nvPr/>
        </p:nvSpPr>
        <p:spPr>
          <a:xfrm>
            <a:off x="5687568" y="2852928"/>
            <a:ext cx="2743200" cy="237744"/>
          </a:xfrm>
          <a:prstGeom prst="rect">
            <a:avLst/>
          </a:prstGeom>
          <a:noFill/>
          <a:ln/>
        </p:spPr>
        <p:txBody>
          <a:bodyPr wrap="square" lIns="0" tIns="0" rIns="0" bIns="0" rtlCol="0" anchor="ctr"/>
          <a:lstStyle/>
          <a:p>
            <a:pPr marL="0" indent="0">
              <a:buNone/>
            </a:pPr>
            <a:r>
              <a:rPr lang="en-US" sz="1000" b="1" kern="0" spc="100" dirty="0">
                <a:solidFill>
                  <a:srgbClr val="CF8A72"/>
                </a:solidFill>
                <a:latin typeface="Calibri" pitchFamily="34" charset="0"/>
                <a:ea typeface="Calibri" pitchFamily="34" charset="-122"/>
                <a:cs typeface="Calibri" pitchFamily="34" charset="-120"/>
              </a:rPr>
              <a:t>KEY FINDING — OOD REACH SCALES</a:t>
            </a:r>
            <a:endParaRPr lang="en-US" sz="1000" dirty="0"/>
          </a:p>
        </p:txBody>
      </p:sp>
      <p:sp>
        <p:nvSpPr>
          <p:cNvPr id="10" name="Text 7"/>
          <p:cNvSpPr/>
          <p:nvPr/>
        </p:nvSpPr>
        <p:spPr>
          <a:xfrm>
            <a:off x="5687568" y="3127248"/>
            <a:ext cx="2743200" cy="1371600"/>
          </a:xfrm>
          <a:prstGeom prst="rect">
            <a:avLst/>
          </a:prstGeom>
          <a:noFill/>
          <a:ln/>
        </p:spPr>
        <p:txBody>
          <a:bodyPr wrap="square" lIns="0" tIns="0" rIns="0" bIns="0" rtlCol="0" anchor="t"/>
          <a:lstStyle/>
          <a:p>
            <a:pPr marL="0" indent="0">
              <a:lnSpc>
                <a:spcPct val="100000"/>
              </a:lnSpc>
              <a:spcAft>
                <a:spcPts val="500"/>
              </a:spcAft>
              <a:buNone/>
            </a:pPr>
            <a:r>
              <a:rPr lang="en-US" sz="1100" dirty="0">
                <a:solidFill>
                  <a:srgbClr val="EAECEF"/>
                </a:solidFill>
                <a:latin typeface="Calibri" pitchFamily="34" charset="0"/>
                <a:ea typeface="Calibri" pitchFamily="34" charset="-122"/>
                <a:cs typeface="Calibri" pitchFamily="34" charset="-120"/>
              </a:rPr>
              <a:t>Exp 2 (≤10):  FNO stays &lt; 10 % up to n ≈ 20</a:t>
            </a:r>
            <a:endParaRPr lang="en-US" sz="1100" dirty="0"/>
          </a:p>
          <a:p>
            <a:pPr marL="0" indent="0">
              <a:lnSpc>
                <a:spcPct val="100000"/>
              </a:lnSpc>
              <a:spcAft>
                <a:spcPts val="500"/>
              </a:spcAft>
              <a:buNone/>
            </a:pPr>
            <a:r>
              <a:rPr lang="en-US" sz="1100" dirty="0">
                <a:solidFill>
                  <a:srgbClr val="EAECEF"/>
                </a:solidFill>
                <a:latin typeface="Calibri" pitchFamily="34" charset="0"/>
                <a:ea typeface="Calibri" pitchFamily="34" charset="-122"/>
                <a:cs typeface="Calibri" pitchFamily="34" charset="-120"/>
              </a:rPr>
              <a:t>Exp 3 (≤25):  reaches n ≈ 35 — broader training, longer reach</a:t>
            </a:r>
            <a:endParaRPr lang="en-US" sz="1100" dirty="0"/>
          </a:p>
          <a:p>
            <a:pPr marL="0" indent="0">
              <a:lnSpc>
                <a:spcPct val="100000"/>
              </a:lnSpc>
              <a:buNone/>
            </a:pPr>
            <a:r>
              <a:rPr lang="en-US" sz="1100" b="1" dirty="0">
                <a:solidFill>
                  <a:srgbClr val="CF8A72"/>
                </a:solidFill>
                <a:latin typeface="Calibri" pitchFamily="34" charset="0"/>
                <a:ea typeface="Calibri" pitchFamily="34" charset="-122"/>
                <a:cs typeface="Calibri" pitchFamily="34" charset="-120"/>
              </a:rPr>
              <a:t>At n = 50: FNO 12.4 % vs. U-Net 21.5 %</a:t>
            </a:r>
            <a:endParaRPr lang="en-US" sz="1100" dirty="0"/>
          </a:p>
        </p:txBody>
      </p:sp>
      <p:sp>
        <p:nvSpPr>
          <p:cNvPr id="11" name="Text 8"/>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04 · EXPERIMENTS — RESULT 4</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Crystal-Size Generalization</a:t>
            </a:r>
            <a:endParaRPr lang="en-US" sz="2900" dirty="0"/>
          </a:p>
        </p:txBody>
      </p:sp>
      <p:sp>
        <p:nvSpPr>
          <p:cNvPr id="4" name="Text 2"/>
          <p:cNvSpPr/>
          <p:nvPr/>
        </p:nvSpPr>
        <p:spPr>
          <a:xfrm>
            <a:off x="566928" y="1280160"/>
            <a:ext cx="8028432" cy="310896"/>
          </a:xfrm>
          <a:prstGeom prst="rect">
            <a:avLst/>
          </a:prstGeom>
          <a:noFill/>
          <a:ln/>
        </p:spPr>
        <p:txBody>
          <a:bodyPr wrap="square" lIns="0" tIns="0" rIns="0" bIns="0" rtlCol="0" anchor="ctr"/>
          <a:lstStyle/>
          <a:p>
            <a:pPr marL="0" indent="0">
              <a:buNone/>
            </a:pPr>
            <a:r>
              <a:rPr lang="en-US" sz="1350" b="1" i="1" dirty="0">
                <a:solidFill>
                  <a:srgbClr val="8F4631"/>
                </a:solidFill>
                <a:latin typeface="Calibri" pitchFamily="34" charset="0"/>
                <a:ea typeface="Calibri" pitchFamily="34" charset="-122"/>
                <a:cs typeface="Calibri" pitchFamily="34" charset="-120"/>
              </a:rPr>
              <a:t>The most surprising result: the architectural ranking reverses.</a:t>
            </a:r>
            <a:endParaRPr lang="en-US" sz="1350" dirty="0"/>
          </a:p>
        </p:txBody>
      </p:sp>
      <p:graphicFrame>
        <p:nvGraphicFramePr>
          <p:cNvPr id="5" name="Chart 0"/>
          <p:cNvGraphicFramePr/>
          <p:nvPr/>
        </p:nvGraphicFramePr>
        <p:xfrm>
          <a:off x="457200" y="1691640"/>
          <a:ext cx="470916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394960" y="1691640"/>
            <a:ext cx="3200400" cy="1371600"/>
          </a:xfrm>
          <a:prstGeom prst="roundRect">
            <a:avLst>
              <a:gd name="adj" fmla="val 3333"/>
            </a:avLst>
          </a:prstGeom>
          <a:solidFill>
            <a:srgbClr val="F4F5F7"/>
          </a:solidFill>
          <a:ln/>
        </p:spPr>
        <p:txBody>
          <a:bodyPr/>
          <a:lstStyle/>
          <a:p>
            <a:endParaRPr lang="de-DE"/>
          </a:p>
        </p:txBody>
      </p:sp>
      <p:sp>
        <p:nvSpPr>
          <p:cNvPr id="7" name="Text 4"/>
          <p:cNvSpPr/>
          <p:nvPr/>
        </p:nvSpPr>
        <p:spPr>
          <a:xfrm>
            <a:off x="5577840" y="1792224"/>
            <a:ext cx="2834640" cy="237744"/>
          </a:xfrm>
          <a:prstGeom prst="rect">
            <a:avLst/>
          </a:prstGeom>
          <a:noFill/>
          <a:ln/>
        </p:spPr>
        <p:txBody>
          <a:bodyPr wrap="square" lIns="0" tIns="0" rIns="0" bIns="0" rtlCol="0" anchor="ctr"/>
          <a:lstStyle/>
          <a:p>
            <a:pPr marL="0" indent="0">
              <a:buNone/>
            </a:pPr>
            <a:r>
              <a:rPr lang="en-US" sz="1000" b="1" kern="0" spc="150" dirty="0">
                <a:solidFill>
                  <a:srgbClr val="4E6E81"/>
                </a:solidFill>
                <a:latin typeface="Calibri" pitchFamily="34" charset="0"/>
                <a:ea typeface="Calibri" pitchFamily="34" charset="-122"/>
                <a:cs typeface="Calibri" pitchFamily="34" charset="-120"/>
              </a:rPr>
              <a:t>THE CAUSE</a:t>
            </a:r>
            <a:endParaRPr lang="en-US" sz="1000" dirty="0"/>
          </a:p>
        </p:txBody>
      </p:sp>
      <p:sp>
        <p:nvSpPr>
          <p:cNvPr id="8" name="Text 5"/>
          <p:cNvSpPr/>
          <p:nvPr/>
        </p:nvSpPr>
        <p:spPr>
          <a:xfrm>
            <a:off x="5577840" y="2048256"/>
            <a:ext cx="2834640" cy="960120"/>
          </a:xfrm>
          <a:prstGeom prst="rect">
            <a:avLst/>
          </a:prstGeom>
          <a:noFill/>
          <a:ln/>
        </p:spPr>
        <p:txBody>
          <a:bodyPr wrap="square" lIns="0" tIns="0" rIns="0" bIns="0" rtlCol="0" anchor="t"/>
          <a:lstStyle/>
          <a:p>
            <a:pPr marL="0" indent="0">
              <a:lnSpc>
                <a:spcPct val="98000"/>
              </a:lnSpc>
              <a:buNone/>
            </a:pPr>
            <a:r>
              <a:rPr lang="en-US" sz="1050" dirty="0">
                <a:solidFill>
                  <a:srgbClr val="3F454D"/>
                </a:solidFill>
                <a:latin typeface="Calibri" pitchFamily="34" charset="0"/>
                <a:ea typeface="Calibri" pitchFamily="34" charset="-122"/>
                <a:cs typeface="Calibri" pitchFamily="34" charset="-120"/>
              </a:rPr>
              <a:t>Fixed spectral truncation at k_max = 16. Large crystals create high-frequency boundary layers above the cutoff — the FNO simply cannot represent them. The U-Net's local filters stay geometrically similar at any size.</a:t>
            </a:r>
            <a:endParaRPr lang="en-US" sz="1050" dirty="0"/>
          </a:p>
        </p:txBody>
      </p:sp>
      <p:sp>
        <p:nvSpPr>
          <p:cNvPr id="9" name="Shape 6"/>
          <p:cNvSpPr/>
          <p:nvPr/>
        </p:nvSpPr>
        <p:spPr>
          <a:xfrm>
            <a:off x="5394960" y="3200400"/>
            <a:ext cx="3200400" cy="1463040"/>
          </a:xfrm>
          <a:prstGeom prst="roundRect">
            <a:avLst>
              <a:gd name="adj" fmla="val 3125"/>
            </a:avLst>
          </a:prstGeom>
          <a:solidFill>
            <a:srgbClr val="23272F"/>
          </a:solidFill>
          <a:ln/>
          <a:effectLst>
            <a:outerShdw blurRad="76200" dist="25400" dir="5400000" algn="bl" rotWithShape="0">
              <a:srgbClr val="000000">
                <a:alpha val="10000"/>
              </a:srgbClr>
            </a:outerShdw>
          </a:effectLst>
        </p:spPr>
        <p:txBody>
          <a:bodyPr/>
          <a:lstStyle/>
          <a:p>
            <a:endParaRPr lang="de-DE"/>
          </a:p>
        </p:txBody>
      </p:sp>
      <p:sp>
        <p:nvSpPr>
          <p:cNvPr id="10" name="Text 7"/>
          <p:cNvSpPr/>
          <p:nvPr/>
        </p:nvSpPr>
        <p:spPr>
          <a:xfrm>
            <a:off x="5577840" y="3310128"/>
            <a:ext cx="2834640" cy="237744"/>
          </a:xfrm>
          <a:prstGeom prst="rect">
            <a:avLst/>
          </a:prstGeom>
          <a:noFill/>
          <a:ln/>
        </p:spPr>
        <p:txBody>
          <a:bodyPr wrap="square" lIns="0" tIns="0" rIns="0" bIns="0" rtlCol="0" anchor="ctr"/>
          <a:lstStyle/>
          <a:p>
            <a:pPr marL="0" indent="0">
              <a:buNone/>
            </a:pPr>
            <a:r>
              <a:rPr lang="en-US" sz="1000" b="1" kern="0" spc="150" dirty="0">
                <a:solidFill>
                  <a:srgbClr val="CF8A72"/>
                </a:solidFill>
                <a:latin typeface="Calibri" pitchFamily="34" charset="0"/>
                <a:ea typeface="Calibri" pitchFamily="34" charset="-122"/>
                <a:cs typeface="Calibri" pitchFamily="34" charset="-120"/>
              </a:rPr>
              <a:t>THE REMEDY</a:t>
            </a:r>
            <a:endParaRPr lang="en-US" sz="1000" dirty="0"/>
          </a:p>
        </p:txBody>
      </p:sp>
      <p:sp>
        <p:nvSpPr>
          <p:cNvPr id="11" name="Text 8"/>
          <p:cNvSpPr/>
          <p:nvPr/>
        </p:nvSpPr>
        <p:spPr>
          <a:xfrm>
            <a:off x="5577840" y="3566160"/>
            <a:ext cx="2834640" cy="1005840"/>
          </a:xfrm>
          <a:prstGeom prst="rect">
            <a:avLst/>
          </a:prstGeom>
          <a:noFill/>
          <a:ln/>
        </p:spPr>
        <p:txBody>
          <a:bodyPr wrap="square" lIns="0" tIns="0" rIns="0" bIns="0" rtlCol="0" anchor="t"/>
          <a:lstStyle/>
          <a:p>
            <a:pPr marL="0" indent="0">
              <a:spcAft>
                <a:spcPts val="400"/>
              </a:spcAft>
              <a:buNone/>
            </a:pPr>
            <a:r>
              <a:rPr lang="en-US" sz="2200" b="1" dirty="0">
                <a:solidFill>
                  <a:srgbClr val="CF8A72"/>
                </a:solidFill>
                <a:latin typeface="Calibri" pitchFamily="34" charset="0"/>
                <a:ea typeface="Calibri" pitchFamily="34" charset="-122"/>
                <a:cs typeface="Calibri" pitchFamily="34" charset="-120"/>
              </a:rPr>
              <a:t>71 %  →  10.4 %</a:t>
            </a:r>
            <a:endParaRPr lang="en-US" sz="2200" dirty="0"/>
          </a:p>
          <a:p>
            <a:pPr marL="0" indent="0">
              <a:lnSpc>
                <a:spcPct val="98000"/>
              </a:lnSpc>
              <a:buNone/>
            </a:pPr>
            <a:r>
              <a:rPr lang="en-US" sz="1050" dirty="0">
                <a:solidFill>
                  <a:srgbClr val="EAECEF"/>
                </a:solidFill>
                <a:latin typeface="Calibri" pitchFamily="34" charset="0"/>
                <a:ea typeface="Calibri" pitchFamily="34" charset="-122"/>
                <a:cs typeface="Calibri" pitchFamily="34" charset="-120"/>
              </a:rPr>
              <a:t>An FNO trained on three radii {0.02, 0.05, 0.08} fixes it — no architectural change. Data diversity beats spectral redesign.</a:t>
            </a:r>
            <a:endParaRPr lang="en-US" sz="2200" dirty="0"/>
          </a:p>
        </p:txBody>
      </p:sp>
      <p:sp>
        <p:nvSpPr>
          <p:cNvPr id="12" name="Text 9"/>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21792" y="1371600"/>
            <a:ext cx="2743200" cy="1371600"/>
          </a:xfrm>
          <a:prstGeom prst="rect">
            <a:avLst/>
          </a:prstGeom>
          <a:noFill/>
          <a:ln/>
        </p:spPr>
        <p:txBody>
          <a:bodyPr wrap="square" lIns="0" tIns="0" rIns="0" bIns="0" rtlCol="0" anchor="ctr"/>
          <a:lstStyle/>
          <a:p>
            <a:pPr marL="0" indent="0">
              <a:buNone/>
            </a:pPr>
            <a:r>
              <a:rPr lang="en-US" sz="11000" b="1" dirty="0">
                <a:solidFill>
                  <a:srgbClr val="B5654A"/>
                </a:solidFill>
                <a:latin typeface="Cambria" pitchFamily="34" charset="0"/>
                <a:ea typeface="Cambria" pitchFamily="34" charset="-122"/>
                <a:cs typeface="Cambria" pitchFamily="34" charset="-120"/>
              </a:rPr>
              <a:t>05</a:t>
            </a:r>
            <a:endParaRPr lang="en-US" sz="11000" dirty="0"/>
          </a:p>
        </p:txBody>
      </p:sp>
      <p:sp>
        <p:nvSpPr>
          <p:cNvPr id="3" name="Text 1"/>
          <p:cNvSpPr/>
          <p:nvPr/>
        </p:nvSpPr>
        <p:spPr>
          <a:xfrm>
            <a:off x="676656" y="2788920"/>
            <a:ext cx="7315200" cy="292608"/>
          </a:xfrm>
          <a:prstGeom prst="rect">
            <a:avLst/>
          </a:prstGeom>
          <a:noFill/>
          <a:ln/>
        </p:spPr>
        <p:txBody>
          <a:bodyPr wrap="square" lIns="0" tIns="0" rIns="0" bIns="0" rtlCol="0" anchor="ctr"/>
          <a:lstStyle/>
          <a:p>
            <a:pPr marL="0" indent="0">
              <a:buNone/>
            </a:pPr>
            <a:r>
              <a:rPr lang="en-US" sz="1300" b="1" kern="0" spc="400" dirty="0">
                <a:solidFill>
                  <a:srgbClr val="9AA1AB"/>
                </a:solidFill>
                <a:latin typeface="Calibri" pitchFamily="34" charset="0"/>
                <a:ea typeface="Calibri" pitchFamily="34" charset="-122"/>
                <a:cs typeface="Calibri" pitchFamily="34" charset="-120"/>
              </a:rPr>
              <a:t>SECTION FIVE</a:t>
            </a:r>
            <a:endParaRPr lang="en-US" sz="1300" dirty="0"/>
          </a:p>
        </p:txBody>
      </p:sp>
      <p:sp>
        <p:nvSpPr>
          <p:cNvPr id="4" name="Text 2"/>
          <p:cNvSpPr/>
          <p:nvPr/>
        </p:nvSpPr>
        <p:spPr>
          <a:xfrm>
            <a:off x="640080" y="3063240"/>
            <a:ext cx="7680960" cy="822960"/>
          </a:xfrm>
          <a:prstGeom prst="rect">
            <a:avLst/>
          </a:prstGeom>
          <a:noFill/>
          <a:ln/>
        </p:spPr>
        <p:txBody>
          <a:bodyPr wrap="square" lIns="0" tIns="0" rIns="0" bIns="0" rtlCol="0" anchor="ctr"/>
          <a:lstStyle/>
          <a:p>
            <a:pPr marL="0" indent="0">
              <a:buNone/>
            </a:pPr>
            <a:r>
              <a:rPr lang="en-US" sz="3800" b="1" dirty="0">
                <a:solidFill>
                  <a:srgbClr val="EAECEF"/>
                </a:solidFill>
                <a:latin typeface="Cambria" pitchFamily="34" charset="0"/>
                <a:ea typeface="Cambria" pitchFamily="34" charset="-122"/>
                <a:cs typeface="Cambria" pitchFamily="34" charset="-120"/>
              </a:rPr>
              <a:t>Discussion</a:t>
            </a:r>
            <a:endParaRPr lang="en-US" sz="3800" dirty="0"/>
          </a:p>
        </p:txBody>
      </p:sp>
      <p:sp>
        <p:nvSpPr>
          <p:cNvPr id="5" name="Text 3"/>
          <p:cNvSpPr/>
          <p:nvPr/>
        </p:nvSpPr>
        <p:spPr>
          <a:xfrm>
            <a:off x="658368" y="3931920"/>
            <a:ext cx="7315200" cy="640080"/>
          </a:xfrm>
          <a:prstGeom prst="rect">
            <a:avLst/>
          </a:prstGeom>
          <a:noFill/>
          <a:ln/>
        </p:spPr>
        <p:txBody>
          <a:bodyPr wrap="square" lIns="0" tIns="0" rIns="0" bIns="0" rtlCol="0" anchor="ctr"/>
          <a:lstStyle/>
          <a:p>
            <a:pPr marL="0" indent="0">
              <a:buNone/>
            </a:pPr>
            <a:r>
              <a:rPr lang="en-US" sz="1500" i="1" dirty="0">
                <a:solidFill>
                  <a:srgbClr val="9AA1AB"/>
                </a:solidFill>
                <a:latin typeface="Calibri" pitchFamily="34" charset="0"/>
                <a:ea typeface="Calibri" pitchFamily="34" charset="-122"/>
                <a:cs typeface="Calibri" pitchFamily="34" charset="-120"/>
              </a:rPr>
              <a:t>Causes, implications, and limitations.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05 · DISCUSSION</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Causes &amp; Implications</a:t>
            </a:r>
            <a:endParaRPr lang="en-US" sz="2900" dirty="0"/>
          </a:p>
        </p:txBody>
      </p:sp>
      <p:sp>
        <p:nvSpPr>
          <p:cNvPr id="4" name="Shape 2"/>
          <p:cNvSpPr/>
          <p:nvPr/>
        </p:nvSpPr>
        <p:spPr>
          <a:xfrm>
            <a:off x="566928" y="1371600"/>
            <a:ext cx="5394960" cy="658368"/>
          </a:xfrm>
          <a:prstGeom prst="roundRect">
            <a:avLst>
              <a:gd name="adj" fmla="val 6944"/>
            </a:avLst>
          </a:prstGeom>
          <a:solidFill>
            <a:srgbClr val="F4F5F7"/>
          </a:solidFill>
          <a:ln/>
        </p:spPr>
        <p:txBody>
          <a:bodyPr/>
          <a:lstStyle/>
          <a:p>
            <a:endParaRPr lang="de-DE"/>
          </a:p>
        </p:txBody>
      </p:sp>
      <p:sp>
        <p:nvSpPr>
          <p:cNvPr id="5" name="Shape 3"/>
          <p:cNvSpPr/>
          <p:nvPr/>
        </p:nvSpPr>
        <p:spPr>
          <a:xfrm>
            <a:off x="731520" y="1499616"/>
            <a:ext cx="402336" cy="402336"/>
          </a:xfrm>
          <a:prstGeom prst="ellipse">
            <a:avLst/>
          </a:prstGeom>
          <a:solidFill>
            <a:srgbClr val="B5654A"/>
          </a:solidFill>
          <a:ln/>
        </p:spPr>
        <p:txBody>
          <a:bodyPr/>
          <a:lstStyle/>
          <a:p>
            <a:endParaRPr lang="de-DE"/>
          </a:p>
        </p:txBody>
      </p:sp>
      <p:sp>
        <p:nvSpPr>
          <p:cNvPr id="6" name="Text 4"/>
          <p:cNvSpPr/>
          <p:nvPr/>
        </p:nvSpPr>
        <p:spPr>
          <a:xfrm>
            <a:off x="731520" y="1499616"/>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280160" y="1444752"/>
            <a:ext cx="4526280" cy="256032"/>
          </a:xfrm>
          <a:prstGeom prst="rect">
            <a:avLst/>
          </a:prstGeom>
          <a:noFill/>
          <a:ln/>
        </p:spPr>
        <p:txBody>
          <a:bodyPr wrap="square" lIns="0" tIns="0" rIns="0" bIns="0" rtlCol="0" anchor="ctr"/>
          <a:lstStyle/>
          <a:p>
            <a:pPr marL="0" indent="0">
              <a:buNone/>
            </a:pPr>
            <a:r>
              <a:rPr lang="en-US" sz="1250" b="1" dirty="0">
                <a:solidFill>
                  <a:srgbClr val="1F2329"/>
                </a:solidFill>
                <a:latin typeface="Cambria" pitchFamily="34" charset="0"/>
                <a:ea typeface="Cambria" pitchFamily="34" charset="-122"/>
                <a:cs typeface="Cambria" pitchFamily="34" charset="-120"/>
              </a:rPr>
              <a:t>FNO stability vs. U-Net oscillations</a:t>
            </a:r>
            <a:endParaRPr lang="en-US" sz="1250" dirty="0"/>
          </a:p>
        </p:txBody>
      </p:sp>
      <p:sp>
        <p:nvSpPr>
          <p:cNvPr id="8" name="Text 6"/>
          <p:cNvSpPr/>
          <p:nvPr/>
        </p:nvSpPr>
        <p:spPr>
          <a:xfrm>
            <a:off x="1280160" y="1682496"/>
            <a:ext cx="4526280" cy="320040"/>
          </a:xfrm>
          <a:prstGeom prst="rect">
            <a:avLst/>
          </a:prstGeom>
          <a:noFill/>
          <a:ln/>
        </p:spPr>
        <p:txBody>
          <a:bodyPr wrap="square" lIns="0" tIns="0" rIns="0" bIns="0" rtlCol="0" anchor="t"/>
          <a:lstStyle/>
          <a:p>
            <a:pPr marL="0" indent="0">
              <a:lnSpc>
                <a:spcPct val="92000"/>
              </a:lnSpc>
              <a:buNone/>
            </a:pPr>
            <a:r>
              <a:rPr lang="en-US" sz="980" dirty="0">
                <a:solidFill>
                  <a:srgbClr val="727A85"/>
                </a:solidFill>
                <a:latin typeface="Calibri" pitchFamily="34" charset="0"/>
                <a:ea typeface="Calibri" pitchFamily="34" charset="-122"/>
                <a:cs typeface="Calibri" pitchFamily="34" charset="-120"/>
              </a:rPr>
              <a:t>BatchNorm widens the spread of effective learning rates across layers; the FNO, without it, converges monotonically.</a:t>
            </a:r>
            <a:endParaRPr lang="en-US" sz="980" dirty="0"/>
          </a:p>
        </p:txBody>
      </p:sp>
      <p:sp>
        <p:nvSpPr>
          <p:cNvPr id="9" name="Shape 7"/>
          <p:cNvSpPr/>
          <p:nvPr/>
        </p:nvSpPr>
        <p:spPr>
          <a:xfrm>
            <a:off x="566928" y="2107692"/>
            <a:ext cx="5394960" cy="658368"/>
          </a:xfrm>
          <a:prstGeom prst="roundRect">
            <a:avLst>
              <a:gd name="adj" fmla="val 6944"/>
            </a:avLst>
          </a:prstGeom>
          <a:solidFill>
            <a:srgbClr val="F4F5F7"/>
          </a:solidFill>
          <a:ln/>
        </p:spPr>
        <p:txBody>
          <a:bodyPr/>
          <a:lstStyle/>
          <a:p>
            <a:endParaRPr lang="de-DE"/>
          </a:p>
        </p:txBody>
      </p:sp>
      <p:sp>
        <p:nvSpPr>
          <p:cNvPr id="10" name="Shape 8"/>
          <p:cNvSpPr/>
          <p:nvPr/>
        </p:nvSpPr>
        <p:spPr>
          <a:xfrm>
            <a:off x="731520" y="2235708"/>
            <a:ext cx="402336" cy="402336"/>
          </a:xfrm>
          <a:prstGeom prst="ellipse">
            <a:avLst/>
          </a:prstGeom>
          <a:solidFill>
            <a:srgbClr val="B5654A"/>
          </a:solidFill>
          <a:ln/>
        </p:spPr>
        <p:txBody>
          <a:bodyPr/>
          <a:lstStyle/>
          <a:p>
            <a:endParaRPr lang="de-DE"/>
          </a:p>
        </p:txBody>
      </p:sp>
      <p:sp>
        <p:nvSpPr>
          <p:cNvPr id="11" name="Text 9"/>
          <p:cNvSpPr/>
          <p:nvPr/>
        </p:nvSpPr>
        <p:spPr>
          <a:xfrm>
            <a:off x="731520" y="223570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280160" y="2180844"/>
            <a:ext cx="4526280" cy="256032"/>
          </a:xfrm>
          <a:prstGeom prst="rect">
            <a:avLst/>
          </a:prstGeom>
          <a:noFill/>
          <a:ln/>
        </p:spPr>
        <p:txBody>
          <a:bodyPr wrap="square" lIns="0" tIns="0" rIns="0" bIns="0" rtlCol="0" anchor="ctr"/>
          <a:lstStyle/>
          <a:p>
            <a:pPr marL="0" indent="0">
              <a:buNone/>
            </a:pPr>
            <a:r>
              <a:rPr lang="en-US" sz="1250" b="1" dirty="0">
                <a:solidFill>
                  <a:srgbClr val="1F2329"/>
                </a:solidFill>
                <a:latin typeface="Cambria" pitchFamily="34" charset="0"/>
                <a:ea typeface="Cambria" pitchFamily="34" charset="-122"/>
                <a:cs typeface="Cambria" pitchFamily="34" charset="-120"/>
              </a:rPr>
              <a:t>Spectral truncation k_max = 16</a:t>
            </a:r>
            <a:endParaRPr lang="en-US" sz="1250" dirty="0"/>
          </a:p>
        </p:txBody>
      </p:sp>
      <p:sp>
        <p:nvSpPr>
          <p:cNvPr id="13" name="Text 11"/>
          <p:cNvSpPr/>
          <p:nvPr/>
        </p:nvSpPr>
        <p:spPr>
          <a:xfrm>
            <a:off x="1280160" y="2418588"/>
            <a:ext cx="4526280" cy="320040"/>
          </a:xfrm>
          <a:prstGeom prst="rect">
            <a:avLst/>
          </a:prstGeom>
          <a:noFill/>
          <a:ln/>
        </p:spPr>
        <p:txBody>
          <a:bodyPr wrap="square" lIns="0" tIns="0" rIns="0" bIns="0" rtlCol="0" anchor="t"/>
          <a:lstStyle/>
          <a:p>
            <a:pPr marL="0" indent="0">
              <a:lnSpc>
                <a:spcPct val="92000"/>
              </a:lnSpc>
              <a:buNone/>
            </a:pPr>
            <a:r>
              <a:rPr lang="en-US" sz="980" dirty="0">
                <a:solidFill>
                  <a:srgbClr val="727A85"/>
                </a:solidFill>
                <a:latin typeface="Calibri" pitchFamily="34" charset="0"/>
                <a:ea typeface="Calibri" pitchFamily="34" charset="-122"/>
                <a:cs typeface="Calibri" pitchFamily="34" charset="-120"/>
              </a:rPr>
              <a:t>Precisely what causes the large-crystal failure — boundary layers need higher modes. Remedy: broader data or adaptive modes.</a:t>
            </a:r>
            <a:endParaRPr lang="en-US" sz="980" dirty="0"/>
          </a:p>
        </p:txBody>
      </p:sp>
      <p:sp>
        <p:nvSpPr>
          <p:cNvPr id="14" name="Shape 12"/>
          <p:cNvSpPr/>
          <p:nvPr/>
        </p:nvSpPr>
        <p:spPr>
          <a:xfrm>
            <a:off x="566928" y="2843784"/>
            <a:ext cx="5394960" cy="658368"/>
          </a:xfrm>
          <a:prstGeom prst="roundRect">
            <a:avLst>
              <a:gd name="adj" fmla="val 6944"/>
            </a:avLst>
          </a:prstGeom>
          <a:solidFill>
            <a:srgbClr val="F4F5F7"/>
          </a:solidFill>
          <a:ln/>
        </p:spPr>
        <p:txBody>
          <a:bodyPr/>
          <a:lstStyle/>
          <a:p>
            <a:endParaRPr lang="de-DE"/>
          </a:p>
        </p:txBody>
      </p:sp>
      <p:sp>
        <p:nvSpPr>
          <p:cNvPr id="15" name="Shape 13"/>
          <p:cNvSpPr/>
          <p:nvPr/>
        </p:nvSpPr>
        <p:spPr>
          <a:xfrm>
            <a:off x="731520" y="2971800"/>
            <a:ext cx="402336" cy="402336"/>
          </a:xfrm>
          <a:prstGeom prst="ellipse">
            <a:avLst/>
          </a:prstGeom>
          <a:solidFill>
            <a:srgbClr val="B5654A"/>
          </a:solidFill>
          <a:ln/>
        </p:spPr>
        <p:txBody>
          <a:bodyPr/>
          <a:lstStyle/>
          <a:p>
            <a:endParaRPr lang="de-DE"/>
          </a:p>
        </p:txBody>
      </p:sp>
      <p:sp>
        <p:nvSpPr>
          <p:cNvPr id="16" name="Text 14"/>
          <p:cNvSpPr/>
          <p:nvPr/>
        </p:nvSpPr>
        <p:spPr>
          <a:xfrm>
            <a:off x="731520" y="297180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280160" y="2916936"/>
            <a:ext cx="4526280" cy="256032"/>
          </a:xfrm>
          <a:prstGeom prst="rect">
            <a:avLst/>
          </a:prstGeom>
          <a:noFill/>
          <a:ln/>
        </p:spPr>
        <p:txBody>
          <a:bodyPr wrap="square" lIns="0" tIns="0" rIns="0" bIns="0" rtlCol="0" anchor="ctr"/>
          <a:lstStyle/>
          <a:p>
            <a:pPr marL="0" indent="0">
              <a:buNone/>
            </a:pPr>
            <a:r>
              <a:rPr lang="en-US" sz="1250" b="1" dirty="0">
                <a:solidFill>
                  <a:srgbClr val="1F2329"/>
                </a:solidFill>
                <a:latin typeface="Cambria" pitchFamily="34" charset="0"/>
                <a:ea typeface="Cambria" pitchFamily="34" charset="-122"/>
                <a:cs typeface="Cambria" pitchFamily="34" charset="-120"/>
              </a:rPr>
              <a:t>Stream function as inductive bias</a:t>
            </a:r>
            <a:endParaRPr lang="en-US" sz="1250" dirty="0"/>
          </a:p>
        </p:txBody>
      </p:sp>
      <p:sp>
        <p:nvSpPr>
          <p:cNvPr id="18" name="Text 16"/>
          <p:cNvSpPr/>
          <p:nvPr/>
        </p:nvSpPr>
        <p:spPr>
          <a:xfrm>
            <a:off x="1280160" y="3154680"/>
            <a:ext cx="4526280" cy="320040"/>
          </a:xfrm>
          <a:prstGeom prst="rect">
            <a:avLst/>
          </a:prstGeom>
          <a:noFill/>
          <a:ln/>
        </p:spPr>
        <p:txBody>
          <a:bodyPr wrap="square" lIns="0" tIns="0" rIns="0" bIns="0" rtlCol="0" anchor="t"/>
          <a:lstStyle/>
          <a:p>
            <a:pPr marL="0" indent="0">
              <a:lnSpc>
                <a:spcPct val="92000"/>
              </a:lnSpc>
              <a:buNone/>
            </a:pPr>
            <a:r>
              <a:rPr lang="en-US" sz="980" dirty="0">
                <a:solidFill>
                  <a:srgbClr val="727A85"/>
                </a:solidFill>
                <a:latin typeface="Calibri" pitchFamily="34" charset="0"/>
                <a:ea typeface="Calibri" pitchFamily="34" charset="-122"/>
                <a:cs typeface="Calibri" pitchFamily="34" charset="-120"/>
              </a:rPr>
              <a:t>Predicting ψ guarantees exact incompressibility: divergence RMS ≈ 10⁻²⁶, numerically zero — no soft penalty.</a:t>
            </a:r>
            <a:endParaRPr lang="en-US" sz="980" dirty="0"/>
          </a:p>
        </p:txBody>
      </p:sp>
      <p:sp>
        <p:nvSpPr>
          <p:cNvPr id="19" name="Shape 17"/>
          <p:cNvSpPr/>
          <p:nvPr/>
        </p:nvSpPr>
        <p:spPr>
          <a:xfrm>
            <a:off x="566928" y="3579876"/>
            <a:ext cx="5394960" cy="658368"/>
          </a:xfrm>
          <a:prstGeom prst="roundRect">
            <a:avLst>
              <a:gd name="adj" fmla="val 6944"/>
            </a:avLst>
          </a:prstGeom>
          <a:solidFill>
            <a:srgbClr val="F4F5F7"/>
          </a:solidFill>
          <a:ln/>
        </p:spPr>
        <p:txBody>
          <a:bodyPr/>
          <a:lstStyle/>
          <a:p>
            <a:endParaRPr lang="de-DE"/>
          </a:p>
        </p:txBody>
      </p:sp>
      <p:sp>
        <p:nvSpPr>
          <p:cNvPr id="20" name="Shape 18"/>
          <p:cNvSpPr/>
          <p:nvPr/>
        </p:nvSpPr>
        <p:spPr>
          <a:xfrm>
            <a:off x="731520" y="3707892"/>
            <a:ext cx="402336" cy="402336"/>
          </a:xfrm>
          <a:prstGeom prst="ellipse">
            <a:avLst/>
          </a:prstGeom>
          <a:solidFill>
            <a:srgbClr val="B5654A"/>
          </a:solidFill>
          <a:ln/>
        </p:spPr>
        <p:txBody>
          <a:bodyPr/>
          <a:lstStyle/>
          <a:p>
            <a:endParaRPr lang="de-DE"/>
          </a:p>
        </p:txBody>
      </p:sp>
      <p:sp>
        <p:nvSpPr>
          <p:cNvPr id="21" name="Text 19"/>
          <p:cNvSpPr/>
          <p:nvPr/>
        </p:nvSpPr>
        <p:spPr>
          <a:xfrm>
            <a:off x="731520" y="37078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1280160" y="3653028"/>
            <a:ext cx="4526280" cy="256032"/>
          </a:xfrm>
          <a:prstGeom prst="rect">
            <a:avLst/>
          </a:prstGeom>
          <a:noFill/>
          <a:ln/>
        </p:spPr>
        <p:txBody>
          <a:bodyPr wrap="square" lIns="0" tIns="0" rIns="0" bIns="0" rtlCol="0" anchor="ctr"/>
          <a:lstStyle/>
          <a:p>
            <a:pPr marL="0" indent="0">
              <a:buNone/>
            </a:pPr>
            <a:r>
              <a:rPr lang="en-US" sz="1250" b="1" dirty="0">
                <a:solidFill>
                  <a:srgbClr val="1F2329"/>
                </a:solidFill>
                <a:latin typeface="Cambria" pitchFamily="34" charset="0"/>
                <a:ea typeface="Cambria" pitchFamily="34" charset="-122"/>
                <a:cs typeface="Cambria" pitchFamily="34" charset="-120"/>
              </a:rPr>
              <a:t>Velocity error &gt; ψ error</a:t>
            </a:r>
            <a:endParaRPr lang="en-US" sz="1250" dirty="0"/>
          </a:p>
        </p:txBody>
      </p:sp>
      <p:sp>
        <p:nvSpPr>
          <p:cNvPr id="23" name="Text 21"/>
          <p:cNvSpPr/>
          <p:nvPr/>
        </p:nvSpPr>
        <p:spPr>
          <a:xfrm>
            <a:off x="1280160" y="3890772"/>
            <a:ext cx="4526280" cy="320040"/>
          </a:xfrm>
          <a:prstGeom prst="rect">
            <a:avLst/>
          </a:prstGeom>
          <a:noFill/>
          <a:ln/>
        </p:spPr>
        <p:txBody>
          <a:bodyPr wrap="square" lIns="0" tIns="0" rIns="0" bIns="0" rtlCol="0" anchor="t"/>
          <a:lstStyle/>
          <a:p>
            <a:pPr marL="0" indent="0">
              <a:lnSpc>
                <a:spcPct val="92000"/>
              </a:lnSpc>
              <a:buNone/>
            </a:pPr>
            <a:r>
              <a:rPr lang="en-US" sz="980" dirty="0">
                <a:solidFill>
                  <a:srgbClr val="727A85"/>
                </a:solidFill>
                <a:latin typeface="Calibri" pitchFamily="34" charset="0"/>
                <a:ea typeface="Calibri" pitchFamily="34" charset="-122"/>
                <a:cs typeface="Calibri" pitchFamily="34" charset="-120"/>
              </a:rPr>
              <a:t>Numerical differentiation amplifies high-frequency residuals: ≈ 2× (FNO), 3× (U-Net), 1.5–2× with composite loss.</a:t>
            </a:r>
            <a:endParaRPr lang="en-US" sz="980" dirty="0"/>
          </a:p>
        </p:txBody>
      </p:sp>
      <p:sp>
        <p:nvSpPr>
          <p:cNvPr id="24" name="Shape 22"/>
          <p:cNvSpPr/>
          <p:nvPr/>
        </p:nvSpPr>
        <p:spPr>
          <a:xfrm>
            <a:off x="6089904" y="1371600"/>
            <a:ext cx="2505456" cy="3200400"/>
          </a:xfrm>
          <a:prstGeom prst="roundRect">
            <a:avLst>
              <a:gd name="adj" fmla="val 2190"/>
            </a:avLst>
          </a:prstGeom>
          <a:solidFill>
            <a:srgbClr val="23272F"/>
          </a:solidFill>
          <a:ln/>
          <a:effectLst>
            <a:outerShdw blurRad="76200" dist="25400" dir="5400000" algn="bl" rotWithShape="0">
              <a:srgbClr val="000000">
                <a:alpha val="10000"/>
              </a:srgbClr>
            </a:outerShdw>
          </a:effectLst>
        </p:spPr>
        <p:txBody>
          <a:bodyPr/>
          <a:lstStyle/>
          <a:p>
            <a:endParaRPr lang="de-DE"/>
          </a:p>
        </p:txBody>
      </p:sp>
      <p:sp>
        <p:nvSpPr>
          <p:cNvPr id="25" name="Text 23"/>
          <p:cNvSpPr/>
          <p:nvPr/>
        </p:nvSpPr>
        <p:spPr>
          <a:xfrm>
            <a:off x="6327648" y="1591056"/>
            <a:ext cx="2103120" cy="274320"/>
          </a:xfrm>
          <a:prstGeom prst="rect">
            <a:avLst/>
          </a:prstGeom>
          <a:noFill/>
          <a:ln/>
        </p:spPr>
        <p:txBody>
          <a:bodyPr wrap="square" lIns="0" tIns="0" rIns="0" bIns="0" rtlCol="0" anchor="ctr"/>
          <a:lstStyle/>
          <a:p>
            <a:pPr marL="0" indent="0">
              <a:buNone/>
            </a:pPr>
            <a:r>
              <a:rPr lang="en-US" sz="1100" b="1" kern="0" spc="150" dirty="0">
                <a:solidFill>
                  <a:srgbClr val="CF8A72"/>
                </a:solidFill>
                <a:latin typeface="Calibri" pitchFamily="34" charset="0"/>
                <a:ea typeface="Calibri" pitchFamily="34" charset="-122"/>
                <a:cs typeface="Calibri" pitchFamily="34" charset="-120"/>
              </a:rPr>
              <a:t>THE PAYOFF</a:t>
            </a:r>
            <a:endParaRPr lang="en-US" sz="1100" dirty="0"/>
          </a:p>
        </p:txBody>
      </p:sp>
      <p:sp>
        <p:nvSpPr>
          <p:cNvPr id="26" name="Text 24"/>
          <p:cNvSpPr/>
          <p:nvPr/>
        </p:nvSpPr>
        <p:spPr>
          <a:xfrm>
            <a:off x="6327648" y="1975104"/>
            <a:ext cx="2103120" cy="2468880"/>
          </a:xfrm>
          <a:prstGeom prst="rect">
            <a:avLst/>
          </a:prstGeom>
          <a:noFill/>
          <a:ln/>
        </p:spPr>
        <p:txBody>
          <a:bodyPr wrap="square" lIns="0" tIns="0" rIns="0" bIns="0" rtlCol="0" anchor="t"/>
          <a:lstStyle/>
          <a:p>
            <a:pPr marL="0" indent="0">
              <a:lnSpc>
                <a:spcPct val="95000"/>
              </a:lnSpc>
              <a:buNone/>
            </a:pPr>
            <a:r>
              <a:rPr lang="en-US" sz="2600" b="1" dirty="0">
                <a:solidFill>
                  <a:srgbClr val="CF8A72"/>
                </a:solidFill>
                <a:latin typeface="Calibri" pitchFamily="34" charset="0"/>
                <a:ea typeface="Calibri" pitchFamily="34" charset="-122"/>
                <a:cs typeface="Calibri" pitchFamily="34" charset="-120"/>
              </a:rPr>
              <a:t>687 ms</a:t>
            </a:r>
            <a:endParaRPr lang="en-US" sz="2600" dirty="0"/>
          </a:p>
          <a:p>
            <a:pPr marL="0" indent="0">
              <a:lnSpc>
                <a:spcPct val="95000"/>
              </a:lnSpc>
              <a:spcAft>
                <a:spcPts val="600"/>
              </a:spcAft>
              <a:buNone/>
            </a:pPr>
            <a:r>
              <a:rPr lang="en-US" sz="1000" dirty="0">
                <a:solidFill>
                  <a:srgbClr val="9AA1AB"/>
                </a:solidFill>
                <a:latin typeface="Calibri" pitchFamily="34" charset="0"/>
                <a:ea typeface="Calibri" pitchFamily="34" charset="-122"/>
                <a:cs typeface="Calibri" pitchFamily="34" charset="-120"/>
              </a:rPr>
              <a:t>FNO end-to-end / sample</a:t>
            </a:r>
            <a:endParaRPr lang="en-US" sz="2600" dirty="0"/>
          </a:p>
          <a:p>
            <a:pPr marL="0" indent="0">
              <a:lnSpc>
                <a:spcPct val="95000"/>
              </a:lnSpc>
              <a:spcAft>
                <a:spcPts val="1400"/>
              </a:spcAft>
              <a:buNone/>
            </a:pPr>
            <a:r>
              <a:rPr lang="en-US" sz="1400" b="1" dirty="0">
                <a:solidFill>
                  <a:srgbClr val="EAECEF"/>
                </a:solidFill>
                <a:latin typeface="Calibri" pitchFamily="34" charset="0"/>
                <a:ea typeface="Calibri" pitchFamily="34" charset="-122"/>
                <a:cs typeface="Calibri" pitchFamily="34" charset="-120"/>
              </a:rPr>
              <a:t>≈ 12× faster</a:t>
            </a:r>
            <a:endParaRPr lang="en-US" sz="2600" dirty="0"/>
          </a:p>
          <a:p>
            <a:pPr marL="0" indent="0">
              <a:lnSpc>
                <a:spcPct val="95000"/>
              </a:lnSpc>
              <a:buNone/>
            </a:pPr>
            <a:r>
              <a:rPr lang="en-US" sz="2600" b="1" dirty="0">
                <a:solidFill>
                  <a:srgbClr val="EAECEF"/>
                </a:solidFill>
                <a:latin typeface="Calibri" pitchFamily="34" charset="0"/>
                <a:ea typeface="Calibri" pitchFamily="34" charset="-122"/>
                <a:cs typeface="Calibri" pitchFamily="34" charset="-120"/>
              </a:rPr>
              <a:t>5.5 ms</a:t>
            </a:r>
            <a:endParaRPr lang="en-US" sz="2600" dirty="0"/>
          </a:p>
          <a:p>
            <a:pPr marL="0" indent="0">
              <a:lnSpc>
                <a:spcPct val="95000"/>
              </a:lnSpc>
              <a:spcAft>
                <a:spcPts val="600"/>
              </a:spcAft>
              <a:buNone/>
            </a:pPr>
            <a:r>
              <a:rPr lang="en-US" sz="1000" dirty="0">
                <a:solidFill>
                  <a:srgbClr val="9AA1AB"/>
                </a:solidFill>
                <a:latin typeface="Calibri" pitchFamily="34" charset="0"/>
                <a:ea typeface="Calibri" pitchFamily="34" charset="-122"/>
                <a:cs typeface="Calibri" pitchFamily="34" charset="-120"/>
              </a:rPr>
              <a:t>pure U-Net forward pass</a:t>
            </a:r>
            <a:endParaRPr lang="en-US" sz="2600" dirty="0"/>
          </a:p>
          <a:p>
            <a:pPr marL="0" indent="0">
              <a:lnSpc>
                <a:spcPct val="95000"/>
              </a:lnSpc>
              <a:spcAft>
                <a:spcPts val="1200"/>
              </a:spcAft>
              <a:buNone/>
            </a:pPr>
            <a:r>
              <a:rPr lang="en-US" sz="1400" b="1" dirty="0">
                <a:solidFill>
                  <a:srgbClr val="EAECEF"/>
                </a:solidFill>
                <a:latin typeface="Calibri" pitchFamily="34" charset="0"/>
                <a:ea typeface="Calibri" pitchFamily="34" charset="-122"/>
                <a:cs typeface="Calibri" pitchFamily="34" charset="-120"/>
              </a:rPr>
              <a:t>&gt; 1500× faster</a:t>
            </a:r>
            <a:endParaRPr lang="en-US" sz="2600" dirty="0"/>
          </a:p>
          <a:p>
            <a:pPr marL="0" indent="0">
              <a:lnSpc>
                <a:spcPct val="95000"/>
              </a:lnSpc>
              <a:buNone/>
            </a:pPr>
            <a:r>
              <a:rPr lang="en-US" sz="950" i="1" dirty="0">
                <a:solidFill>
                  <a:srgbClr val="9AA1AB"/>
                </a:solidFill>
                <a:latin typeface="Calibri" pitchFamily="34" charset="0"/>
                <a:ea typeface="Calibri" pitchFamily="34" charset="-122"/>
                <a:cs typeface="Calibri" pitchFamily="34" charset="-120"/>
              </a:rPr>
              <a:t>vs. LaMEM's 8–9 s per solve</a:t>
            </a:r>
            <a:endParaRPr lang="en-US" sz="2600" dirty="0"/>
          </a:p>
        </p:txBody>
      </p:sp>
      <p:sp>
        <p:nvSpPr>
          <p:cNvPr id="27" name="Text 25"/>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05 · DISCUSSION</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Conclusion &amp; Answers</a:t>
            </a:r>
            <a:endParaRPr lang="en-US" sz="2900" dirty="0"/>
          </a:p>
        </p:txBody>
      </p:sp>
      <p:sp>
        <p:nvSpPr>
          <p:cNvPr id="4" name="Shape 2"/>
          <p:cNvSpPr/>
          <p:nvPr/>
        </p:nvSpPr>
        <p:spPr>
          <a:xfrm>
            <a:off x="566928" y="1371600"/>
            <a:ext cx="5074920" cy="713232"/>
          </a:xfrm>
          <a:prstGeom prst="roundRect">
            <a:avLst>
              <a:gd name="adj" fmla="val 6410"/>
            </a:avLst>
          </a:prstGeom>
          <a:solidFill>
            <a:srgbClr val="F4F5F7"/>
          </a:solidFill>
          <a:ln/>
        </p:spPr>
        <p:txBody>
          <a:bodyPr/>
          <a:lstStyle/>
          <a:p>
            <a:endParaRPr lang="de-DE"/>
          </a:p>
        </p:txBody>
      </p:sp>
      <p:sp>
        <p:nvSpPr>
          <p:cNvPr id="5" name="Text 3"/>
          <p:cNvSpPr/>
          <p:nvPr/>
        </p:nvSpPr>
        <p:spPr>
          <a:xfrm>
            <a:off x="786384" y="1371600"/>
            <a:ext cx="640080" cy="713232"/>
          </a:xfrm>
          <a:prstGeom prst="rect">
            <a:avLst/>
          </a:prstGeom>
          <a:noFill/>
          <a:ln/>
        </p:spPr>
        <p:txBody>
          <a:bodyPr wrap="square" lIns="0" tIns="0" rIns="0" bIns="0" rtlCol="0" anchor="ctr"/>
          <a:lstStyle/>
          <a:p>
            <a:pPr marL="0" indent="0">
              <a:buNone/>
            </a:pPr>
            <a:r>
              <a:rPr lang="en-US" sz="2000" b="1" dirty="0">
                <a:solidFill>
                  <a:srgbClr val="B5654A"/>
                </a:solidFill>
                <a:latin typeface="Cambria" pitchFamily="34" charset="0"/>
                <a:ea typeface="Cambria" pitchFamily="34" charset="-122"/>
                <a:cs typeface="Cambria" pitchFamily="34" charset="-120"/>
              </a:rPr>
              <a:t>H1</a:t>
            </a:r>
            <a:endParaRPr lang="en-US" sz="2000" dirty="0"/>
          </a:p>
        </p:txBody>
      </p:sp>
      <p:sp>
        <p:nvSpPr>
          <p:cNvPr id="6" name="Text 4"/>
          <p:cNvSpPr/>
          <p:nvPr/>
        </p:nvSpPr>
        <p:spPr>
          <a:xfrm>
            <a:off x="1408176" y="1463040"/>
            <a:ext cx="4069080" cy="274320"/>
          </a:xfrm>
          <a:prstGeom prst="rect">
            <a:avLst/>
          </a:prstGeom>
          <a:noFill/>
          <a:ln/>
        </p:spPr>
        <p:txBody>
          <a:bodyPr wrap="square" lIns="0" tIns="0" rIns="0" bIns="0" rtlCol="0" anchor="ctr"/>
          <a:lstStyle/>
          <a:p>
            <a:pPr marL="0" indent="0">
              <a:buNone/>
            </a:pPr>
            <a:r>
              <a:rPr lang="en-US" sz="1350" b="1" dirty="0">
                <a:solidFill>
                  <a:srgbClr val="1F2329"/>
                </a:solidFill>
                <a:latin typeface="Cambria" pitchFamily="34" charset="0"/>
                <a:ea typeface="Cambria" pitchFamily="34" charset="-122"/>
                <a:cs typeface="Cambria" pitchFamily="34" charset="-120"/>
              </a:rPr>
              <a:t>Confirmed for the FNO</a:t>
            </a:r>
            <a:endParaRPr lang="en-US" sz="1350" dirty="0"/>
          </a:p>
        </p:txBody>
      </p:sp>
      <p:sp>
        <p:nvSpPr>
          <p:cNvPr id="7" name="Text 5"/>
          <p:cNvSpPr/>
          <p:nvPr/>
        </p:nvSpPr>
        <p:spPr>
          <a:xfrm>
            <a:off x="1408176" y="1728216"/>
            <a:ext cx="4069080" cy="329184"/>
          </a:xfrm>
          <a:prstGeom prst="rect">
            <a:avLst/>
          </a:prstGeom>
          <a:noFill/>
          <a:ln/>
        </p:spPr>
        <p:txBody>
          <a:bodyPr wrap="square" lIns="0" tIns="0" rIns="0" bIns="0" rtlCol="0" anchor="t"/>
          <a:lstStyle/>
          <a:p>
            <a:pPr marL="0" indent="0">
              <a:lnSpc>
                <a:spcPct val="92000"/>
              </a:lnSpc>
              <a:buNone/>
            </a:pPr>
            <a:r>
              <a:rPr lang="en-US" sz="980" dirty="0">
                <a:solidFill>
                  <a:srgbClr val="727A85"/>
                </a:solidFill>
                <a:latin typeface="Calibri" pitchFamily="34" charset="0"/>
                <a:ea typeface="Calibri" pitchFamily="34" charset="-122"/>
                <a:cs typeface="Calibri" pitchFamily="34" charset="-120"/>
              </a:rPr>
              <a:t>Broad training distribution enables OOD generalization; for the U-Net it holds only weakly.</a:t>
            </a:r>
            <a:endParaRPr lang="en-US" sz="980" dirty="0"/>
          </a:p>
        </p:txBody>
      </p:sp>
      <p:sp>
        <p:nvSpPr>
          <p:cNvPr id="8" name="Shape 6"/>
          <p:cNvSpPr/>
          <p:nvPr/>
        </p:nvSpPr>
        <p:spPr>
          <a:xfrm>
            <a:off x="566928" y="2176272"/>
            <a:ext cx="5074920" cy="713232"/>
          </a:xfrm>
          <a:prstGeom prst="roundRect">
            <a:avLst>
              <a:gd name="adj" fmla="val 6410"/>
            </a:avLst>
          </a:prstGeom>
          <a:solidFill>
            <a:srgbClr val="F4F5F7"/>
          </a:solidFill>
          <a:ln/>
        </p:spPr>
        <p:txBody>
          <a:bodyPr/>
          <a:lstStyle/>
          <a:p>
            <a:endParaRPr lang="de-DE"/>
          </a:p>
        </p:txBody>
      </p:sp>
      <p:sp>
        <p:nvSpPr>
          <p:cNvPr id="9" name="Text 7"/>
          <p:cNvSpPr/>
          <p:nvPr/>
        </p:nvSpPr>
        <p:spPr>
          <a:xfrm>
            <a:off x="786384" y="2176272"/>
            <a:ext cx="640080" cy="713232"/>
          </a:xfrm>
          <a:prstGeom prst="rect">
            <a:avLst/>
          </a:prstGeom>
          <a:noFill/>
          <a:ln/>
        </p:spPr>
        <p:txBody>
          <a:bodyPr wrap="square" lIns="0" tIns="0" rIns="0" bIns="0" rtlCol="0" anchor="ctr"/>
          <a:lstStyle/>
          <a:p>
            <a:pPr marL="0" indent="0">
              <a:buNone/>
            </a:pPr>
            <a:r>
              <a:rPr lang="en-US" sz="2000" b="1" dirty="0">
                <a:solidFill>
                  <a:srgbClr val="B5654A"/>
                </a:solidFill>
                <a:latin typeface="Cambria" pitchFamily="34" charset="0"/>
                <a:ea typeface="Cambria" pitchFamily="34" charset="-122"/>
                <a:cs typeface="Cambria" pitchFamily="34" charset="-120"/>
              </a:rPr>
              <a:t>H2</a:t>
            </a:r>
            <a:endParaRPr lang="en-US" sz="2000" dirty="0"/>
          </a:p>
        </p:txBody>
      </p:sp>
      <p:sp>
        <p:nvSpPr>
          <p:cNvPr id="10" name="Text 8"/>
          <p:cNvSpPr/>
          <p:nvPr/>
        </p:nvSpPr>
        <p:spPr>
          <a:xfrm>
            <a:off x="1408176" y="2267712"/>
            <a:ext cx="4069080" cy="274320"/>
          </a:xfrm>
          <a:prstGeom prst="rect">
            <a:avLst/>
          </a:prstGeom>
          <a:noFill/>
          <a:ln/>
        </p:spPr>
        <p:txBody>
          <a:bodyPr wrap="square" lIns="0" tIns="0" rIns="0" bIns="0" rtlCol="0" anchor="ctr"/>
          <a:lstStyle/>
          <a:p>
            <a:pPr marL="0" indent="0">
              <a:buNone/>
            </a:pPr>
            <a:r>
              <a:rPr lang="en-US" sz="1350" b="1" dirty="0">
                <a:solidFill>
                  <a:srgbClr val="1F2329"/>
                </a:solidFill>
                <a:latin typeface="Cambria" pitchFamily="34" charset="0"/>
                <a:ea typeface="Cambria" pitchFamily="34" charset="-122"/>
                <a:cs typeface="Cambria" pitchFamily="34" charset="-120"/>
              </a:rPr>
              <a:t>Confirmed</a:t>
            </a:r>
            <a:endParaRPr lang="en-US" sz="1350" dirty="0"/>
          </a:p>
        </p:txBody>
      </p:sp>
      <p:sp>
        <p:nvSpPr>
          <p:cNvPr id="11" name="Text 9"/>
          <p:cNvSpPr/>
          <p:nvPr/>
        </p:nvSpPr>
        <p:spPr>
          <a:xfrm>
            <a:off x="1408176" y="2532888"/>
            <a:ext cx="4069080" cy="329184"/>
          </a:xfrm>
          <a:prstGeom prst="rect">
            <a:avLst/>
          </a:prstGeom>
          <a:noFill/>
          <a:ln/>
        </p:spPr>
        <p:txBody>
          <a:bodyPr wrap="square" lIns="0" tIns="0" rIns="0" bIns="0" rtlCol="0" anchor="t"/>
          <a:lstStyle/>
          <a:p>
            <a:pPr marL="0" indent="0">
              <a:lnSpc>
                <a:spcPct val="92000"/>
              </a:lnSpc>
              <a:buNone/>
            </a:pPr>
            <a:r>
              <a:rPr lang="en-US" sz="980" dirty="0">
                <a:solidFill>
                  <a:srgbClr val="727A85"/>
                </a:solidFill>
                <a:latin typeface="Calibri" pitchFamily="34" charset="0"/>
                <a:ea typeface="Calibri" pitchFamily="34" charset="-122"/>
                <a:cs typeface="Calibri" pitchFamily="34" charset="-120"/>
              </a:rPr>
              <a:t>The ψ-formulation reduces task complexity and guarantees exact incompressibility for every prediction.</a:t>
            </a:r>
            <a:endParaRPr lang="en-US" sz="980" dirty="0"/>
          </a:p>
        </p:txBody>
      </p:sp>
      <p:sp>
        <p:nvSpPr>
          <p:cNvPr id="12" name="Shape 10"/>
          <p:cNvSpPr/>
          <p:nvPr/>
        </p:nvSpPr>
        <p:spPr>
          <a:xfrm>
            <a:off x="566928" y="2980944"/>
            <a:ext cx="5074920" cy="713232"/>
          </a:xfrm>
          <a:prstGeom prst="roundRect">
            <a:avLst>
              <a:gd name="adj" fmla="val 6410"/>
            </a:avLst>
          </a:prstGeom>
          <a:solidFill>
            <a:srgbClr val="F4F5F7"/>
          </a:solidFill>
          <a:ln/>
        </p:spPr>
        <p:txBody>
          <a:bodyPr/>
          <a:lstStyle/>
          <a:p>
            <a:endParaRPr lang="de-DE"/>
          </a:p>
        </p:txBody>
      </p:sp>
      <p:sp>
        <p:nvSpPr>
          <p:cNvPr id="13" name="Text 11"/>
          <p:cNvSpPr/>
          <p:nvPr/>
        </p:nvSpPr>
        <p:spPr>
          <a:xfrm>
            <a:off x="786384" y="2980944"/>
            <a:ext cx="640080" cy="713232"/>
          </a:xfrm>
          <a:prstGeom prst="rect">
            <a:avLst/>
          </a:prstGeom>
          <a:noFill/>
          <a:ln/>
        </p:spPr>
        <p:txBody>
          <a:bodyPr wrap="square" lIns="0" tIns="0" rIns="0" bIns="0" rtlCol="0" anchor="ctr"/>
          <a:lstStyle/>
          <a:p>
            <a:pPr marL="0" indent="0">
              <a:buNone/>
            </a:pPr>
            <a:r>
              <a:rPr lang="en-US" sz="2000" b="1" dirty="0">
                <a:solidFill>
                  <a:srgbClr val="B5654A"/>
                </a:solidFill>
                <a:latin typeface="Cambria" pitchFamily="34" charset="0"/>
                <a:ea typeface="Cambria" pitchFamily="34" charset="-122"/>
                <a:cs typeface="Cambria" pitchFamily="34" charset="-120"/>
              </a:rPr>
              <a:t>H3</a:t>
            </a:r>
            <a:endParaRPr lang="en-US" sz="2000" dirty="0"/>
          </a:p>
        </p:txBody>
      </p:sp>
      <p:sp>
        <p:nvSpPr>
          <p:cNvPr id="14" name="Text 12"/>
          <p:cNvSpPr/>
          <p:nvPr/>
        </p:nvSpPr>
        <p:spPr>
          <a:xfrm>
            <a:off x="1408176" y="3072384"/>
            <a:ext cx="4069080" cy="274320"/>
          </a:xfrm>
          <a:prstGeom prst="rect">
            <a:avLst/>
          </a:prstGeom>
          <a:noFill/>
          <a:ln/>
        </p:spPr>
        <p:txBody>
          <a:bodyPr wrap="square" lIns="0" tIns="0" rIns="0" bIns="0" rtlCol="0" anchor="ctr"/>
          <a:lstStyle/>
          <a:p>
            <a:pPr marL="0" indent="0">
              <a:buNone/>
            </a:pPr>
            <a:r>
              <a:rPr lang="en-US" sz="1350" b="1" dirty="0">
                <a:solidFill>
                  <a:srgbClr val="1F2329"/>
                </a:solidFill>
                <a:latin typeface="Cambria" pitchFamily="34" charset="0"/>
                <a:ea typeface="Cambria" pitchFamily="34" charset="-122"/>
                <a:cs typeface="Cambria" pitchFamily="34" charset="-120"/>
              </a:rPr>
              <a:t>Conditionally confirmed</a:t>
            </a:r>
            <a:endParaRPr lang="en-US" sz="1350" dirty="0"/>
          </a:p>
        </p:txBody>
      </p:sp>
      <p:sp>
        <p:nvSpPr>
          <p:cNvPr id="15" name="Text 13"/>
          <p:cNvSpPr/>
          <p:nvPr/>
        </p:nvSpPr>
        <p:spPr>
          <a:xfrm>
            <a:off x="1408176" y="3337560"/>
            <a:ext cx="4069080" cy="329184"/>
          </a:xfrm>
          <a:prstGeom prst="rect">
            <a:avLst/>
          </a:prstGeom>
          <a:noFill/>
          <a:ln/>
        </p:spPr>
        <p:txBody>
          <a:bodyPr wrap="square" lIns="0" tIns="0" rIns="0" bIns="0" rtlCol="0" anchor="t"/>
          <a:lstStyle/>
          <a:p>
            <a:pPr marL="0" indent="0">
              <a:lnSpc>
                <a:spcPct val="92000"/>
              </a:lnSpc>
              <a:buNone/>
            </a:pPr>
            <a:r>
              <a:rPr lang="en-US" sz="980" dirty="0">
                <a:solidFill>
                  <a:srgbClr val="727A85"/>
                </a:solidFill>
                <a:latin typeface="Calibri" pitchFamily="34" charset="0"/>
                <a:ea typeface="Calibri" pitchFamily="34" charset="-122"/>
                <a:cs typeface="Calibri" pitchFamily="34" charset="-120"/>
              </a:rPr>
              <a:t>FNO dominates in count generalization — but the ranking reverses for crystal size (U-Net wins for large).</a:t>
            </a:r>
            <a:endParaRPr lang="en-US" sz="980" dirty="0"/>
          </a:p>
        </p:txBody>
      </p:sp>
      <p:sp>
        <p:nvSpPr>
          <p:cNvPr id="16" name="Shape 14"/>
          <p:cNvSpPr/>
          <p:nvPr/>
        </p:nvSpPr>
        <p:spPr>
          <a:xfrm>
            <a:off x="5779008" y="1371600"/>
            <a:ext cx="2816352" cy="2414016"/>
          </a:xfrm>
          <a:prstGeom prst="roundRect">
            <a:avLst>
              <a:gd name="adj" fmla="val 2273"/>
            </a:avLst>
          </a:prstGeom>
          <a:solidFill>
            <a:srgbClr val="23272F"/>
          </a:solidFill>
          <a:ln/>
          <a:effectLst>
            <a:outerShdw blurRad="76200" dist="25400" dir="5400000" algn="bl" rotWithShape="0">
              <a:srgbClr val="000000">
                <a:alpha val="10000"/>
              </a:srgbClr>
            </a:outerShdw>
          </a:effectLst>
        </p:spPr>
        <p:txBody>
          <a:bodyPr/>
          <a:lstStyle/>
          <a:p>
            <a:endParaRPr lang="de-DE"/>
          </a:p>
        </p:txBody>
      </p:sp>
      <p:sp>
        <p:nvSpPr>
          <p:cNvPr id="17" name="Text 15"/>
          <p:cNvSpPr/>
          <p:nvPr/>
        </p:nvSpPr>
        <p:spPr>
          <a:xfrm>
            <a:off x="5980176" y="1517904"/>
            <a:ext cx="2468880" cy="274320"/>
          </a:xfrm>
          <a:prstGeom prst="rect">
            <a:avLst/>
          </a:prstGeom>
          <a:noFill/>
          <a:ln/>
        </p:spPr>
        <p:txBody>
          <a:bodyPr wrap="square" lIns="0" tIns="0" rIns="0" bIns="0" rtlCol="0" anchor="ctr"/>
          <a:lstStyle/>
          <a:p>
            <a:pPr marL="0" indent="0">
              <a:buNone/>
            </a:pPr>
            <a:r>
              <a:rPr lang="en-US" sz="1100" b="1" kern="0" spc="150" dirty="0">
                <a:solidFill>
                  <a:srgbClr val="CF8A72"/>
                </a:solidFill>
                <a:latin typeface="Calibri" pitchFamily="34" charset="0"/>
                <a:ea typeface="Calibri" pitchFamily="34" charset="-122"/>
                <a:cs typeface="Calibri" pitchFamily="34" charset="-120"/>
              </a:rPr>
              <a:t>PRACTICAL GUIDELINES</a:t>
            </a:r>
            <a:endParaRPr lang="en-US" sz="1100" dirty="0"/>
          </a:p>
        </p:txBody>
      </p:sp>
      <p:sp>
        <p:nvSpPr>
          <p:cNvPr id="18" name="Text 16"/>
          <p:cNvSpPr/>
          <p:nvPr/>
        </p:nvSpPr>
        <p:spPr>
          <a:xfrm>
            <a:off x="5980176" y="1865376"/>
            <a:ext cx="2487168" cy="1828800"/>
          </a:xfrm>
          <a:prstGeom prst="rect">
            <a:avLst/>
          </a:prstGeom>
          <a:noFill/>
          <a:ln/>
        </p:spPr>
        <p:txBody>
          <a:bodyPr wrap="square" lIns="0" tIns="0" rIns="0" bIns="0" rtlCol="0" anchor="t"/>
          <a:lstStyle/>
          <a:p>
            <a:pPr marL="0" indent="0">
              <a:lnSpc>
                <a:spcPct val="100000"/>
              </a:lnSpc>
              <a:spcAft>
                <a:spcPts val="800"/>
              </a:spcAft>
              <a:buNone/>
            </a:pPr>
            <a:r>
              <a:rPr lang="en-US" sz="1050" dirty="0">
                <a:solidFill>
                  <a:srgbClr val="EAECEF"/>
                </a:solidFill>
                <a:latin typeface="Calibri" pitchFamily="34" charset="0"/>
                <a:ea typeface="Calibri" pitchFamily="34" charset="-122"/>
                <a:cs typeface="Calibri" pitchFamily="34" charset="-120"/>
              </a:rPr>
              <a:t>FNO when generalizing across crystal counts</a:t>
            </a:r>
            <a:endParaRPr lang="en-US" sz="1050" dirty="0"/>
          </a:p>
          <a:p>
            <a:pPr marL="0" indent="0">
              <a:lnSpc>
                <a:spcPct val="100000"/>
              </a:lnSpc>
              <a:spcAft>
                <a:spcPts val="800"/>
              </a:spcAft>
              <a:buNone/>
            </a:pPr>
            <a:r>
              <a:rPr lang="en-US" sz="1050" dirty="0">
                <a:solidFill>
                  <a:srgbClr val="EAECEF"/>
                </a:solidFill>
                <a:latin typeface="Calibri" pitchFamily="34" charset="0"/>
                <a:ea typeface="Calibri" pitchFamily="34" charset="-122"/>
                <a:cs typeface="Calibri" pitchFamily="34" charset="-120"/>
              </a:rPr>
              <a:t>U-Net when robustness to geometric scaling matters</a:t>
            </a:r>
            <a:endParaRPr lang="en-US" sz="1050" dirty="0"/>
          </a:p>
          <a:p>
            <a:pPr marL="0" indent="0">
              <a:lnSpc>
                <a:spcPct val="100000"/>
              </a:lnSpc>
              <a:spcAft>
                <a:spcPts val="800"/>
              </a:spcAft>
              <a:buNone/>
            </a:pPr>
            <a:r>
              <a:rPr lang="en-US" sz="1050" dirty="0">
                <a:solidFill>
                  <a:srgbClr val="EAECEF"/>
                </a:solidFill>
                <a:latin typeface="Calibri" pitchFamily="34" charset="0"/>
                <a:ea typeface="Calibri" pitchFamily="34" charset="-122"/>
                <a:cs typeface="Calibri" pitchFamily="34" charset="-120"/>
              </a:rPr>
              <a:t>For size: broaden the data, don't change the architecture</a:t>
            </a:r>
            <a:endParaRPr lang="en-US" sz="1050" dirty="0"/>
          </a:p>
          <a:p>
            <a:pPr marL="0" indent="0">
              <a:lnSpc>
                <a:spcPct val="100000"/>
              </a:lnSpc>
              <a:buNone/>
            </a:pPr>
            <a:r>
              <a:rPr lang="en-US" sz="1050" dirty="0">
                <a:solidFill>
                  <a:srgbClr val="EAECEF"/>
                </a:solidFill>
                <a:latin typeface="Calibri" pitchFamily="34" charset="0"/>
                <a:ea typeface="Calibri" pitchFamily="34" charset="-122"/>
                <a:cs typeface="Calibri" pitchFamily="34" charset="-120"/>
              </a:rPr>
              <a:t>Always prefer ψ over direct velocity prediction</a:t>
            </a:r>
            <a:endParaRPr lang="en-US" sz="1050" dirty="0"/>
          </a:p>
        </p:txBody>
      </p:sp>
      <p:sp>
        <p:nvSpPr>
          <p:cNvPr id="19" name="Shape 17"/>
          <p:cNvSpPr/>
          <p:nvPr/>
        </p:nvSpPr>
        <p:spPr>
          <a:xfrm>
            <a:off x="566928" y="4041648"/>
            <a:ext cx="8028432" cy="713232"/>
          </a:xfrm>
          <a:prstGeom prst="roundRect">
            <a:avLst>
              <a:gd name="adj" fmla="val 6410"/>
            </a:avLst>
          </a:prstGeom>
          <a:solidFill>
            <a:srgbClr val="F4F5F7"/>
          </a:solidFill>
          <a:ln/>
        </p:spPr>
        <p:txBody>
          <a:bodyPr/>
          <a:lstStyle/>
          <a:p>
            <a:endParaRPr lang="de-DE"/>
          </a:p>
        </p:txBody>
      </p:sp>
      <p:sp>
        <p:nvSpPr>
          <p:cNvPr id="20" name="Text 18"/>
          <p:cNvSpPr/>
          <p:nvPr/>
        </p:nvSpPr>
        <p:spPr>
          <a:xfrm>
            <a:off x="749808" y="4114800"/>
            <a:ext cx="1371600" cy="548640"/>
          </a:xfrm>
          <a:prstGeom prst="rect">
            <a:avLst/>
          </a:prstGeom>
          <a:noFill/>
          <a:ln/>
        </p:spPr>
        <p:txBody>
          <a:bodyPr wrap="square" lIns="0" tIns="0" rIns="0" bIns="0" rtlCol="0" anchor="ctr"/>
          <a:lstStyle/>
          <a:p>
            <a:pPr marL="0" indent="0">
              <a:buNone/>
            </a:pPr>
            <a:r>
              <a:rPr lang="en-US" sz="1050" b="1" kern="0" spc="150" dirty="0">
                <a:solidFill>
                  <a:srgbClr val="B5654A"/>
                </a:solidFill>
                <a:latin typeface="Calibri" pitchFamily="34" charset="0"/>
                <a:ea typeface="Calibri" pitchFamily="34" charset="-122"/>
                <a:cs typeface="Calibri" pitchFamily="34" charset="-120"/>
              </a:rPr>
              <a:t>LIMITATIONS</a:t>
            </a:r>
            <a:endParaRPr lang="en-US" sz="1050" dirty="0"/>
          </a:p>
        </p:txBody>
      </p:sp>
      <p:sp>
        <p:nvSpPr>
          <p:cNvPr id="21" name="Text 19"/>
          <p:cNvSpPr/>
          <p:nvPr/>
        </p:nvSpPr>
        <p:spPr>
          <a:xfrm>
            <a:off x="1965960" y="4041648"/>
            <a:ext cx="6446520" cy="713232"/>
          </a:xfrm>
          <a:prstGeom prst="rect">
            <a:avLst/>
          </a:prstGeom>
          <a:noFill/>
          <a:ln/>
        </p:spPr>
        <p:txBody>
          <a:bodyPr wrap="square" lIns="0" tIns="0" rIns="0" bIns="0" rtlCol="0" anchor="ctr"/>
          <a:lstStyle/>
          <a:p>
            <a:pPr marL="0" indent="0">
              <a:lnSpc>
                <a:spcPct val="95000"/>
              </a:lnSpc>
              <a:buNone/>
            </a:pPr>
            <a:r>
              <a:rPr lang="en-US" sz="1000" dirty="0">
                <a:solidFill>
                  <a:srgbClr val="3F454D"/>
                </a:solidFill>
                <a:latin typeface="Calibri" pitchFamily="34" charset="0"/>
                <a:ea typeface="Calibri" pitchFamily="34" charset="-122"/>
                <a:cs typeface="Calibri" pitchFamily="34" charset="-120"/>
              </a:rPr>
              <a:t>All simulations are 2D and steady-state · datasets are relatively small · the FNO (Exp 2–3) trained for fewer epochs than the U-Net (100 vs. 180) — a fully fair comparison would likely improve its numbers further.</a:t>
            </a:r>
            <a:endParaRPr lang="en-US" sz="1000" dirty="0"/>
          </a:p>
        </p:txBody>
      </p:sp>
      <p:sp>
        <p:nvSpPr>
          <p:cNvPr id="22" name="Text 20"/>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buNone/>
            </a:pPr>
            <a:r>
              <a:rPr lang="en-US" sz="1200" b="1" kern="0" spc="300" dirty="0">
                <a:solidFill>
                  <a:srgbClr val="B5654A"/>
                </a:solidFill>
                <a:latin typeface="Calibri" pitchFamily="34" charset="0"/>
                <a:ea typeface="Calibri" pitchFamily="34" charset="-122"/>
                <a:cs typeface="Calibri" pitchFamily="34" charset="-120"/>
              </a:rPr>
              <a:t>05 · DISCUSSION</a:t>
            </a:r>
            <a:endParaRPr lang="en-US" sz="1200" dirty="0"/>
          </a:p>
        </p:txBody>
      </p:sp>
      <p:sp>
        <p:nvSpPr>
          <p:cNvPr id="3" name="Text 1"/>
          <p:cNvSpPr/>
          <p:nvPr/>
        </p:nvSpPr>
        <p:spPr>
          <a:xfrm>
            <a:off x="548640" y="621792"/>
            <a:ext cx="8138160" cy="658368"/>
          </a:xfrm>
          <a:prstGeom prst="rect">
            <a:avLst/>
          </a:prstGeom>
          <a:noFill/>
          <a:ln/>
        </p:spPr>
        <p:txBody>
          <a:bodyPr wrap="square" lIns="0" tIns="0" rIns="0" bIns="0" rtlCol="0" anchor="ctr"/>
          <a:lstStyle/>
          <a:p>
            <a:pPr marL="0" indent="0">
              <a:buNone/>
            </a:pPr>
            <a:r>
              <a:rPr lang="en-US" sz="2900" b="1" dirty="0">
                <a:solidFill>
                  <a:srgbClr val="1F2329"/>
                </a:solidFill>
                <a:latin typeface="Cambria" pitchFamily="34" charset="0"/>
                <a:ea typeface="Cambria" pitchFamily="34" charset="-122"/>
                <a:cs typeface="Cambria" pitchFamily="34" charset="-120"/>
              </a:rPr>
              <a:t>Outlook</a:t>
            </a:r>
            <a:endParaRPr lang="en-US" sz="2900" dirty="0"/>
          </a:p>
        </p:txBody>
      </p:sp>
      <p:sp>
        <p:nvSpPr>
          <p:cNvPr id="4" name="Shape 2"/>
          <p:cNvSpPr/>
          <p:nvPr/>
        </p:nvSpPr>
        <p:spPr>
          <a:xfrm>
            <a:off x="566928" y="1417320"/>
            <a:ext cx="8028432" cy="566928"/>
          </a:xfrm>
          <a:prstGeom prst="roundRect">
            <a:avLst>
              <a:gd name="adj" fmla="val 8065"/>
            </a:avLst>
          </a:prstGeom>
          <a:solidFill>
            <a:srgbClr val="F4F5F7"/>
          </a:solidFill>
          <a:ln/>
        </p:spPr>
        <p:txBody>
          <a:bodyPr/>
          <a:lstStyle/>
          <a:p>
            <a:endParaRPr lang="de-DE"/>
          </a:p>
        </p:txBody>
      </p:sp>
      <p:sp>
        <p:nvSpPr>
          <p:cNvPr id="5" name="Shape 3"/>
          <p:cNvSpPr/>
          <p:nvPr/>
        </p:nvSpPr>
        <p:spPr>
          <a:xfrm>
            <a:off x="749808" y="1508760"/>
            <a:ext cx="384048" cy="384048"/>
          </a:xfrm>
          <a:prstGeom prst="ellipse">
            <a:avLst/>
          </a:prstGeom>
          <a:solidFill>
            <a:srgbClr val="B5654A"/>
          </a:solidFill>
          <a:ln/>
        </p:spPr>
        <p:txBody>
          <a:bodyPr/>
          <a:lstStyle/>
          <a:p>
            <a:endParaRPr lang="de-DE"/>
          </a:p>
        </p:txBody>
      </p:sp>
      <p:sp>
        <p:nvSpPr>
          <p:cNvPr id="6" name="Text 4"/>
          <p:cNvSpPr/>
          <p:nvPr/>
        </p:nvSpPr>
        <p:spPr>
          <a:xfrm>
            <a:off x="749808"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35024" y="1417320"/>
            <a:ext cx="3657600" cy="566928"/>
          </a:xfrm>
          <a:prstGeom prst="rect">
            <a:avLst/>
          </a:prstGeom>
          <a:noFill/>
          <a:ln/>
        </p:spPr>
        <p:txBody>
          <a:bodyPr wrap="square" lIns="0" tIns="0" rIns="0" bIns="0" rtlCol="0" anchor="ctr"/>
          <a:lstStyle/>
          <a:p>
            <a:pPr marL="0" indent="0">
              <a:buNone/>
            </a:pPr>
            <a:r>
              <a:rPr lang="en-US" sz="1400" b="1" dirty="0">
                <a:solidFill>
                  <a:srgbClr val="1F2329"/>
                </a:solidFill>
                <a:latin typeface="Cambria" pitchFamily="34" charset="0"/>
                <a:ea typeface="Cambria" pitchFamily="34" charset="-122"/>
                <a:cs typeface="Cambria" pitchFamily="34" charset="-120"/>
              </a:rPr>
              <a:t>Adaptive Fourier modes / Geo-FNO</a:t>
            </a:r>
            <a:endParaRPr lang="en-US" sz="1400" dirty="0"/>
          </a:p>
        </p:txBody>
      </p:sp>
      <p:sp>
        <p:nvSpPr>
          <p:cNvPr id="8" name="Text 6"/>
          <p:cNvSpPr/>
          <p:nvPr/>
        </p:nvSpPr>
        <p:spPr>
          <a:xfrm>
            <a:off x="4526280" y="1417320"/>
            <a:ext cx="3931920" cy="566928"/>
          </a:xfrm>
          <a:prstGeom prst="rect">
            <a:avLst/>
          </a:prstGeom>
          <a:noFill/>
          <a:ln/>
        </p:spPr>
        <p:txBody>
          <a:bodyPr wrap="square" lIns="0" tIns="0" rIns="0" bIns="0" rtlCol="0" anchor="ctr"/>
          <a:lstStyle/>
          <a:p>
            <a:pPr marL="0" indent="0">
              <a:lnSpc>
                <a:spcPct val="95000"/>
              </a:lnSpc>
              <a:buNone/>
            </a:pPr>
            <a:r>
              <a:rPr lang="en-US" sz="1100" dirty="0">
                <a:solidFill>
                  <a:srgbClr val="727A85"/>
                </a:solidFill>
                <a:latin typeface="Calibri" pitchFamily="34" charset="0"/>
                <a:ea typeface="Calibri" pitchFamily="34" charset="-122"/>
                <a:cs typeface="Calibri" pitchFamily="34" charset="-120"/>
              </a:rPr>
              <a:t>Robust size generalization without discrete training radii.</a:t>
            </a:r>
            <a:endParaRPr lang="en-US" sz="1100" dirty="0"/>
          </a:p>
        </p:txBody>
      </p:sp>
      <p:sp>
        <p:nvSpPr>
          <p:cNvPr id="9" name="Shape 7"/>
          <p:cNvSpPr/>
          <p:nvPr/>
        </p:nvSpPr>
        <p:spPr>
          <a:xfrm>
            <a:off x="566928" y="2089404"/>
            <a:ext cx="8028432" cy="566928"/>
          </a:xfrm>
          <a:prstGeom prst="roundRect">
            <a:avLst>
              <a:gd name="adj" fmla="val 8065"/>
            </a:avLst>
          </a:prstGeom>
          <a:solidFill>
            <a:srgbClr val="F4F5F7"/>
          </a:solidFill>
          <a:ln/>
        </p:spPr>
        <p:txBody>
          <a:bodyPr/>
          <a:lstStyle/>
          <a:p>
            <a:endParaRPr lang="de-DE"/>
          </a:p>
        </p:txBody>
      </p:sp>
      <p:sp>
        <p:nvSpPr>
          <p:cNvPr id="10" name="Shape 8"/>
          <p:cNvSpPr/>
          <p:nvPr/>
        </p:nvSpPr>
        <p:spPr>
          <a:xfrm>
            <a:off x="749808" y="2180844"/>
            <a:ext cx="384048" cy="384048"/>
          </a:xfrm>
          <a:prstGeom prst="ellipse">
            <a:avLst/>
          </a:prstGeom>
          <a:solidFill>
            <a:srgbClr val="B5654A"/>
          </a:solidFill>
          <a:ln/>
        </p:spPr>
        <p:txBody>
          <a:bodyPr/>
          <a:lstStyle/>
          <a:p>
            <a:endParaRPr lang="de-DE"/>
          </a:p>
        </p:txBody>
      </p:sp>
      <p:sp>
        <p:nvSpPr>
          <p:cNvPr id="11" name="Text 9"/>
          <p:cNvSpPr/>
          <p:nvPr/>
        </p:nvSpPr>
        <p:spPr>
          <a:xfrm>
            <a:off x="749808" y="21808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35024" y="2089404"/>
            <a:ext cx="3657600" cy="566928"/>
          </a:xfrm>
          <a:prstGeom prst="rect">
            <a:avLst/>
          </a:prstGeom>
          <a:noFill/>
          <a:ln/>
        </p:spPr>
        <p:txBody>
          <a:bodyPr wrap="square" lIns="0" tIns="0" rIns="0" bIns="0" rtlCol="0" anchor="ctr"/>
          <a:lstStyle/>
          <a:p>
            <a:pPr marL="0" indent="0">
              <a:buNone/>
            </a:pPr>
            <a:r>
              <a:rPr lang="en-US" sz="1400" b="1" dirty="0">
                <a:solidFill>
                  <a:srgbClr val="1F2329"/>
                </a:solidFill>
                <a:latin typeface="Cambria" pitchFamily="34" charset="0"/>
                <a:ea typeface="Cambria" pitchFamily="34" charset="-122"/>
                <a:cs typeface="Cambria" pitchFamily="34" charset="-120"/>
              </a:rPr>
              <a:t>Hybrid architectures (U-FNO)</a:t>
            </a:r>
            <a:endParaRPr lang="en-US" sz="1400" dirty="0"/>
          </a:p>
        </p:txBody>
      </p:sp>
      <p:sp>
        <p:nvSpPr>
          <p:cNvPr id="13" name="Text 11"/>
          <p:cNvSpPr/>
          <p:nvPr/>
        </p:nvSpPr>
        <p:spPr>
          <a:xfrm>
            <a:off x="4526280" y="2089404"/>
            <a:ext cx="3931920" cy="566928"/>
          </a:xfrm>
          <a:prstGeom prst="rect">
            <a:avLst/>
          </a:prstGeom>
          <a:noFill/>
          <a:ln/>
        </p:spPr>
        <p:txBody>
          <a:bodyPr wrap="square" lIns="0" tIns="0" rIns="0" bIns="0" rtlCol="0" anchor="ctr"/>
          <a:lstStyle/>
          <a:p>
            <a:pPr marL="0" indent="0">
              <a:lnSpc>
                <a:spcPct val="95000"/>
              </a:lnSpc>
              <a:buNone/>
            </a:pPr>
            <a:r>
              <a:rPr lang="en-US" sz="1100" dirty="0">
                <a:solidFill>
                  <a:srgbClr val="727A85"/>
                </a:solidFill>
                <a:latin typeface="Calibri" pitchFamily="34" charset="0"/>
                <a:ea typeface="Calibri" pitchFamily="34" charset="-122"/>
                <a:cs typeface="Calibri" pitchFamily="34" charset="-120"/>
              </a:rPr>
              <a:t>Combine local U-Net processing with global spectral layers (Wen et al. 2022).</a:t>
            </a:r>
            <a:endParaRPr lang="en-US" sz="1100" dirty="0"/>
          </a:p>
        </p:txBody>
      </p:sp>
      <p:sp>
        <p:nvSpPr>
          <p:cNvPr id="14" name="Shape 12"/>
          <p:cNvSpPr/>
          <p:nvPr/>
        </p:nvSpPr>
        <p:spPr>
          <a:xfrm>
            <a:off x="566928" y="2761488"/>
            <a:ext cx="8028432" cy="566928"/>
          </a:xfrm>
          <a:prstGeom prst="roundRect">
            <a:avLst>
              <a:gd name="adj" fmla="val 8065"/>
            </a:avLst>
          </a:prstGeom>
          <a:solidFill>
            <a:srgbClr val="F4F5F7"/>
          </a:solidFill>
          <a:ln/>
        </p:spPr>
        <p:txBody>
          <a:bodyPr/>
          <a:lstStyle/>
          <a:p>
            <a:endParaRPr lang="de-DE"/>
          </a:p>
        </p:txBody>
      </p:sp>
      <p:sp>
        <p:nvSpPr>
          <p:cNvPr id="15" name="Shape 13"/>
          <p:cNvSpPr/>
          <p:nvPr/>
        </p:nvSpPr>
        <p:spPr>
          <a:xfrm>
            <a:off x="749808" y="2852928"/>
            <a:ext cx="384048" cy="384048"/>
          </a:xfrm>
          <a:prstGeom prst="ellipse">
            <a:avLst/>
          </a:prstGeom>
          <a:solidFill>
            <a:srgbClr val="B5654A"/>
          </a:solidFill>
          <a:ln/>
        </p:spPr>
        <p:txBody>
          <a:bodyPr/>
          <a:lstStyle/>
          <a:p>
            <a:endParaRPr lang="de-DE"/>
          </a:p>
        </p:txBody>
      </p:sp>
      <p:sp>
        <p:nvSpPr>
          <p:cNvPr id="16" name="Text 14"/>
          <p:cNvSpPr/>
          <p:nvPr/>
        </p:nvSpPr>
        <p:spPr>
          <a:xfrm>
            <a:off x="749808" y="28529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35024" y="2761488"/>
            <a:ext cx="3657600" cy="566928"/>
          </a:xfrm>
          <a:prstGeom prst="rect">
            <a:avLst/>
          </a:prstGeom>
          <a:noFill/>
          <a:ln/>
        </p:spPr>
        <p:txBody>
          <a:bodyPr wrap="square" lIns="0" tIns="0" rIns="0" bIns="0" rtlCol="0" anchor="ctr"/>
          <a:lstStyle/>
          <a:p>
            <a:pPr marL="0" indent="0">
              <a:buNone/>
            </a:pPr>
            <a:r>
              <a:rPr lang="en-US" sz="1400" b="1" dirty="0">
                <a:solidFill>
                  <a:srgbClr val="1F2329"/>
                </a:solidFill>
                <a:latin typeface="Cambria" pitchFamily="34" charset="0"/>
                <a:ea typeface="Cambria" pitchFamily="34" charset="-122"/>
                <a:cs typeface="Cambria" pitchFamily="34" charset="-120"/>
              </a:rPr>
              <a:t>3D &amp; time-dependent flows</a:t>
            </a:r>
            <a:endParaRPr lang="en-US" sz="1400" dirty="0"/>
          </a:p>
        </p:txBody>
      </p:sp>
      <p:sp>
        <p:nvSpPr>
          <p:cNvPr id="18" name="Text 16"/>
          <p:cNvSpPr/>
          <p:nvPr/>
        </p:nvSpPr>
        <p:spPr>
          <a:xfrm>
            <a:off x="4526280" y="2761488"/>
            <a:ext cx="3931920" cy="566928"/>
          </a:xfrm>
          <a:prstGeom prst="rect">
            <a:avLst/>
          </a:prstGeom>
          <a:noFill/>
          <a:ln/>
        </p:spPr>
        <p:txBody>
          <a:bodyPr wrap="square" lIns="0" tIns="0" rIns="0" bIns="0" rtlCol="0" anchor="ctr"/>
          <a:lstStyle/>
          <a:p>
            <a:pPr marL="0" indent="0">
              <a:lnSpc>
                <a:spcPct val="95000"/>
              </a:lnSpc>
              <a:buNone/>
            </a:pPr>
            <a:r>
              <a:rPr lang="en-US" sz="1100" dirty="0">
                <a:solidFill>
                  <a:srgbClr val="727A85"/>
                </a:solidFill>
                <a:latin typeface="Calibri" pitchFamily="34" charset="0"/>
                <a:ea typeface="Calibri" pitchFamily="34" charset="-122"/>
                <a:cs typeface="Calibri" pitchFamily="34" charset="-120"/>
              </a:rPr>
              <a:t>The natural extension for realistic geophysical applications.</a:t>
            </a:r>
            <a:endParaRPr lang="en-US" sz="1100" dirty="0"/>
          </a:p>
        </p:txBody>
      </p:sp>
      <p:sp>
        <p:nvSpPr>
          <p:cNvPr id="19" name="Shape 17"/>
          <p:cNvSpPr/>
          <p:nvPr/>
        </p:nvSpPr>
        <p:spPr>
          <a:xfrm>
            <a:off x="566928" y="3433572"/>
            <a:ext cx="8028432" cy="566928"/>
          </a:xfrm>
          <a:prstGeom prst="roundRect">
            <a:avLst>
              <a:gd name="adj" fmla="val 8065"/>
            </a:avLst>
          </a:prstGeom>
          <a:solidFill>
            <a:srgbClr val="F4F5F7"/>
          </a:solidFill>
          <a:ln/>
        </p:spPr>
        <p:txBody>
          <a:bodyPr/>
          <a:lstStyle/>
          <a:p>
            <a:endParaRPr lang="de-DE"/>
          </a:p>
        </p:txBody>
      </p:sp>
      <p:sp>
        <p:nvSpPr>
          <p:cNvPr id="20" name="Shape 18"/>
          <p:cNvSpPr/>
          <p:nvPr/>
        </p:nvSpPr>
        <p:spPr>
          <a:xfrm>
            <a:off x="749808" y="3525012"/>
            <a:ext cx="384048" cy="384048"/>
          </a:xfrm>
          <a:prstGeom prst="ellipse">
            <a:avLst/>
          </a:prstGeom>
          <a:solidFill>
            <a:srgbClr val="B5654A"/>
          </a:solidFill>
          <a:ln/>
        </p:spPr>
        <p:txBody>
          <a:bodyPr/>
          <a:lstStyle/>
          <a:p>
            <a:endParaRPr lang="de-DE"/>
          </a:p>
        </p:txBody>
      </p:sp>
      <p:sp>
        <p:nvSpPr>
          <p:cNvPr id="21" name="Text 19"/>
          <p:cNvSpPr/>
          <p:nvPr/>
        </p:nvSpPr>
        <p:spPr>
          <a:xfrm>
            <a:off x="749808" y="35250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35024" y="3433572"/>
            <a:ext cx="3657600" cy="566928"/>
          </a:xfrm>
          <a:prstGeom prst="rect">
            <a:avLst/>
          </a:prstGeom>
          <a:noFill/>
          <a:ln/>
        </p:spPr>
        <p:txBody>
          <a:bodyPr wrap="square" lIns="0" tIns="0" rIns="0" bIns="0" rtlCol="0" anchor="ctr"/>
          <a:lstStyle/>
          <a:p>
            <a:pPr marL="0" indent="0">
              <a:buNone/>
            </a:pPr>
            <a:r>
              <a:rPr lang="en-US" sz="1400" b="1" dirty="0">
                <a:solidFill>
                  <a:srgbClr val="1F2329"/>
                </a:solidFill>
                <a:latin typeface="Cambria" pitchFamily="34" charset="0"/>
                <a:ea typeface="Cambria" pitchFamily="34" charset="-122"/>
                <a:cs typeface="Cambria" pitchFamily="34" charset="-120"/>
              </a:rPr>
              <a:t>Surrogate in a time-stepping loop</a:t>
            </a:r>
            <a:endParaRPr lang="en-US" sz="1400" dirty="0"/>
          </a:p>
        </p:txBody>
      </p:sp>
      <p:sp>
        <p:nvSpPr>
          <p:cNvPr id="23" name="Text 21"/>
          <p:cNvSpPr/>
          <p:nvPr/>
        </p:nvSpPr>
        <p:spPr>
          <a:xfrm>
            <a:off x="4526280" y="3433572"/>
            <a:ext cx="3931920" cy="566928"/>
          </a:xfrm>
          <a:prstGeom prst="rect">
            <a:avLst/>
          </a:prstGeom>
          <a:noFill/>
          <a:ln/>
        </p:spPr>
        <p:txBody>
          <a:bodyPr wrap="square" lIns="0" tIns="0" rIns="0" bIns="0" rtlCol="0" anchor="ctr"/>
          <a:lstStyle/>
          <a:p>
            <a:pPr marL="0" indent="0">
              <a:lnSpc>
                <a:spcPct val="95000"/>
              </a:lnSpc>
              <a:buNone/>
            </a:pPr>
            <a:r>
              <a:rPr lang="en-US" sz="1100" dirty="0">
                <a:solidFill>
                  <a:srgbClr val="727A85"/>
                </a:solidFill>
                <a:latin typeface="Calibri" pitchFamily="34" charset="0"/>
                <a:ea typeface="Calibri" pitchFamily="34" charset="-122"/>
                <a:cs typeface="Calibri" pitchFamily="34" charset="-120"/>
              </a:rPr>
              <a:t>Quasi-static Stokes → ms per step instead of seconds; long-duration sedimentation.</a:t>
            </a:r>
            <a:endParaRPr lang="en-US" sz="1100" dirty="0"/>
          </a:p>
        </p:txBody>
      </p:sp>
      <p:sp>
        <p:nvSpPr>
          <p:cNvPr id="24" name="Shape 22"/>
          <p:cNvSpPr/>
          <p:nvPr/>
        </p:nvSpPr>
        <p:spPr>
          <a:xfrm>
            <a:off x="566928" y="4105656"/>
            <a:ext cx="8028432" cy="566928"/>
          </a:xfrm>
          <a:prstGeom prst="roundRect">
            <a:avLst>
              <a:gd name="adj" fmla="val 8065"/>
            </a:avLst>
          </a:prstGeom>
          <a:solidFill>
            <a:srgbClr val="F4F5F7"/>
          </a:solidFill>
          <a:ln/>
        </p:spPr>
        <p:txBody>
          <a:bodyPr/>
          <a:lstStyle/>
          <a:p>
            <a:endParaRPr lang="de-DE"/>
          </a:p>
        </p:txBody>
      </p:sp>
      <p:sp>
        <p:nvSpPr>
          <p:cNvPr id="25" name="Shape 23"/>
          <p:cNvSpPr/>
          <p:nvPr/>
        </p:nvSpPr>
        <p:spPr>
          <a:xfrm>
            <a:off x="749808" y="4197096"/>
            <a:ext cx="384048" cy="384048"/>
          </a:xfrm>
          <a:prstGeom prst="ellipse">
            <a:avLst/>
          </a:prstGeom>
          <a:solidFill>
            <a:srgbClr val="B5654A"/>
          </a:solidFill>
          <a:ln/>
        </p:spPr>
        <p:txBody>
          <a:bodyPr/>
          <a:lstStyle/>
          <a:p>
            <a:endParaRPr lang="de-DE"/>
          </a:p>
        </p:txBody>
      </p:sp>
      <p:sp>
        <p:nvSpPr>
          <p:cNvPr id="26" name="Text 24"/>
          <p:cNvSpPr/>
          <p:nvPr/>
        </p:nvSpPr>
        <p:spPr>
          <a:xfrm>
            <a:off x="749808" y="41970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35024" y="4105656"/>
            <a:ext cx="3657600" cy="566928"/>
          </a:xfrm>
          <a:prstGeom prst="rect">
            <a:avLst/>
          </a:prstGeom>
          <a:noFill/>
          <a:ln/>
        </p:spPr>
        <p:txBody>
          <a:bodyPr wrap="square" lIns="0" tIns="0" rIns="0" bIns="0" rtlCol="0" anchor="ctr"/>
          <a:lstStyle/>
          <a:p>
            <a:pPr marL="0" indent="0">
              <a:buNone/>
            </a:pPr>
            <a:r>
              <a:rPr lang="en-US" sz="1400" b="1" dirty="0">
                <a:solidFill>
                  <a:srgbClr val="1F2329"/>
                </a:solidFill>
                <a:latin typeface="Cambria" pitchFamily="34" charset="0"/>
                <a:ea typeface="Cambria" pitchFamily="34" charset="-122"/>
                <a:cs typeface="Cambria" pitchFamily="34" charset="-120"/>
              </a:rPr>
              <a:t>Uncertainty quantification</a:t>
            </a:r>
            <a:endParaRPr lang="en-US" sz="1400" dirty="0"/>
          </a:p>
        </p:txBody>
      </p:sp>
      <p:sp>
        <p:nvSpPr>
          <p:cNvPr id="28" name="Text 26"/>
          <p:cNvSpPr/>
          <p:nvPr/>
        </p:nvSpPr>
        <p:spPr>
          <a:xfrm>
            <a:off x="4526280" y="4105656"/>
            <a:ext cx="3931920" cy="566928"/>
          </a:xfrm>
          <a:prstGeom prst="rect">
            <a:avLst/>
          </a:prstGeom>
          <a:noFill/>
          <a:ln/>
        </p:spPr>
        <p:txBody>
          <a:bodyPr wrap="square" lIns="0" tIns="0" rIns="0" bIns="0" rtlCol="0" anchor="ctr"/>
          <a:lstStyle/>
          <a:p>
            <a:pPr marL="0" indent="0">
              <a:lnSpc>
                <a:spcPct val="95000"/>
              </a:lnSpc>
              <a:buNone/>
            </a:pPr>
            <a:r>
              <a:rPr lang="en-US" sz="1100" dirty="0">
                <a:solidFill>
                  <a:srgbClr val="727A85"/>
                </a:solidFill>
                <a:latin typeface="Calibri" pitchFamily="34" charset="0"/>
                <a:ea typeface="Calibri" pitchFamily="34" charset="-122"/>
                <a:cs typeface="Calibri" pitchFamily="34" charset="-120"/>
              </a:rPr>
              <a:t>Bayesian methods or ensembles for confidence estimates on predictions.</a:t>
            </a:r>
            <a:endParaRPr lang="en-US" sz="1100" dirty="0"/>
          </a:p>
        </p:txBody>
      </p:sp>
      <p:sp>
        <p:nvSpPr>
          <p:cNvPr id="29" name="Text 27"/>
          <p:cNvSpPr/>
          <p:nvPr/>
        </p:nvSpPr>
        <p:spPr>
          <a:xfrm>
            <a:off x="8275320" y="4736592"/>
            <a:ext cx="548640" cy="274320"/>
          </a:xfrm>
          <a:prstGeom prst="rect">
            <a:avLst/>
          </a:prstGeom>
          <a:noFill/>
          <a:ln/>
        </p:spPr>
        <p:txBody>
          <a:bodyPr wrap="square" lIns="0" tIns="0" rIns="0" bIns="0" rtlCol="0" anchor="ctr"/>
          <a:lstStyle/>
          <a:p>
            <a:pPr marL="0" indent="0" algn="r">
              <a:buNone/>
            </a:pPr>
            <a:r>
              <a:rPr lang="en-US" sz="1000" dirty="0">
                <a:solidFill>
                  <a:srgbClr val="727A85"/>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600200"/>
            <a:ext cx="7315200" cy="365760"/>
          </a:xfrm>
          <a:prstGeom prst="rect">
            <a:avLst/>
          </a:prstGeom>
          <a:noFill/>
          <a:ln/>
        </p:spPr>
        <p:txBody>
          <a:bodyPr wrap="square" lIns="0" tIns="0" rIns="0" bIns="0" rtlCol="0" anchor="ctr"/>
          <a:lstStyle/>
          <a:p>
            <a:pPr marL="0" indent="0">
              <a:buNone/>
            </a:pPr>
            <a:r>
              <a:rPr lang="en-US" sz="1400" b="1" kern="0" spc="500" dirty="0">
                <a:solidFill>
                  <a:srgbClr val="CF8A72"/>
                </a:solidFill>
                <a:latin typeface="Calibri" pitchFamily="34" charset="0"/>
                <a:ea typeface="Calibri" pitchFamily="34" charset="-122"/>
                <a:cs typeface="Calibri" pitchFamily="34" charset="-120"/>
              </a:rPr>
              <a:t>THANK YOU</a:t>
            </a:r>
            <a:endParaRPr lang="en-US" sz="1400" dirty="0"/>
          </a:p>
        </p:txBody>
      </p:sp>
      <p:sp>
        <p:nvSpPr>
          <p:cNvPr id="3" name="Text 1"/>
          <p:cNvSpPr/>
          <p:nvPr/>
        </p:nvSpPr>
        <p:spPr>
          <a:xfrm>
            <a:off x="621792" y="1965960"/>
            <a:ext cx="7680960" cy="868680"/>
          </a:xfrm>
          <a:prstGeom prst="rect">
            <a:avLst/>
          </a:prstGeom>
          <a:noFill/>
          <a:ln/>
        </p:spPr>
        <p:txBody>
          <a:bodyPr wrap="square" lIns="0" tIns="0" rIns="0" bIns="0" rtlCol="0" anchor="ctr"/>
          <a:lstStyle/>
          <a:p>
            <a:pPr marL="0" indent="0">
              <a:buNone/>
            </a:pPr>
            <a:r>
              <a:rPr lang="en-US" sz="4400" b="1" dirty="0">
                <a:solidFill>
                  <a:srgbClr val="EAECEF"/>
                </a:solidFill>
                <a:latin typeface="Cambria" pitchFamily="34" charset="0"/>
                <a:ea typeface="Cambria" pitchFamily="34" charset="-122"/>
                <a:cs typeface="Cambria" pitchFamily="34" charset="-120"/>
              </a:rPr>
              <a:t>Questions &amp; Discussion</a:t>
            </a:r>
            <a:endParaRPr lang="en-US" sz="4400" dirty="0"/>
          </a:p>
        </p:txBody>
      </p:sp>
      <p:sp>
        <p:nvSpPr>
          <p:cNvPr id="4" name="Text 2"/>
          <p:cNvSpPr/>
          <p:nvPr/>
        </p:nvSpPr>
        <p:spPr>
          <a:xfrm>
            <a:off x="640080" y="2926080"/>
            <a:ext cx="6949440" cy="731520"/>
          </a:xfrm>
          <a:prstGeom prst="rect">
            <a:avLst/>
          </a:prstGeom>
          <a:noFill/>
          <a:ln/>
        </p:spPr>
        <p:txBody>
          <a:bodyPr wrap="square" lIns="0" tIns="0" rIns="0" bIns="0" rtlCol="0" anchor="ctr"/>
          <a:lstStyle/>
          <a:p>
            <a:pPr marL="0" indent="0">
              <a:lnSpc>
                <a:spcPct val="110000"/>
              </a:lnSpc>
              <a:buNone/>
            </a:pPr>
            <a:r>
              <a:rPr lang="en-US" sz="1400" i="1" dirty="0">
                <a:solidFill>
                  <a:srgbClr val="9AA1AB"/>
                </a:solidFill>
                <a:latin typeface="Calibri" pitchFamily="34" charset="0"/>
                <a:ea typeface="Calibri" pitchFamily="34" charset="-122"/>
                <a:cs typeface="Calibri" pitchFamily="34" charset="-120"/>
              </a:rPr>
              <a:t>Sincere thanks to Prof. Dr. Boris J. P. Kaus and Prof. Dr. Michael Wand for their supervision, and to the examination committee for your time and attention.</a:t>
            </a:r>
            <a:endParaRPr lang="en-US" sz="1400" dirty="0"/>
          </a:p>
        </p:txBody>
      </p:sp>
      <p:sp>
        <p:nvSpPr>
          <p:cNvPr id="5" name="Text 3"/>
          <p:cNvSpPr/>
          <p:nvPr/>
        </p:nvSpPr>
        <p:spPr>
          <a:xfrm>
            <a:off x="640080" y="4069080"/>
            <a:ext cx="7315200" cy="365760"/>
          </a:xfrm>
          <a:prstGeom prst="rect">
            <a:avLst/>
          </a:prstGeom>
          <a:noFill/>
          <a:ln/>
        </p:spPr>
        <p:txBody>
          <a:bodyPr wrap="square" lIns="0" tIns="0" rIns="0" bIns="0" rtlCol="0" anchor="ctr"/>
          <a:lstStyle/>
          <a:p>
            <a:pPr marL="0" indent="0">
              <a:buNone/>
            </a:pPr>
            <a:r>
              <a:rPr lang="en-US" sz="1250" dirty="0">
                <a:solidFill>
                  <a:srgbClr val="9AA1AB"/>
                </a:solidFill>
                <a:latin typeface="Calibri" pitchFamily="34" charset="0"/>
                <a:ea typeface="Calibri" pitchFamily="34" charset="-122"/>
                <a:cs typeface="Calibri" pitchFamily="34" charset="-120"/>
              </a:rPr>
              <a:t>Paul Baselt  ·  M.Sc. Computational Sciences  ·  JGU Mainz</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4009</Words>
  <Application>Microsoft Office PowerPoint</Application>
  <PresentationFormat>On-screen Show (16:9)</PresentationFormat>
  <Paragraphs>297</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Data-Driven Stokes Flow Prediction in Multi-Crystal Sedimentation</dc:title>
  <dc:subject>PptxGenJS Presentation</dc:subject>
  <dc:creator>Paul Baselt</dc:creator>
  <cp:lastModifiedBy>Baselt, Paul</cp:lastModifiedBy>
  <cp:revision>2</cp:revision>
  <dcterms:created xsi:type="dcterms:W3CDTF">2026-06-14T08:27:00Z</dcterms:created>
  <dcterms:modified xsi:type="dcterms:W3CDTF">2026-06-14T08:31:30Z</dcterms:modified>
</cp:coreProperties>
</file>